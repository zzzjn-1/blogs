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12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position: 'relative', background: '#0E3F8C', fontFamily: 'Source Han Sans SC, Noto Sans SC, Microsoft YaHei, sans-serif', overflow: 'hidden' }}&gt;&#10;&#10;  {/* 右上角声波线稿（装饰） */}&#10;  &lt;svg width={1280} height={720} viewBox='0 0 1280 720' style={{ position: 'absolute', top: 0, left: 0 }}&gt;&#10;    &lt;rect x='0' y='0' width='1280' height='720' fill='#0E3F8C' /&gt;&#10;    &lt;rect x='0' y='0' width='1280' height='8' fill='#3D7BD9' /&gt;&#10;    &lt;g opacity='0.30' stroke='#7FA8E0' strokeWidth='2' fill='none'&gt;&#10;      &lt;path d='M880 300 L960 300 L960 240 L1040 240 L1040 360 L1120 360 L1120 200 L1200 200' /&gt;&#10;      &lt;path d='M880 380 L980 380 L980 320 L1060 320 L1060 440 L1140 440 L1140 300 L1240 300' /&gt;&#10;      &lt;path d='M880 460 L940 460 L940 420 L1020 420 L1020 500 L1100 500 L1100 400 L1200 400' /&gt;&#10;    &lt;/g&gt;&#10;    &lt;g opacity='0.18' stroke='#7FA8E0' strokeWidth='1.5' fill='none'&gt;&#10;      &lt;circle cx='1120' cy='150' r='60' /&gt;&#10;      &lt;circle cx='1120' cy='150' r='104' /&gt;&#10;      &lt;circle cx='1120' cy='150' r='148' /&gt;&#10;    &lt;/g&gt;&#10;    &lt;path d='M880 560 L1240 560' stroke='#3D7BD9' strokeWidth='2' opacity='0.5' /&gt;&#10;  &lt;/svg&gt;&#10;&#10;  {/* 左侧标题区 */}&#10;  &lt;Box style={{ position: 'absolute', top: 150, left: 88, width: 800, flexDirection: 'column' }}&gt;&#10;    &lt;Box style={{ flexDirection: 'row', alignItems: 'center', gap: 12, marginBottom: 26 }}&gt;&#10;      &lt;Box style={{ width: 44, height: 3, background: '#3D7BD9' }} /&gt;&#10;      &lt;Text style={{ fontSize: 18, color: '#9FC0EA', letterSpacing: 3 }}&gt;项目答辩 · 2026&lt;/Text&gt;&#10;    &lt;/Box&gt;&#10;&#10;    &lt;Text style={{ fontSize: 74, fontWeight: 'bold', color: '#FFFFFF', lineHeight: 1.16 }}&gt;&#10;      双人对话播客&#10;      &lt;br /&gt;&#10;      自动生成系统&#10;    &lt;/Text&gt;&#10;&#10;    &lt;Text style={{ fontSize: 24, color: '#A9C6EC', marginTop: 22, letterSpacing: 0.5 }}&gt;&#10;      Dual-Host Podcast Auto-Generation System&#10;    &lt;/Text&gt;&#10;&#10;    &lt;Box style={{ width: 120, height: 2, background: '#3D7BD9', marginTop: 30, marginBottom: 26 }} /&gt;&#10;&#10;    &lt;Text style={{ fontSize: 26, color: '#D6E4F7', lineHeight: 1.6 }}&gt;&#10;      从一句主题，到一期可直接订阅的播客&#10;    &lt;/Text&gt;&#10;  &lt;/Box&gt;&#10;&#10;  {/* 底部信息条 */}&#10;  &lt;Box style={{ position: 'absolute', top: 596, left: 88, width: 1104, flexDirection: 'row', justifyContent: 'space-between', alignItems: 'center' }}&gt;&#10;    &lt;Text style={{ fontSize: 18, color: '#9FC0EA' }}&gt;&#10;      汇报人：单人全栈开发　|　周期：D0 ~ D14（2026-09-14 起）&#10;    &lt;/Text&gt;&#10;    &lt;Text style={{ fontSize: 18, color: '#7FA8E0' }}&gt;&#10;      CosyVoice2-0.5B · DeepSeek · FFmpeg · FastAPI · React&#10;    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838200" y="1524000"/>
            <a:ext cx="4191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371600" y="1428750"/>
            <a:ext cx="1552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C0EA"/>
                </a:solidFill>
                <a:latin typeface="Source Han Sans SC"/>
                <a:ea typeface="Source Han Sans SC"/>
              </a:rPr>
              <a:t>项目答辩</a:t>
            </a:r>
            <a:r>
              <a:rPr lang="en-US" sz="1350" spc="225">
                <a:solidFill>
                  <a:srgbClr val="9FC0EA"/>
                </a:solidFill>
                <a:latin typeface="Source Han Sans SC"/>
                <a:ea typeface="Source Han Sans SC"/>
              </a:rPr>
              <a:t> · 2026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38200" y="1885950"/>
            <a:ext cx="7620000" cy="1971675"/>
          </a:xfrm>
          <a:prstGeom prst="rect"/>
        </p:spPr>
        <p:txBody>
          <a:bodyPr wrap="none" lIns="0" tIns="0" rIns="0" bIns="0"/>
          <a:p>
            <a:pPr>
              <a:lnSpc>
                <a:spcPct val="115999"/>
              </a:lnSpc>
            </a:pPr>
            <a:r>
              <a:rPr lang="zh-CN" sz="5550" b="1">
                <a:solidFill>
                  <a:srgbClr val="FFFFFF"/>
                </a:solidFill>
                <a:latin typeface="Source Han Sans SC"/>
                <a:ea typeface="Source Han Sans SC"/>
              </a:rPr>
              <a:t>双人对话播客</a:t>
            </a:r>
            <a:endParaRPr/>
          </a:p>
          <a:p>
            <a:pPr>
              <a:lnSpc>
                <a:spcPct val="115999"/>
              </a:lnSpc>
            </a:pPr>
            <a:r>
              <a:rPr lang="zh-CN" sz="5550" b="1">
                <a:solidFill>
                  <a:srgbClr val="FFFFFF"/>
                </a:solidFill>
                <a:latin typeface="Source Han Sans SC"/>
                <a:ea typeface="Source Han Sans SC"/>
              </a:rPr>
              <a:t>自动生成系统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4067175"/>
            <a:ext cx="7620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38">
                <a:solidFill>
                  <a:srgbClr val="A9C6EC"/>
                </a:solidFill>
                <a:latin typeface="Source Han Sans SC"/>
                <a:ea typeface="Source Han Sans SC"/>
              </a:rPr>
              <a:t>Dual-Host Podcast Auto-Generation System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38200" y="4629150"/>
            <a:ext cx="1143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4895850"/>
            <a:ext cx="76200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950">
                <a:solidFill>
                  <a:srgbClr val="D6E4F7"/>
                </a:solidFill>
                <a:latin typeface="Source Han Sans SC"/>
                <a:ea typeface="Source Han Sans SC"/>
              </a:rPr>
              <a:t>从一句主题，到一期可直接订阅的播客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5676900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FC0EA"/>
                </a:solidFill>
                <a:latin typeface="Source Han Sans SC"/>
                <a:ea typeface="Source Han Sans SC"/>
              </a:rPr>
              <a:t>汇报人：单人全栈开发　</a:t>
            </a:r>
            <a:r>
              <a:rPr lang="en-US" sz="1350">
                <a:solidFill>
                  <a:srgbClr val="9FC0EA"/>
                </a:solidFill>
                <a:latin typeface="Source Han Sans SC"/>
                <a:ea typeface="Source Han Sans SC"/>
              </a:rPr>
              <a:t>|</a:t>
            </a:r>
            <a:r>
              <a:rPr lang="zh-CN" sz="1350">
                <a:solidFill>
                  <a:srgbClr val="9FC0EA"/>
                </a:solidFill>
                <a:latin typeface="Source Han Sans SC"/>
                <a:ea typeface="Source Han Sans SC"/>
              </a:rPr>
              <a:t>　周期：</a:t>
            </a:r>
            <a:r>
              <a:rPr lang="en-US" sz="1350">
                <a:solidFill>
                  <a:srgbClr val="9FC0EA"/>
                </a:solidFill>
                <a:latin typeface="Source Han Sans SC"/>
                <a:ea typeface="Source Han Sans SC"/>
              </a:rPr>
              <a:t>D0 ~ D14</a:t>
            </a:r>
            <a:r>
              <a:rPr lang="zh-CN" sz="1350">
                <a:solidFill>
                  <a:srgbClr val="9FC0EA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9FC0EA"/>
                </a:solidFill>
                <a:latin typeface="Source Han Sans SC"/>
                <a:ea typeface="Source Han Sans SC"/>
              </a:rPr>
              <a:t>2026-09-14 </a:t>
            </a:r>
            <a:r>
              <a:rPr lang="zh-CN" sz="1350">
                <a:solidFill>
                  <a:srgbClr val="9FC0EA"/>
                </a:solidFill>
                <a:latin typeface="Source Han Sans SC"/>
                <a:ea typeface="Source Han Sans SC"/>
              </a:rPr>
              <a:t>起）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86575" y="5676900"/>
            <a:ext cx="4467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7FA8E0"/>
                </a:solidFill>
                <a:latin typeface="Source Han Sans SC"/>
                <a:ea typeface="Source Han Sans SC"/>
              </a:rPr>
              <a:t>CosyVoice2-0.5B · DeepSeek · FFmpeg · FastAPI · React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position: 'relative', background: '#F7F9FC', fontFamily: 'Source Han Sans SC, Noto Sans SC, Microsoft YaHei, sans-serif', overflow: 'hidden' }}&gt;&#10;&#10;  &lt;Box style={{ position: 'absolute', top: 0, left: 0, width: 1280, height: 56, background: '#1E4FA8', flexDirection: 'row', alignItems: 'center', justifyContent: 'space-between', padding: '0 40px' }}&gt;&#10;    &lt;Text style={{ fontSize: 18, color: '#FFFFFF', fontWeight: 'bold' }}&gt;双人对话播客自动生成系统&lt;/Text&gt;&#10;    &lt;Text style={{ fontSize: 15, color: '#BFD3EE' }}&gt;D14 项目答辩&lt;/Text&gt;&#10;  &lt;/Box&gt;&#10;&#10;  {/* 左：深蓝标题栏 */}&#10;  &lt;Box style={{ position: 'absolute', top: 80, left: 40, width: 360, height: 580, background: '#0E3F8C', padding: '48px 36px', flexDirection: 'column', justifyContent: 'space-between' }}&gt;&#10;    &lt;Box&gt;&#10;      &lt;Box style={{ width: 40, height: 3, background: '#3D7BD9', marginBottom: 22 }} /&gt;&#10;      &lt;Text style={{ fontSize: 46, fontWeight: 'bold', color: '#FFFFFF', letterSpacing: 4 }}&gt;目录&lt;/Text&gt;&#10;      &lt;Text style={{ fontSize: 16, color: '#8FB4E4', letterSpacing: 3, marginTop: 10 }}&gt;CONTENTS&lt;/Text&gt;&#10;    &lt;/Box&gt;&#10;    &lt;Text style={{ fontSize: 17, color: '#9FC0EA', lineHeight: 1.7 }}&gt;&#10;      四章：从「这是什么」讲起，落到「指标是否可信」，最后交代三个真实缺陷&#10;    &lt;/Text&gt;&#10;  &lt;/Box&gt;&#10;&#10;  {/* 右：四条编号条目 */}&#10;  &lt;Box style={{ position: 'absolute', top: 80, left: 420, width: 820, height: 580, flexDirection: 'column', justifyContent: 'space-between' }}&gt;&#10;&#10;    &lt;Box style={{ flexDirection: 'row', alignItems: 'center', gap: 26, background: '#FFFFFF', border: '1px solid #D6DCE5', borderRadius: 6, padding: '26px 30px', height: 118 }}&gt;&#10;      &lt;Box style={{ width: 62, height: 62, background: '#1E4FA8', borderRadius: 6, alignItems: 'center', justifyContent: 'center' }}&gt;&#10;        &lt;Text style={{ fontSize: 28, fontWeight: 'bold', color: '#FFFFFF' }}&gt;01&lt;/Text&gt;&#10;      &lt;/Box&gt;&#10;      &lt;Box style={{ flexDirection: 'column', gap: 8 }}&gt;&#10;        &lt;Text style={{ fontSize: 27, fontWeight: 'bold', color: '#1A2230' }}&gt;项目概况&lt;/Text&gt;&#10;        &lt;Text style={{ fontSize: 18, color: '#4A5568' }}&gt;一句话形态 · 技术栈 · 工程量&lt;/Text&gt;&#10;      &lt;/Box&gt;&#10;    &lt;/Box&gt;&#10;&#10;    &lt;Box style={{ flexDirection: 'row', alignItems: 'center', gap: 26, background: '#FFFFFF', border: '1px solid #D6DCE5', borderRadius: 6, padding: '26px 30px', height: 118 }}&gt;&#10;      &lt;Box style={{ width: 62, height: 62, background: '#1E4FA8', borderRadius: 6, alignItems: 'center', justifyContent: 'center' }}&gt;&#10;        &lt;Text style={{ fontSize: 28, fontWeight: 'bold', color: '#FFFFFF' }}&gt;02&lt;/Text&gt;&#10;      &lt;/Box&gt;&#10;      &lt;Box style={{ flexDirection: 'column', gap: 8 }}&gt;&#10;        &lt;Text style={{ fontSize: 27, fontWeight: 'bold', color: '#1A2230' }}&gt;技术方案与实现&lt;/Text&gt;&#10;        &lt;Text style={{ fontSize: 18, color: '#4A5568' }}&gt;五段流水线 · 单并发队列 · 句级缓存&lt;/Text&gt;&#10;      &lt;/Box&gt;&#10;    &lt;/Box&gt;&#10;&#10;    &lt;Box style={{ flexDirection: 'row', alignItems: 'center', gap: 26, background: '#FFFFFF', border: '1px solid #D6DCE5', borderRadius: 6, padding: '26px 30px', height: 118 }}&gt;&#10;      &lt;Box style={{ width: 62, height: 62, background: '#1E4FA8', borderRadius: 6, alignItems: 'center', justifyContent: 'center' }}&gt;&#10;        &lt;Text style={{ fontSize: 28, fontWeight: 'bold', color: '#FFFFFF' }}&gt;03&lt;/Text&gt;&#10;      &lt;/Box&gt;&#10;      &lt;Box style={{ flexDirection: 'column', gap: 8 }}&gt;&#10;        &lt;Text style={{ fontSize: 27, fontWeight: 'bold', color: '#1A2230' }}&gt;目标达成&lt;/Text&gt;&#10;        &lt;Text style={{ fontSize: 18, color: '#4A5568' }}&gt;五项量化指标 · 证据级别 · 未达成项&lt;/Text&gt;&#10;      &lt;/Box&gt;&#10;    &lt;/Box&gt;&#10;&#10;    &lt;Box style={{ flexDirection: 'row', alignItems: 'center', gap: 26, background: '#FFFFFF', border: '1px solid #D6DCE5', borderRadius: 6, padding: '26px 30px', height: 118 }}&gt;&#10;      &lt;Box style={{ width: 62, height: 62, background: '#1E4FA8', borderRadius: 6, alignItems: 'center', justifyContent: 'center' }}&gt;&#10;        &lt;Text style={{ fontSize: 28, fontWeight: 'bold', color: '#FFFFFF' }}&gt;04&lt;/Text&gt;&#10;      &lt;/Box&gt;&#10;      &lt;Box style={{ flexDirection: 'column', gap: 8 }}&gt;&#10;        &lt;Text style={{ fontSize: 27, fontWeight: 'bold', color: '#1A2230' }}&gt;难点与应对&lt;/Text&gt;&#10;        &lt;Text style={{ fontSize: 18, color: '#4A5568' }}&gt;显存紧平衡 · 订阅源缺陷 · 摆设断言&lt;/Text&gt;&#10;      &lt;/Box&gt;&#10;    &lt;/Box&gt;&#10;&#10;  &lt;/Box&gt;&#10;&#10;  &lt;Box style={{ position: 'absolute', top: 668, left: 40, width: 1200, height: 32, flexDirection: 'row', justifyContent: 'space-between', alignItems: 'center' }}&gt;&#10;    &lt;Text style={{ fontSize: 14, color: '#8B97A8' }}&gt;双人对话播客自动生成系统 · D14 答辩&lt;/Text&gt;&#10;    &lt;Text style={{ fontSize: 16, color: '#1E4FA8', fontWeight: 'bold' }}&gt;02 / 1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双人对话播客自动生成系统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915650" y="180975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FD3EE"/>
                </a:solidFill>
                <a:latin typeface="Source Han Sans SC"/>
                <a:ea typeface="Source Han Sans SC"/>
              </a:rPr>
              <a:t>D14 </a:t>
            </a:r>
            <a:r>
              <a:rPr lang="zh-CN" sz="1125">
                <a:solidFill>
                  <a:srgbClr val="BFD3EE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81000" y="762000"/>
            <a:ext cx="3429000" cy="5524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723900" y="1219200"/>
            <a:ext cx="3810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23900" y="1457325"/>
            <a:ext cx="2743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300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23900" y="20859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8FB4E4"/>
                </a:solidFill>
                <a:latin typeface="Source Han Sans SC"/>
                <a:ea typeface="Source Han Sans SC"/>
              </a:rPr>
              <a:t>CONTENTS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23900" y="4829175"/>
            <a:ext cx="27432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9FC0EA"/>
                </a:solidFill>
                <a:latin typeface="Source Han Sans SC"/>
                <a:ea typeface="Source Han Sans SC"/>
              </a:rPr>
              <a:t>四章：从「这是什么」讲起，落到「指标是否可信」，最后交代三个真实缺陷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000500" y="762000"/>
            <a:ext cx="7810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4286250" y="1028700"/>
            <a:ext cx="590550" cy="590550"/>
          </a:xfrm>
          <a:prstGeom prst="roundRect">
            <a:avLst>
              <a:gd name="adj" fmla="val 96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419600" y="11620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124450" y="1028700"/>
            <a:ext cx="21717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Source Han Sans SC"/>
                <a:ea typeface="Source Han Sans SC"/>
              </a:rPr>
              <a:t>项目概况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124450" y="1419225"/>
            <a:ext cx="2171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一句话形态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技术栈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工程量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000500" y="2228850"/>
            <a:ext cx="7810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4286250" y="2495550"/>
            <a:ext cx="590550" cy="590550"/>
          </a:xfrm>
          <a:prstGeom prst="roundRect">
            <a:avLst>
              <a:gd name="adj" fmla="val 96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419600" y="26289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124450" y="2495550"/>
            <a:ext cx="26860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Source Han Sans SC"/>
                <a:ea typeface="Source Han Sans SC"/>
              </a:rPr>
              <a:t>技术方案与实现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124450" y="2886075"/>
            <a:ext cx="268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五段流水线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单并发队列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句级缓存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000500" y="3695700"/>
            <a:ext cx="7810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286250" y="3962400"/>
            <a:ext cx="590550" cy="590550"/>
          </a:xfrm>
          <a:prstGeom prst="roundRect">
            <a:avLst>
              <a:gd name="adj" fmla="val 96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419600" y="40957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124450" y="3962400"/>
            <a:ext cx="26860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Source Han Sans SC"/>
                <a:ea typeface="Source Han Sans SC"/>
              </a:rPr>
              <a:t>目标达成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124450" y="4352925"/>
            <a:ext cx="268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五项量化指标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证据级别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未达成项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000500" y="5162550"/>
            <a:ext cx="78105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4286250" y="5429250"/>
            <a:ext cx="590550" cy="590550"/>
          </a:xfrm>
          <a:prstGeom prst="roundRect">
            <a:avLst>
              <a:gd name="adj" fmla="val 96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419600" y="55626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124450" y="5429250"/>
            <a:ext cx="26860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Source Han Sans SC"/>
                <a:ea typeface="Source Han Sans SC"/>
              </a:rPr>
              <a:t>难点与应对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124450" y="5819775"/>
            <a:ext cx="268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显存紧平衡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订阅源缺陷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摆设断言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D14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答辩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style={{ width: 1280, height: 720, position: 'relative', background: '#FFFFFF', fontFamily: 'Source Han Sans SC, Noto Sans SC, Microsoft YaHei, sans-serif', overflow: 'hidden' }}&gt;&#10;&#10;  &lt;Box style={{ position: 'absolute', top: 0, left: 0, width: 1280, height: 56, background: '#1E4FA8', flexDirection: 'row', alignItems: 'center', justifyContent: 'space-between', padding: '0 40px' }}&gt;&#10;    &lt;Text style={{ fontSize: 18, color: '#FFFFFF', fontWeight: 'bold' }}&gt;双人对话播客自动生成系统&lt;/Text&gt;&#10;    &lt;Text style={{ fontSize: 15, color: '#BFD3EE' }}&gt;D14 项目答辩&lt;/Text&gt;&#10;  &lt;/Box&gt;&#10;&#10;  &lt;Box style={{ position: 'absolute', top: 80, left: 40, width: 1200, height: 580, flexDirection: 'row', alignItems: 'center' }}&gt;&#10;&#10;    {/* 巨型章节数字 */}&#10;    &lt;Box style={{ width: 420, flexDirection: 'column', justifyContent: 'center' }}&gt;&#10;      &lt;Text style={{ fontSize: 260, fontWeight: 'bold', color: '#E8EFF8', lineHeight: 1 }}&gt;01&lt;/Text&gt;&#10;    &lt;/Box&gt;&#10;&#10;    &lt;Box style={{ width: 4, height: 340, background: '#3D7BD9' }} /&gt;&#10;&#10;    &lt;Box style={{ flex: 1, flexDirection: 'column', paddingLeft: 56, justifyContent: 'center' }}&gt;&#10;      &lt;Text style={{ fontSize: 20, color: '#3D7BD9', letterSpacing: 4, marginBottom: 14 }}&gt;CHAPTER 01&lt;/Text&gt;&#10;      &lt;Text style={{ fontSize: 52, fontWeight: 'bold', color: '#0E3F8C', marginBottom: 32 }}&gt;项目概况&lt;/Text&gt;&#10;      &lt;Box style={{ flexDirection: 'column', gap: 16 }}&gt;&#10;        &lt;Box style={{ flexDirection: 'row', alignItems: 'center', gap: 14 }}&gt;&#10;          &lt;Box style={{ width: 8, height: 8, background: '#1E4FA8', borderRadius: 4 }} /&gt;&#10;          &lt;Text style={{ fontSize: 23, color: '#1A2230' }}&gt;一句话产品形态：输入主题，输出可订阅的播客&lt;/Text&gt;&#10;        &lt;/Box&gt;&#10;        &lt;Box style={{ flexDirection: 'row', alignItems: 'center', gap: 14 }}&gt;&#10;          &lt;Box style={{ width: 8, height: 8, background: '#1E4FA8', borderRadius: 4 }} /&gt;&#10;          &lt;Text style={{ fontSize: 23, color: '#1A2230' }}&gt;技术栈：CosyVoice2-0.5B · DeepSeek · FFmpeg · FastAPI · React&lt;/Text&gt;&#10;        &lt;/Box&gt;&#10;        &lt;Box style={{ flexDirection: 'row', alignItems: 'center', gap: 14 }}&gt;&#10;          &lt;Box style={{ width: 8, height: 8, background: '#1E4FA8', borderRadius: 4 }} /&gt;&#10;          &lt;Text style={{ fontSize: 23, color: '#1A2230' }}&gt;工程量：21 端点 · 5 页面 · 6 表 · 22 份交付文档&lt;/Text&gt;&#10;        &lt;/Box&gt;&#10;      &lt;/Box&gt;&#10;    &lt;/Box&gt;&#10;&#10;  &lt;/Box&gt;&#10;&#10;  &lt;Box style={{ position: 'absolute', top: 668, left: 40, width: 1200, height: 32, flexDirection: 'row', justifyContent: 'space-between', alignItems: 'center' }}&gt;&#10;    &lt;Text style={{ fontSize: 14, color: '#8B97A8' }}&gt;双人对话播客自动生成系统 · D14 答辩&lt;/Text&gt;&#10;    &lt;Text style={{ fontSize: 16, color: '#1E4FA8', fontWeight: 'bold' }}&gt;03 / 1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双人对话播客自动生成系统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915650" y="180975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FD3EE"/>
                </a:solidFill>
                <a:latin typeface="Source Han Sans SC"/>
                <a:ea typeface="Source Han Sans SC"/>
              </a:rPr>
              <a:t>D14 </a:t>
            </a:r>
            <a:r>
              <a:rPr lang="zh-CN" sz="1125">
                <a:solidFill>
                  <a:srgbClr val="BFD3EE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2038350"/>
            <a:ext cx="400050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E8EFF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381500" y="1905000"/>
            <a:ext cx="38100" cy="32385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953000" y="2343150"/>
            <a:ext cx="685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Source Han Sans SC"/>
                <a:ea typeface="Source Han Sans SC"/>
              </a:rPr>
              <a:t>CHAPTER 01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953000" y="2705100"/>
            <a:ext cx="6858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Source Han Sans SC"/>
                <a:ea typeface="Source Han Sans SC"/>
              </a:rPr>
              <a:t>项目概况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953000" y="3705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162550" y="3609975"/>
            <a:ext cx="4600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一句话产品形态：输入主题，输出可订阅的播客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953000" y="4124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162550" y="4029075"/>
            <a:ext cx="65817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技术栈：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CosyVoice2-0.5B · DeepSeek · FFmpeg · FastAPI · React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953000" y="45434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162550" y="4448175"/>
            <a:ext cx="4648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工程量：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21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端点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· 5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页面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· 6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表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· 22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份交付文档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D14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答辩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1" name="" descr="&lt;Slide style={{ width: 1280, height: 720, position: 'relative', background: '#F7F9FC', fontFamily: 'Source Han Sans SC, Noto Sans SC, Microsoft YaHei, sans-serif', overflow: 'hidden' }}&gt;&#10;&#10;  &lt;Box style={{ position: 'absolute', top: 0, left: 0, width: 1280, height: 56, background: '#1E4FA8', flexDirection: 'row', alignItems: 'center', justifyContent: 'space-between', padding: '0 40px' }}&gt;&#10;    &lt;Text style={{ fontSize: 18, color: '#FFFFFF', fontWeight: 'bold' }}&gt;双人对话播客自动生成系统&lt;/Text&gt;&#10;    &lt;Text style={{ fontSize: 15, color: '#BFD3EE' }}&gt;D14 项目答辩&lt;/Text&gt;&#10;  &lt;/Box&gt;&#10;&#10;  &lt;Box style={{ position: 'absolute', top: 80, left: 40, width: 1200, flexDirection: 'column' }}&gt;&#10;    &lt;Text style={{ fontSize: 36, fontWeight: 'bold', color: '#0E3F8C' }}&gt;一句话形态与工程量&lt;/Text&gt;&#10;    &lt;Box style={{ width: 88, height: 3, background: '#3D7BD9', marginTop: 12 }} /&gt;&#10;  &lt;/Box&gt;&#10;&#10;  {/* 左 65%：形态示意（L1 主视觉） */}&#10;  &lt;Box style={{ position: 'absolute', top: 168, left: 40, width: 762, height: 486, background: '#FFFFFF', border: '1px solid #D6DCE5', borderRadius: 6, padding: '26px 28px', flexDirection: 'column', justifyContent: 'space-between' }}&gt;&#10;    &lt;Box style={{ flexDirection: 'row', alignItems: 'center', justifyContent: 'space-between' }}&gt;&#10;      &lt;Text style={{ fontSize: 24, fontWeight: 'bold', color: '#1A2230' }}&gt;输入 —— 输出&lt;/Text&gt;&#10;      &lt;Text style={{ fontSize: 15, color: '#8B97A8' }}&gt;四项参数 → 三件交付物&lt;/Text&gt;&#10;    &lt;/Box&gt;&#10;&#10;    &lt;svg width={706} height={196} viewBox='0 0 706 196'&gt;&#10;      {/* 输入块 */}&#10;      &lt;rect x='0' y='28' width='176' height='140' rx='6' fill='#E8EFF8' stroke='#1E4FA8' strokeWidth='1.5' /&gt;&#10;      &lt;text x='88' y='56' textAnchor='middle' fontSize='15' fontWeight='bold' fill='#0E3F8C'&gt;输入（4 项）&lt;/text&gt;&#10;      &lt;text x='88' y='84' textAnchor='middle' fontSize='14' fill='#1A2230'&gt;主题&lt;/text&gt;&#10;      &lt;text x='88' y='108' textAnchor='middle' fontSize='14' fill='#1A2230'&gt;目标时长&lt;/text&gt;&#10;      &lt;text x='88' y='132' textAnchor='middle' fontSize='14' fill='#1A2230'&gt;语速&lt;/text&gt;&#10;      &lt;text x='88' y='156' textAnchor='middle' fontSize='14' fill='#1A2230'&gt;语言风格（可选）&lt;/text&gt;&#10;&#10;      {/* 箭头 */}&#10;      &lt;path d='M182 98 L236 98' stroke='#1E4FA8' strokeWidth='2.5' /&gt;&#10;      &lt;path d='M230 90 L242 98 L230 106 Z' fill='#1E4FA8' /&gt;&#10;&#10;      {/* 引擎块 */}&#10;      &lt;rect x='248' y='48' width='150' height='100' rx='6' fill='#0E3F8C' /&gt;&#10;      &lt;text x='323' y='80' textAnchor='middle' fontSize='15' fontWeight='bold' fill='#FFFFFF'&gt;生成引擎&lt;/text&gt;&#10;      &lt;text x='323' y='104' textAnchor='middle' fontSize='13' fill='#A9C6EC'&gt;DeepSeek 脚本&lt;/text&gt;&#10;      &lt;text x='323' y='124' textAnchor='middle' fontSize='13' fill='#A9C6EC'&gt;CosyVoice 双音色&lt;/text&gt;&#10;&#10;      {/* 箭头 */}&#10;      &lt;path d='M404 98 L458 98' stroke='#1E4FA8' strokeWidth='2.5' /&gt;&#10;      &lt;path d='M452 90 L464 98 L452 106 Z' fill='#1E4FA8' /&gt;&#10;&#10;      {/* 输出块 */}&#10;      &lt;rect x='470' y='28' width='236' height='140' rx='6' fill='#FFFFFF' stroke='#3D7BD9' strokeWidth='1.5' /&gt;&#10;      &lt;text x='588' y='56' textAnchor='middle' fontSize='15' fontWeight='bold' fill='#0E3F8C'&gt;输出（3 件）&lt;/text&gt;&#10;      &lt;text x='588' y='84' textAnchor='middle' fontSize='14' fill='#1A2230'&gt;双人对话脚本（可编辑）&lt;/text&gt;&#10;      &lt;text x='588' y='108' textAnchor='middle' fontSize='14' fill='#1A2230'&gt;成片 mp3（含片头片尾）&lt;/text&gt;&#10;      &lt;text x='588' y='132' textAnchor='middle' fontSize='14' fill='#1A2230'&gt;RSS 订阅源（可发布）&lt;/text&gt;&#10;      &lt;text x='588' y='156' textAnchor='middle' fontSize='13' fill='#8B97A8'&gt;三者均由同一次任务产生&lt;/text&gt;&#10;    &lt;/svg&gt;&#10;&#10;    &lt;Box style={{ background: '#F0F5FC', borderLeft: '4px solid #1E4FA8', borderRadius: 4, padding: '14px 18px' }}&gt;&#10;      &lt;Text style={{ fontSize: 19, color: '#1A2230', lineHeight: 1.62 }}&gt;&#10;        &lt;span style={{ fontWeight: 'bold', color: '#0E3F8C' }}&gt;判断　&lt;/span&gt;&#10;        真正的门槛不是&quot;能生成一段音频&quot;，而是让脚本、音频、订阅源三者出自同一条可追溯、可中断续跑的链路——这一条决定了后面所有工程决策。&#10;      &lt;/Text&gt;&#10;    &lt;/Box&gt;&#10;  &lt;/Box&gt;&#10;&#10;  {/* 右 35%：工程量四数 */}&#10;  &lt;Box style={{ position: 'absolute', top: 168, left: 822, width: 418, height: 486, flexDirection: 'column', justifyContent: 'space-between' }}&gt;&#10;    &lt;Box style={{ height: 112, background: '#FFFFFF', border: '1px solid #D6DCE5', borderRadius: 6, padding: '18px 22px', flexDirection: 'row', alignItems: 'center', justifyContent: 'space-between' }}&gt;&#10;      &lt;Text style={{ fontSize: 19, color: '#4A5568' }}&gt;后端 API 端点&lt;/Text&gt;&#10;      &lt;Text style={{ fontSize: 56, fontWeight: 'bold', color: '#1E4FA8', lineHeight: 1 }}&gt;21&lt;/Text&gt;&#10;    &lt;/Box&gt;&#10;    &lt;Box style={{ height: 112, background: '#FFFFFF', border: '1px solid #D6DCE5', borderRadius: 6, padding: '18px 22px', flexDirection: 'row', alignItems: 'center', justifyContent: 'space-between' }}&gt;&#10;      &lt;Text style={{ fontSize: 19, color: '#4A5568' }}&gt;前端页面&lt;/Text&gt;&#10;      &lt;Text style={{ fontSize: 56, fontWeight: 'bold', color: '#1E4FA8', lineHeight: 1 }}&gt;5&lt;/Text&gt;&#10;    &lt;/Box&gt;&#10;    &lt;Box style={{ height: 112, background: '#FFFFFF', border: '1px solid #D6DCE5', borderRadius: 6, padding: '18px 22px', flexDirection: 'row', alignItems: 'center', justifyContent: 'space-between' }}&gt;&#10;      &lt;Text style={{ fontSize: 19, color: '#4A5568' }}&gt;数据表&lt;/Text&gt;&#10;      &lt;Text style={{ fontSize: 56, fontWeight: 'bold', color: '#1E4FA8', lineHeight: 1 }}&gt;6&lt;/Text&gt;&#10;    &lt;/Box&gt;&#10;    &lt;Box style={{ height: 112, background: '#0E3F8C', borderRadius: 6, padding: '18px 22px', flexDirection: 'row', alignItems: 'center', justifyContent: 'space-between' }}&gt;&#10;      &lt;Text style={{ fontSize: 19, color: '#D6E4F7' }}&gt;交付文档&lt;/Text&gt;&#10;      &lt;Text style={{ fontSize: 56, fontWeight: 'bold', color: '#FFFFFF', lineHeight: 1 }}&gt;22&lt;/Text&gt;&#10;    &lt;/Box&gt;&#10;  &lt;/Box&gt;&#10;&#10;  &lt;Box style={{ position: 'absolute', top: 668, left: 40, width: 1200, height: 32, flexDirection: 'row', justifyContent: 'space-between', alignItems: 'center' }}&gt;&#10;    &lt;Text style={{ fontSize: 14, color: '#8B97A8' }}&gt;双人对话播客自动生成系统 · D14 答辩&lt;/Text&gt;&#10;    &lt;Text style={{ fontSize: 16, color: '#1E4FA8', fontWeight: 'bold' }}&gt;04 / 1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双人对话播客自动生成系统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915650" y="180975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FD3EE"/>
                </a:solidFill>
                <a:latin typeface="Source Han Sans SC"/>
                <a:ea typeface="Source Han Sans SC"/>
              </a:rPr>
              <a:t>D14 </a:t>
            </a:r>
            <a:r>
              <a:rPr lang="zh-CN" sz="1125">
                <a:solidFill>
                  <a:srgbClr val="BFD3EE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762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Source Han Sans SC"/>
                <a:ea typeface="Source Han Sans SC"/>
              </a:rPr>
              <a:t>一句话形态与工程量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81000" y="1295400"/>
            <a:ext cx="8382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381000" y="1600200"/>
            <a:ext cx="7258050" cy="462915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47700" y="1847850"/>
            <a:ext cx="1552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Source Han Sans SC"/>
                <a:ea typeface="Source Han Sans SC"/>
              </a:rPr>
              <a:t>输入</a:t>
            </a:r>
            <a:r>
              <a:rPr lang="en-US" sz="1800" b="1">
                <a:solidFill>
                  <a:srgbClr val="1A2230"/>
                </a:solidFill>
                <a:latin typeface="Source Han Sans SC"/>
                <a:ea typeface="Source Han Sans SC"/>
              </a:rPr>
              <a:t> —— </a:t>
            </a:r>
            <a:r>
              <a:rPr lang="zh-CN" sz="1800" b="1">
                <a:solidFill>
                  <a:srgbClr val="1A2230"/>
                </a:solidFill>
                <a:latin typeface="Source Han Sans SC"/>
                <a:ea typeface="Source Han Sans SC"/>
              </a:rPr>
              <a:t>输出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857875" y="190500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四项参数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→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三件交付物</a:t>
            </a:r>
            <a:endParaRPr/>
          </a:p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7700" y="2638425"/>
            <a:ext cx="6724650" cy="1866900"/>
          </a:xfrm>
          <a:prstGeom prst="rect">
            <a:avLst/>
          </a:prstGeom>
          <a:ln/>
        </p:spPr>
      </p:pic>
      <p:sp>
        <p:nvSpPr>
          <p:cNvPr id="72" name=""/>
          <p:cNvSpPr/>
          <p:nvPr/>
        </p:nvSpPr>
        <p:spPr>
          <a:xfrm rot="0" flipH="0" flipV="0">
            <a:off x="685800" y="5010150"/>
            <a:ext cx="6724650" cy="971550"/>
          </a:xfrm>
          <a:prstGeom prst="roundRect">
            <a:avLst>
              <a:gd name="adj" fmla="val 39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85800" y="5010150"/>
            <a:ext cx="6724650" cy="971550"/>
          </a:xfrm>
          <a:custGeom>
            <a:pathLst>
              <a:path w="706" h="102">
                <a:moveTo>
                  <a:pt x="4" y="102"/>
                </a:move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57250" y="5143500"/>
            <a:ext cx="63436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判断　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真正的门槛不是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能生成一段音频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，而是让脚本、音频、订阅源三者出自同一条可追溯、可中断续跑的链路——这一条决定了后面所有工程决策。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7829550" y="1600200"/>
            <a:ext cx="39814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39100" y="2028825"/>
            <a:ext cx="112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后端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API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端点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934700" y="180975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21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829550" y="2790825"/>
            <a:ext cx="39814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039100" y="32194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前端页面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268075" y="3000375"/>
            <a:ext cx="3333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829550" y="3971925"/>
            <a:ext cx="398145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039100" y="44005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数据表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268075" y="4181475"/>
            <a:ext cx="3333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6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829550" y="5162550"/>
            <a:ext cx="3981450" cy="1066800"/>
          </a:xfrm>
          <a:prstGeom prst="roundRect">
            <a:avLst>
              <a:gd name="adj" fmla="val 535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39100" y="55911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D6E4F7"/>
                </a:solidFill>
                <a:latin typeface="Source Han Sans SC"/>
                <a:ea typeface="Source Han Sans SC"/>
              </a:rPr>
              <a:t>交付文档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934700" y="537210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Source Han Sans SC"/>
                <a:ea typeface="Source Han Sans SC"/>
              </a:rPr>
              <a:t>22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D14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答辩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style={{ width: 1280, height: 720, position: 'relative', background: '#F7F9FC', fontFamily: 'Source Han Sans SC, Noto Sans SC, Microsoft YaHei, sans-serif', overflow: 'hidden' }}&gt;&#10;&#10;  &lt;Box style={{ position: 'absolute', top: 0, left: 0, width: 1280, height: 56, background: '#1E4FA8', flexDirection: 'row', alignItems: 'center', justifyContent: 'space-between', padding: '0 40px' }}&gt;&#10;    &lt;Text style={{ fontSize: 18, color: '#FFFFFF', fontWeight: 'bold' }}&gt;双人对话播客自动生成系统&lt;/Text&gt;&#10;    &lt;Text style={{ fontSize: 15, color: '#BFD3EE' }}&gt;D14 项目答辩&lt;/Text&gt;&#10;  &lt;/Box&gt;&#10;&#10;  &lt;Box style={{ position: 'absolute', top: 80, left: 40, width: 1200, flexDirection: 'column' }}&gt;&#10;    &lt;Text style={{ fontSize: 36, fontWeight: 'bold', color: '#0E3F8C' }}&gt;五项指标：四项机器证据，一项人证&lt;/Text&gt;&#10;    &lt;Box style={{ width: 88, height: 3, background: '#3D7BD9', marginTop: 12 }} /&gt;&#10;  &lt;/Box&gt;&#10;&#10;  {/* 左：两个巨型数字锚点 */}&#10;  &lt;Box style={{ position: 'absolute', top: 172, left: 40, width: 452, height: 488, flexDirection: 'column', justifyContent: 'space-between' }}&gt;&#10;&#10;    &lt;Box style={{ height: 232, background: '#FFFFFF', border: '1px solid #D6DCE5', borderRadius: 6, padding: '24px 26px', flexDirection: 'column', justifyContent: 'center' }}&gt;&#10;      &lt;Text style={{ fontSize: 84, fontWeight: 'bold', color: '#1E4FA8', lineHeight: 1.02 }}&gt;100.00%&lt;/Text&gt;&#10;      &lt;Text style={{ fontSize: 21, fontWeight: 'bold', color: '#1A2230', marginTop: 10 }}&gt;逐句一致率&lt;/Text&gt;&#10;      &lt;Text style={{ fontSize: 17, color: '#4A5568', marginTop: 6, lineHeight: 1.5 }}&gt;&#10;        1120 / 1120 句 · 36 期&lt;br /&gt;离线全量普查，非抽样&#10;      &lt;/Text&gt;&#10;    &lt;/Box&gt;&#10;&#10;    &lt;Box style={{ height: 232, background: '#0E3F8C', borderRadius: 6, padding: '24px 26px', flexDirection: 'column', justifyContent: 'center' }}&gt;&#10;      &lt;Text style={{ fontSize: 84, fontWeight: 'bold', color: '#FFFFFF', lineHeight: 1.02 }}&gt;411&lt;/Text&gt;&#10;      &lt;Text style={{ fontSize: 21, fontWeight: 'bold', color: '#D6E4F7', marginTop: 10 }}&gt;后端回归用例&lt;/Text&gt;&#10;      &lt;Text style={{ fontSize: 17, color: '#A9C6EC', marginTop: 6, lineHeight: 1.5 }}&gt;&#10;        junit 口径：0 失败 · 0 错误&lt;br /&gt;另有 35 条变异测试全部如期变红&#10;      &lt;/Text&gt;&#10;    &lt;/Box&gt;&#10;&#10;  &lt;/Box&gt;&#10;&#10;  {/* 右：五项指标逐条 */}&#10;  &lt;Box style={{ position: 'absolute', top: 172, left: 512, width: 728, height: 488, flexDirection: 'column', justifyContent: 'space-between' }}&gt;&#10;&#10;    &lt;Box style={{ height: 92, background: '#FFFFFF', border: '1px solid #D6DCE5', borderRadius: 6, padding: '14px 20px', flexDirection: 'row', alignItems: 'center', gap: 16 }}&gt;&#10;      &lt;Box style={{ width: 34, height: 34, background: '#1E4FA8', borderRadius: 4, alignItems: 'center', justifyContent: 'center' }}&gt;&#10;        &lt;Text style={{ fontSize: 17, fontWeight: 'bold', color: '#FFFFFF' }}&gt;1&lt;/Text&gt;&#10;      &lt;/Box&gt;&#10;      &lt;Box style={{ flex: 1, flexDirection: 'column', gap: 3 }}&gt;&#10;        &lt;Text style={{ fontSize: 20, fontWeight: 'bold', color: '#1A2230' }}&gt;脚本一次生成可用率 ≥ 80%&lt;/Text&gt;&#10;        &lt;Text style={{ fontSize: 16, color: '#4A5568' }}&gt;12 条主题集抽样 · 最终可用率口径 10/10&lt;/Text&gt;&#10;      &lt;/Box&gt;&#10;      &lt;Box style={{ background: '#E8EFF8', borderRadius: 12, padding: '5px 14px' }}&gt;&#10;        &lt;Text style={{ fontSize: 15, color: '#0E3F8C', fontWeight: 'bold' }}&gt;机器证据&lt;/Text&gt;&#10;      &lt;/Box&gt;&#10;    &lt;/Box&gt;&#10;&#10;    &lt;Box style={{ height: 92, background: '#FFFFFF', border: '1px solid #D6DCE5', borderRadius: 6, padding: '14px 20px', flexDirection: 'row', alignItems: 'center', gap: 16 }}&gt;&#10;      &lt;Box style={{ width: 34, height: 34, background: '#1E4FA8', borderRadius: 4, alignItems: 'center', justifyContent: 'center' }}&gt;&#10;        &lt;Text style={{ fontSize: 17, fontWeight: 'bold', color: '#FFFFFF' }}&gt;2&lt;/Text&gt;&#10;      &lt;/Box&gt;&#10;      &lt;Box style={{ flex: 1, flexDirection: 'column', gap: 3 }}&gt;&#10;        &lt;Text style={{ fontSize: 20, fontWeight: 'bold', color: '#1A2230' }}&gt;合成文本与脚本逐句一致率 = 100%&lt;/Text&gt;&#10;        &lt;Text style={{ fontSize: 16, color: '#4A5568' }}&gt;自动比对 · 判据可被打红（4/4 自证通过）&lt;/Text&gt;&#10;      &lt;/Box&gt;&#10;      &lt;Box style={{ background: '#E8EFF8', borderRadius: 12, padding: '5px 14px' }}&gt;&#10;        &lt;Text style={{ fontSize: 15, color: '#0E3F8C', fontWeight: 'bold' }}&gt;机器证据&lt;/Text&gt;&#10;      &lt;/Box&gt;&#10;    &lt;/Box&gt;&#10;&#10;    &lt;Box style={{ height: 92, background: '#FFFFFF', border: '1px solid #D9A3A0', borderRadius: 6, padding: '14px 20px', flexDirection: 'row', alignItems: 'center', gap: 16 }}&gt;&#10;      &lt;Box style={{ width: 34, height: 34, background: '#D9534F', borderRadius: 4, alignItems: 'center', justifyContent: 'center' }}&gt;&#10;        &lt;Text style={{ fontSize: 17, fontWeight: 'bold', color: '#FFFFFF' }}&gt;3&lt;/Text&gt;&#10;      &lt;/Box&gt;&#10;      &lt;Box style={{ flex: 1, flexDirection: 'column', gap: 3 }}&gt;&#10;        &lt;Text style={{ fontSize: 20, fontWeight: 'bold', color: '#1A2230' }}&gt;MOS 自然度 ≥ 3.5 / 5&lt;/Text&gt;&#10;        &lt;Text style={{ fontSize: 16, color: '#4A5568' }}&gt;3 位真人听测确认达标 · 无评分表、无均分&lt;/Text&gt;&#10;      &lt;/Box&gt;&#10;      &lt;Box style={{ background: '#FBE9E8', borderRadius: 12, padding: '5px 14px' }}&gt;&#10;        &lt;Text style={{ fontSize: 15, color: '#B03B37', fontWeight: 'bold' }}&gt;人证&lt;/Text&gt;&#10;      &lt;/Box&gt;&#10;    &lt;/Box&gt;&#10;&#10;    &lt;Box style={{ height: 92, background: '#FFFFFF', border: '1px solid #D6DCE5', borderRadius: 6, padding: '14px 20px', flexDirection: 'row', alignItems: 'center', gap: 16 }}&gt;&#10;      &lt;Box style={{ width: 34, height: 34, background: '#1E4FA8', borderRadius: 4, alignItems: 'center', justifyContent: 'center' }}&gt;&#10;        &lt;Text style={{ fontSize: 17, fontWeight: 'bold', color: '#FFFFFF' }}&gt;4&lt;/Text&gt;&#10;      &lt;/Box&gt;&#10;      &lt;Box style={{ flex: 1, flexDirection: 'column', gap: 3 }}&gt;&#10;        &lt;Text style={{ fontSize: 20, fontWeight: 'bold', color: '#1A2230' }}&gt;1000 字端到端 ≤ 10 分钟&lt;/Text&gt;&#10;        &lt;Text style={{ fontSize: 16, color: '#4A5568' }}&gt;实测 5.4~6.2 min · 稳态 RTF 1.037（冷启 1.775）&lt;/Text&gt;&#10;      &lt;/Box&gt;&#10;      &lt;Box style={{ background: '#E8EFF8', borderRadius: 12, padding: '5px 14px' }}&gt;&#10;        &lt;Text style={{ fontSize: 15, color: '#0E3F8C', fontWeight: 'bold' }}&gt;机器证据&lt;/Text&gt;&#10;      &lt;/Box&gt;&#10;    &lt;/Box&gt;&#10;&#10;    &lt;Box style={{ height: 92, background: '#FFFFFF', border: '1px solid #D6DCE5', borderRadius: 6, padding: '14px 20px', flexDirection: 'row', alignItems: 'center', gap: 16 }}&gt;&#10;      &lt;Box style={{ width: 34, height: 34, background: '#1E4FA8', borderRadius: 4, alignItems: 'center', justifyContent: 'center' }}&gt;&#10;        &lt;Text style={{ fontSize: 17, fontWeight: 'bold', color: '#FFFFFF' }}&gt;5&lt;/Text&gt;&#10;      &lt;/Box&gt;&#10;      &lt;Box style={{ flex: 1, flexDirection: 'column', gap: 3 }}&gt;&#10;        &lt;Text style={{ fontSize: 20, fontWeight: 'bold', color: '#1A2230' }}&gt;显存峰值双口径达标&lt;/Text&gt;&#10;        &lt;Text style={{ fontSize: 16, color: '#4A5568' }}&gt;allocated 3548.5 MB ≤ 3.6 GB · reserved 4156.0 MB ≤ 4.2 GB&lt;/Text&gt;&#10;      &lt;/Box&gt;&#10;      &lt;Box style={{ background: '#E8EFF8', borderRadius: 12, padding: '5px 14px' }}&gt;&#10;        &lt;Text style={{ fontSize: 15, color: '#0E3F8C', fontWeight: 'bold' }}&gt;机器证据&lt;/Text&gt;&#10;      &lt;/Box&gt;&#10;    &lt;/Box&gt;&#10;&#10;  &lt;/Box&gt;&#10;&#10;  &lt;Box style={{ position: 'absolute', top: 668, left: 40, width: 1200, height: 32, flexDirection: 'row', justifyContent: 'space-between', alignItems: 'center' }}&gt;&#10;    &lt;Text style={{ fontSize: 14, color: '#8B97A8' }}&gt;双人对话播客自动生成系统 · D14 答辩&lt;/Text&gt;&#10;    &lt;Text style={{ fontSize: 16, color: '#1E4FA8', fontWeight: 'bold' }}&gt;09 / 1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双人对话播客自动生成系统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915650" y="180975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FD3EE"/>
                </a:solidFill>
                <a:latin typeface="Source Han Sans SC"/>
                <a:ea typeface="Source Han Sans SC"/>
              </a:rPr>
              <a:t>D14 </a:t>
            </a:r>
            <a:r>
              <a:rPr lang="zh-CN" sz="1125">
                <a:solidFill>
                  <a:srgbClr val="BFD3EE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1000" y="762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Source Han Sans SC"/>
                <a:ea typeface="Source Han Sans SC"/>
              </a:rPr>
              <a:t>五项指标：四项机器证据，一项人证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381000" y="1295400"/>
            <a:ext cx="8382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381000" y="1638300"/>
            <a:ext cx="4305300" cy="2209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28650" y="1762125"/>
            <a:ext cx="3810000" cy="9810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6300" b="1">
                <a:solidFill>
                  <a:srgbClr val="1E4FA8"/>
                </a:solidFill>
                <a:latin typeface="Source Han Sans SC"/>
                <a:ea typeface="Source Han Sans SC"/>
              </a:rPr>
              <a:t>100.00%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28650" y="283845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Source Han Sans SC"/>
                <a:ea typeface="Source Han Sans SC"/>
              </a:rPr>
              <a:t>逐句一致率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28650" y="3143250"/>
            <a:ext cx="3810000" cy="590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1120 / 1120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句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36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期</a:t>
            </a:r>
            <a:endParaRPr/>
          </a:p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离线全量普查，非抽样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381000" y="4076700"/>
            <a:ext cx="4305300" cy="2209800"/>
          </a:xfrm>
          <a:prstGeom prst="roundRect">
            <a:avLst>
              <a:gd name="adj" fmla="val 25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28650" y="4200525"/>
            <a:ext cx="3810000" cy="981075"/>
          </a:xfrm>
          <a:prstGeom prst="rect"/>
        </p:spPr>
        <p:txBody>
          <a:bodyPr wrap="none" lIns="0" tIns="0" rIns="0" bIns="0"/>
          <a:p>
            <a:pPr>
              <a:lnSpc>
                <a:spcPct val="102000"/>
              </a:lnSpc>
            </a:pPr>
            <a:r>
              <a:rPr lang="en-US" sz="6300" b="1">
                <a:solidFill>
                  <a:srgbClr val="FFFFFF"/>
                </a:solidFill>
                <a:latin typeface="Source Han Sans SC"/>
                <a:ea typeface="Source Han Sans SC"/>
              </a:rPr>
              <a:t>411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28650" y="5276850"/>
            <a:ext cx="3810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D6E4F7"/>
                </a:solidFill>
                <a:latin typeface="Source Han Sans SC"/>
                <a:ea typeface="Source Han Sans SC"/>
              </a:rPr>
              <a:t>后端回归用例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28650" y="5581650"/>
            <a:ext cx="3810000" cy="590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A9C6EC"/>
                </a:solidFill>
                <a:latin typeface="Source Han Sans SC"/>
                <a:ea typeface="Source Han Sans SC"/>
              </a:rPr>
              <a:t>junit </a:t>
            </a:r>
            <a:r>
              <a:rPr lang="zh-CN" sz="1275">
                <a:solidFill>
                  <a:srgbClr val="A9C6EC"/>
                </a:solidFill>
                <a:latin typeface="Source Han Sans SC"/>
                <a:ea typeface="Source Han Sans SC"/>
              </a:rPr>
              <a:t>口径：</a:t>
            </a:r>
            <a:r>
              <a:rPr lang="en-US" sz="1275">
                <a:solidFill>
                  <a:srgbClr val="A9C6EC"/>
                </a:solidFill>
                <a:latin typeface="Source Han Sans SC"/>
                <a:ea typeface="Source Han Sans SC"/>
              </a:rPr>
              <a:t>0 </a:t>
            </a:r>
            <a:r>
              <a:rPr lang="zh-CN" sz="1275">
                <a:solidFill>
                  <a:srgbClr val="A9C6EC"/>
                </a:solidFill>
                <a:latin typeface="Source Han Sans SC"/>
                <a:ea typeface="Source Han Sans SC"/>
              </a:rPr>
              <a:t>失败</a:t>
            </a:r>
            <a:r>
              <a:rPr lang="en-US" sz="1275">
                <a:solidFill>
                  <a:srgbClr val="A9C6EC"/>
                </a:solidFill>
                <a:latin typeface="Source Han Sans SC"/>
                <a:ea typeface="Source Han Sans SC"/>
              </a:rPr>
              <a:t> · 0 </a:t>
            </a:r>
            <a:r>
              <a:rPr lang="zh-CN" sz="1275">
                <a:solidFill>
                  <a:srgbClr val="A9C6EC"/>
                </a:solidFill>
                <a:latin typeface="Source Han Sans SC"/>
                <a:ea typeface="Source Han Sans SC"/>
              </a:rPr>
              <a:t>错误</a:t>
            </a:r>
            <a:endParaRPr/>
          </a:p>
          <a:p>
            <a:pPr>
              <a:lnSpc>
                <a:spcPct val="150000"/>
              </a:lnSpc>
            </a:pPr>
            <a:r>
              <a:rPr lang="zh-CN" sz="1275">
                <a:solidFill>
                  <a:srgbClr val="A9C6EC"/>
                </a:solidFill>
                <a:latin typeface="Source Han Sans SC"/>
                <a:ea typeface="Source Han Sans SC"/>
              </a:rPr>
              <a:t>另有</a:t>
            </a:r>
            <a:r>
              <a:rPr lang="en-US" sz="1275">
                <a:solidFill>
                  <a:srgbClr val="A9C6EC"/>
                </a:solidFill>
                <a:latin typeface="Source Han Sans SC"/>
                <a:ea typeface="Source Han Sans SC"/>
              </a:rPr>
              <a:t> 35 </a:t>
            </a:r>
            <a:r>
              <a:rPr lang="zh-CN" sz="1275">
                <a:solidFill>
                  <a:srgbClr val="A9C6EC"/>
                </a:solidFill>
                <a:latin typeface="Source Han Sans SC"/>
                <a:ea typeface="Source Han Sans SC"/>
              </a:rPr>
              <a:t>条变异测试全部如期变红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4876800" y="1638300"/>
            <a:ext cx="69342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5067300" y="19145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181600" y="19812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543550" y="1857375"/>
            <a:ext cx="5086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脚本一次生成可用率</a:t>
            </a: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 ≥ 80%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543550" y="2114550"/>
            <a:ext cx="508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12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条主题集抽样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最终可用率口径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10/10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10782300" y="1943100"/>
            <a:ext cx="838200" cy="266700"/>
          </a:xfrm>
          <a:prstGeom prst="roundRect">
            <a:avLst>
              <a:gd name="adj" fmla="val 4285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915650" y="19907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Source Han Sans SC"/>
                <a:ea typeface="Source Han Sans SC"/>
              </a:rPr>
              <a:t>机器证据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876800" y="2581275"/>
            <a:ext cx="69342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5067300" y="285750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181600" y="292417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543550" y="2800350"/>
            <a:ext cx="5086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合成文本与脚本逐句一致率</a:t>
            </a: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 = 100%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543550" y="3057525"/>
            <a:ext cx="508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自动比对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判据可被打红（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4/4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自证通过）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10782300" y="2886075"/>
            <a:ext cx="838200" cy="266700"/>
          </a:xfrm>
          <a:prstGeom prst="roundRect">
            <a:avLst>
              <a:gd name="adj" fmla="val 4285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915650" y="2933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Source Han Sans SC"/>
                <a:ea typeface="Source Han Sans SC"/>
              </a:rPr>
              <a:t>机器证据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4876800" y="3524250"/>
            <a:ext cx="69342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A3A0"/>
            </a:solidFill>
            <a:prstDash val="solid"/>
          </a:ln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5067300" y="380047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181600" y="386715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543550" y="3743325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MOS </a:t>
            </a: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自然度</a:t>
            </a: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 ≥ 3.5 / 5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543550" y="4000500"/>
            <a:ext cx="537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3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位真人听测确认达标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无评分表、无均分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11068050" y="3829050"/>
            <a:ext cx="552450" cy="266700"/>
          </a:xfrm>
          <a:prstGeom prst="roundRect">
            <a:avLst>
              <a:gd name="adj" fmla="val 42857"/>
            </a:avLst>
          </a:prstGeom>
          <a:solidFill>
            <a:srgbClr val="FBE9E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201400" y="38766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B03B37"/>
                </a:solidFill>
                <a:latin typeface="Source Han Sans SC"/>
                <a:ea typeface="Source Han Sans SC"/>
              </a:rPr>
              <a:t>人证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876800" y="4467225"/>
            <a:ext cx="69342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5067300" y="4743450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181600" y="48101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543550" y="4686300"/>
            <a:ext cx="5086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1000 </a:t>
            </a: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字端到端</a:t>
            </a: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 ≤ 10 </a:t>
            </a: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分钟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543550" y="4943475"/>
            <a:ext cx="508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实测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5.4~6.2 min ·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稳态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RTF 1.037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（冷启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1.775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10782300" y="4772025"/>
            <a:ext cx="838200" cy="266700"/>
          </a:xfrm>
          <a:prstGeom prst="roundRect">
            <a:avLst>
              <a:gd name="adj" fmla="val 4285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0915650" y="4819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Source Han Sans SC"/>
                <a:ea typeface="Source Han Sans SC"/>
              </a:rPr>
              <a:t>机器证据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876800" y="5410200"/>
            <a:ext cx="69342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5067300" y="56864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181600" y="57531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543550" y="5629275"/>
            <a:ext cx="5086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显存峰值双口径达标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543550" y="5886450"/>
            <a:ext cx="5086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allocated 3548.5 MB ≤ 3.6 GB · reserved 4156.0 MB ≤ 4.2 GB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10782300" y="5715000"/>
            <a:ext cx="838200" cy="266700"/>
          </a:xfrm>
          <a:prstGeom prst="roundRect">
            <a:avLst>
              <a:gd name="adj" fmla="val 4285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0915650" y="5762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Source Han Sans SC"/>
                <a:ea typeface="Source Han Sans SC"/>
              </a:rPr>
              <a:t>机器证据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D14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答辩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09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style={{ width: 1280, height: 720, position: 'relative', background: '#FFFFFF', fontFamily: 'Source Han Sans SC, Noto Sans SC, Microsoft YaHei, sans-serif', overflow: 'hidden' }}&gt;&#10;&#10;  &lt;Box style={{ position: 'absolute', top: 0, left: 0, width: 1280, height: 56, background: '#1E4FA8', flexDirection: 'row', alignItems: 'center', justifyContent: 'space-between', padding: '0 40px' }}&gt;&#10;    &lt;Text style={{ fontSize: 18, color: '#FFFFFF', fontWeight: 'bold' }}&gt;双人对话播客自动生成系统&lt;/Text&gt;&#10;    &lt;Text style={{ fontSize: 15, color: '#BFD3EE' }}&gt;D14 项目答辩&lt;/Text&gt;&#10;  &lt;/Box&gt;&#10;&#10;  &lt;Box style={{ position: 'absolute', top: 80, left: 40, width: 1200, height: 580, flexDirection: 'row', alignItems: 'center' }}&gt;&#10;&#10;    &lt;Box style={{ width: 420, flexDirection: 'column', justifyContent: 'center' }}&gt;&#10;      &lt;Text style={{ fontSize: 260, fontWeight: 'bold', color: '#E8EFF8', lineHeight: 1 }}&gt;04&lt;/Text&gt;&#10;    &lt;/Box&gt;&#10;&#10;    &lt;Box style={{ width: 4, height: 340, background: '#3D7BD9' }} /&gt;&#10;&#10;    &lt;Box style={{ flex: 1, flexDirection: 'column', paddingLeft: 56, justifyContent: 'center' }}&gt;&#10;      &lt;Text style={{ fontSize: 20, color: '#3D7BD9', letterSpacing: 4, marginBottom: 14 }}&gt;CHAPTER 04&lt;/Text&gt;&#10;      &lt;Text style={{ fontSize: 52, fontWeight: 'bold', color: '#0E3F8C', marginBottom: 32 }}&gt;难点与应对&lt;/Text&gt;&#10;      &lt;Box style={{ flexDirection: 'column', gap: 16 }}&gt;&#10;        &lt;Box style={{ flexDirection: 'row', alignItems: 'center', gap: 14 }}&gt;&#10;          &lt;Box style={{ width: 8, height: 8, background: '#1E4FA8', borderRadius: 4 }} /&gt;&#10;          &lt;Text style={{ fontSize: 23, color: '#1A2230' }}&gt;显存紧平衡：4.32 GB 里塞下一个 0.5B 模型&lt;/Text&gt;&#10;        &lt;/Box&gt;&#10;        &lt;Box style={{ flexDirection: 'row', alignItems: 'center', gap: 14 }}&gt;&#10;          &lt;Box style={{ width: 8, height: 8, background: '#1E4FA8', borderRadius: 4 }} /&gt;&#10;          &lt;Text style={{ fontSize: 23, color: '#1A2230' }}&gt;订阅源恒久落后一期：活过 4 个阶段的缺陷&lt;/Text&gt;&#10;        &lt;/Box&gt;&#10;        &lt;Box style={{ flexDirection: 'row', alignItems: 'center', gap: 14 }}&gt;&#10;          &lt;Box style={{ width: 8, height: 8, background: '#1E4FA8', borderRadius: 4 }} /&gt;&#10;          &lt;Text style={{ fontSize: 23, color: '#1A2230' }}&gt;摆设断言：测试全绿不等于被测对了&lt;/Text&gt;&#10;        &lt;/Box&gt;&#10;      &lt;/Box&gt;&#10;    &lt;/Box&gt;&#10;&#10;  &lt;/Box&gt;&#10;&#10;  &lt;Box style={{ position: 'absolute', top: 668, left: 40, width: 1200, height: 32, flexDirection: 'row', justifyContent: 'space-between', alignItems: 'center' }}&gt;&#10;    &lt;Text style={{ fontSize: 14, color: '#8B97A8' }}&gt;双人对话播客自动生成系统 · D14 答辩&lt;/Text&gt;&#10;    &lt;Text style={{ fontSize: 16, color: '#1E4FA8', fontWeight: 'bold' }}&gt;10 / 1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双人对话播客自动生成系统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915650" y="180975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FD3EE"/>
                </a:solidFill>
                <a:latin typeface="Source Han Sans SC"/>
                <a:ea typeface="Source Han Sans SC"/>
              </a:rPr>
              <a:t>D14 </a:t>
            </a:r>
            <a:r>
              <a:rPr lang="zh-CN" sz="1125">
                <a:solidFill>
                  <a:srgbClr val="BFD3EE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1000" y="2038350"/>
            <a:ext cx="400050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E8EFF8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4381500" y="1905000"/>
            <a:ext cx="38100" cy="32385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953000" y="2343150"/>
            <a:ext cx="685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Source Han Sans SC"/>
                <a:ea typeface="Source Han Sans SC"/>
              </a:rPr>
              <a:t>CHAPTER 04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953000" y="2705100"/>
            <a:ext cx="6858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Source Han Sans SC"/>
                <a:ea typeface="Source Han Sans SC"/>
              </a:rPr>
              <a:t>难点与应对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953000" y="3705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162550" y="3609975"/>
            <a:ext cx="42957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显存紧平衡：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4.32 GB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里塞下一个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0.5B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4953000" y="41243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162550" y="4029075"/>
            <a:ext cx="4210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订阅源恒久落后一期：活过</a:t>
            </a:r>
            <a:r>
              <a:rPr lang="en-US" sz="1725">
                <a:solidFill>
                  <a:srgbClr val="1A2230"/>
                </a:solidFill>
                <a:latin typeface="Source Han Sans SC"/>
                <a:ea typeface="Source Han Sans SC"/>
              </a:rPr>
              <a:t> 4 </a:t>
            </a: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个阶段的缺陷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953000" y="45434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162550" y="4448175"/>
            <a:ext cx="35052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>
                <a:solidFill>
                  <a:srgbClr val="1A2230"/>
                </a:solidFill>
                <a:latin typeface="Source Han Sans SC"/>
                <a:ea typeface="Source Han Sans SC"/>
              </a:rPr>
              <a:t>摆设断言：测试全绿不等于被测对了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D14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答辩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10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8" name="" descr="&lt;Slide style={{ width: 1280, height: 720, position: 'relative', background: '#F7F9FC', fontFamily: 'Source Han Sans SC, Noto Sans SC, Microsoft YaHei, sans-serif', overflow: 'hidden' }}&gt;&#10;&#10;  &lt;Box style={{ position: 'absolute', top: 0, left: 0, width: 1280, height: 56, background: '#1E4FA8', flexDirection: 'row', alignItems: 'center', justifyContent: 'space-between', padding: '0 40px' }}&gt;&#10;    &lt;Text style={{ fontSize: 18, color: '#FFFFFF', fontWeight: 'bold' }}&gt;双人对话播客自动生成系统&lt;/Text&gt;&#10;    &lt;Text style={{ fontSize: 15, color: '#BFD3EE' }}&gt;D14 项目答辩&lt;/Text&gt;&#10;  &lt;/Box&gt;&#10;&#10;  &lt;Box style={{ position: 'absolute', top: 80, left: 40, width: 1200, flexDirection: 'column' }}&gt;&#10;    &lt;Text style={{ fontSize: 36, fontWeight: 'bold', color: '#0E3F8C' }}&gt;三个真实缺陷，以及它们为什么能活那么久&lt;/Text&gt;&#10;    &lt;Box style={{ width: 88, height: 3, background: '#3D7BD9', marginTop: 12 }} /&gt;&#10;  &lt;/Box&gt;&#10;&#10;  {/* 左 60%：缺陷存活期时间轴（L1 证据图） */}&#10;  &lt;Box style={{ position: 'absolute', top: 166, left: 40, width: 712, height: 488, background: '#FFFFFF', border: '1px solid #D6DCE5', borderRadius: 6, padding: '22px 24px', flexDirection: 'column', justifyContent: 'space-between' }}&gt;&#10;    &lt;Text style={{ fontSize: 22, fontWeight: 'bold', color: '#1A2230' }}&gt;缺陷引入 → 被发现的间隔&lt;/Text&gt;&#10;&#10;    &lt;svg width={664} height={296} viewBox='0 0 664 296'&gt;&#10;      {/* 行 1 */}&#10;      &lt;text x='0' y='34' fontSize='14' fill='#1A2230' fontWeight='bold'&gt;配置键名写错&lt;/text&gt;&#10;      &lt;rect x='128' y='20' width='330' height='20' rx='4' fill='#E8EFF8' stroke='#1E4FA8' strokeWidth='1' /&gt;&#10;      &lt;text x='466' y='35' fontSize='14' fill='#4A5568'&gt;D3 引入 · 6 天不可见&lt;/text&gt;&#10;&#10;      {/* 行 2 */}&#10;      &lt;text x='0' y='94' fontSize='14' fill='#1A2230' fontWeight='bold'&gt;订阅源落后一期&lt;/text&gt;&#10;      &lt;rect x='128' y='80' width='454' height='20' rx='4' fill='#E8EFF8' stroke='#1E4FA8' strokeWidth='1' /&gt;&#10;      &lt;text x='128' y='118' fontSize='14' fill='#4A5568'&gt;D6 引入 · 活过 4 个阶段，14 份 feed 每份恰好少 1 条&lt;/text&gt;&#10;&#10;      {/* 行 3 */}&#10;      &lt;text x='0' y='182' fontSize='14' fill='#1A2230' fontWeight='bold'&gt;摆设断言&lt;/text&gt;&#10;      &lt;rect x='128' y='168' width='454' height='20' rx='4' fill='#FBE9E8' stroke='#D9534F' strokeWidth='1' /&gt;&#10;      &lt;text x='128' y='206' fontSize='14' fill='#4A5568'&gt;D11 首次 · 到 D13 已是第 4 次同族复发（三种形态）&lt;/text&gt;&#10;&#10;      {/* 时间轴 */}&#10;      &lt;path d='M128 256 L646 256' stroke='#D6DCE5' strokeWidth='2' /&gt;&#10;      &lt;text x='120' y='278' fontSize='13' fill='#8B97A8'&gt;D0&lt;/text&gt;&#10;      &lt;text x='250' y='278' fontSize='13' fill='#8B97A8'&gt;D4&lt;/text&gt;&#10;      &lt;text x='380' y='278' fontSize='13' fill='#8B97A8'&gt;D8&lt;/text&gt;&#10;      &lt;text x='510' y='278' fontSize='13' fill='#8B97A8'&gt;D12&lt;/text&gt;&#10;      &lt;text x='628' y='278' fontSize='13' fill='#8B97A8'&gt;D14&lt;/text&gt;&#10;      &lt;rect x='584' y='250' width='4' height='12' fill='#D9534F' /&gt;&#10;&#10;      {/* 发现点 */}&#10;      &lt;circle cx='584' cy='30' r='6' fill='#D9534F' /&gt;&#10;      &lt;circle cx='584' cy='90' r='6' fill='#D9534F' /&gt;&#10;      &lt;circle cx='584' cy='178' r='6' fill='#D9534F' /&gt;&#10;    &lt;/svg&gt;&#10;&#10;    &lt;Box style={{ background: '#F0F5FC', borderLeft: '4px solid #D9534F', borderRadius: 4, padding: '12px 16px' }}&gt;&#10;      &lt;Text style={{ fontSize: 18, color: '#1A2230', lineHeight: 1.6 }}&gt;&#10;        &lt;span style={{ fontWeight: 'bold', color: '#B03B37' }}&gt;共同点　&lt;/span&gt;&#10;        三个缺陷都不会让系统报错——它们只是安静地给出错误的结果。&#10;      &lt;/Text&gt;&#10;    &lt;/Box&gt;&#10;  &lt;/Box&gt;&#10;&#10;  {/* 右 40%：三个缺陷的对策 */}&#10;  &lt;Box style={{ position: 'absolute', top: 166, left: 776, width: 464, height: 488, flexDirection: 'column', justifyContent: 'space-between' }}&gt;&#10;&#10;    &lt;Box style={{ height: 152, background: '#FFFFFF', border: '1px solid #D6DCE5', borderRadius: 6, padding: '16px 20px', flexDirection: 'column', gap: 7 }}&gt;&#10;      &lt;Text style={{ fontSize: 21, fontWeight: 'bold', color: '#0E3F8C' }}&gt;① 订阅源恒久落后一期&lt;/Text&gt;&#10;      &lt;Text style={{ fontSize: 17, color: '#4A5568', lineHeight: 1.55 }}&gt;&#10;        写订阅源早于状态转 DONE，&#10;        &lt;span style={{ fontWeight: 'bold', color: '#1A2230' }}&gt;本期被自己的过滤条件挡掉&lt;/span&gt;。&#10;      &lt;/Text&gt;&#10;      &lt;Text style={{ fontSize: 16, color: '#1E4FA8' }}&gt;对策：把本期显式纳入本次生成&lt;/Text&gt;&#10;    &lt;/Box&gt;&#10;&#10;    &lt;Box style={{ height: 152, background: '#FFFFFF', border: '1px solid #D6DCE5', borderRadius: 6, padding: '16px 20px', flexDirection: 'column', gap: 7 }}&gt;&#10;      &lt;Text style={{ fontSize: 21, fontWeight: 'bold', color: '#0E3F8C' }}&gt;② 配置死键（6 天不可见）&lt;/Text&gt;&#10;      &lt;Text style={{ fontSize: 17, color: '#4A5568', lineHeight: 1.55 }}&gt;&#10;        未知键被静默丢弃，且默认值恰好等于意图值，&#10;        &lt;span style={{ fontWeight: 'bold', color: '#1A2230' }}&gt;填错与填对毫无差别&lt;/span&gt;。&#10;      &lt;/Text&gt;&#10;      &lt;Text style={{ fontSize: 16, color: '#1E4FA8' }}&gt;对策：参数文档与配置字段双向比对&lt;/Text&gt;&#10;    &lt;/Box&gt;&#10;&#10;    &lt;Box style={{ height: 152, background: '#FFFFFF', border: '1px solid #D6DCE5', borderRadius: 6, padding: '16px 20px', flexDirection: 'column', gap: 7 }}&gt;&#10;      &lt;Text style={{ fontSize: 21, fontWeight: 'bold', color: '#0E3F8C' }}&gt;③ 摆设断言&lt;/Text&gt;&#10;      &lt;Text style={{ fontSize: 17, color: '#4A5568', lineHeight: 1.55 }}&gt;&#10;        期望值与被测产物同源，等于拿产物跟自己比；&#10;        &lt;span style={{ fontWeight: 'bold', color: '#1A2230' }}&gt;注入缺陷测试照样全绿&lt;/span&gt;。&#10;      &lt;/Text&gt;&#10;      &lt;Text style={{ fontSize: 16, color: '#1E4FA8' }}&gt;对策：35 条变异 + 判据自带自证&lt;/Text&gt;&#10;    &lt;/Box&gt;&#10;&#10;  &lt;/Box&gt;&#10;&#10;  &lt;Box style={{ position: 'absolute', top: 668, left: 40, width: 1200, height: 32, flexDirection: 'row', justifyContent: 'space-between', alignItems: 'center' }}&gt;&#10;    &lt;Text style={{ fontSize: 14, color: '#8B97A8' }}&gt;双人对话播客自动生成系统 · D14 答辩&lt;/Text&gt;&#10;    &lt;Text style={{ fontSize: 16, color: '#1E4FA8', fontWeight: 'bold' }}&gt;11 / 12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81000" y="1619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双人对话播客自动生成系统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0915650" y="180975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FD3EE"/>
                </a:solidFill>
                <a:latin typeface="Source Han Sans SC"/>
                <a:ea typeface="Source Han Sans SC"/>
              </a:rPr>
              <a:t>D14 </a:t>
            </a:r>
            <a:r>
              <a:rPr lang="zh-CN" sz="1125">
                <a:solidFill>
                  <a:srgbClr val="BFD3EE"/>
                </a:solidFill>
                <a:latin typeface="Source Han Sans SC"/>
                <a:ea typeface="Source Han Sans SC"/>
              </a:rPr>
              <a:t>项目答辩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81000" y="762000"/>
            <a:ext cx="11430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E3F8C"/>
                </a:solidFill>
                <a:latin typeface="Source Han Sans SC"/>
                <a:ea typeface="Source Han Sans SC"/>
              </a:rPr>
              <a:t>三个真实缺陷，以及它们为什么能活那么久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1000" y="1295400"/>
            <a:ext cx="8382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381000" y="1581150"/>
            <a:ext cx="6781800" cy="4648200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1790700"/>
            <a:ext cx="632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缺陷引入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被发现的间隔</a:t>
            </a:r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343150"/>
            <a:ext cx="6324600" cy="2819400"/>
          </a:xfrm>
          <a:prstGeom prst="rect">
            <a:avLst/>
          </a:prstGeom>
          <a:ln/>
        </p:spPr>
      </p:pic>
      <p:sp>
        <p:nvSpPr>
          <p:cNvPr id="168" name=""/>
          <p:cNvSpPr/>
          <p:nvPr/>
        </p:nvSpPr>
        <p:spPr>
          <a:xfrm rot="0" flipH="0" flipV="0">
            <a:off x="647700" y="5457825"/>
            <a:ext cx="6324600" cy="561975"/>
          </a:xfrm>
          <a:prstGeom prst="roundRect">
            <a:avLst>
              <a:gd name="adj" fmla="val 678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47700" y="5457825"/>
            <a:ext cx="6324600" cy="561975"/>
          </a:xfrm>
          <a:custGeom>
            <a:pathLst>
              <a:path w="664" h="59">
                <a:moveTo>
                  <a:pt x="4" y="59"/>
                </a:moveTo>
                <a:cubicBezTo>
                  <a:pt x="2" y="59"/>
                  <a:pt x="0" y="57"/>
                  <a:pt x="0" y="5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9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5572125"/>
            <a:ext cx="59817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B03B37"/>
                </a:solidFill>
                <a:latin typeface="Source Han Sans SC"/>
                <a:ea typeface="Source Han Sans SC"/>
              </a:rPr>
              <a:t>共同点　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三个缺陷都不会让系统报错——它们只是安静地给出错误的结果。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7391400" y="1581150"/>
            <a:ext cx="4419600" cy="1447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581900" y="1733550"/>
            <a:ext cx="403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ource Han Sans SC"/>
                <a:ea typeface="Source Han Sans SC"/>
              </a:rPr>
              <a:t>① 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订阅源恒久落后一期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581900" y="2047875"/>
            <a:ext cx="4038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写订阅源早于状态转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DONE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，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本期被自己的过滤条件挡掉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581900" y="2724150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Source Han Sans SC"/>
                <a:ea typeface="Source Han Sans SC"/>
              </a:rPr>
              <a:t>对策：把本期显式纳入本次生成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7391400" y="3181350"/>
            <a:ext cx="4419600" cy="1447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581900" y="3333750"/>
            <a:ext cx="403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ource Han Sans SC"/>
                <a:ea typeface="Source Han Sans SC"/>
              </a:rPr>
              <a:t>② 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配置死键（</a:t>
            </a:r>
            <a:r>
              <a:rPr lang="en-US" sz="1575" b="1">
                <a:solidFill>
                  <a:srgbClr val="0E3F8C"/>
                </a:solidFill>
                <a:latin typeface="Source Han Sans SC"/>
                <a:ea typeface="Source Han Sans SC"/>
              </a:rPr>
              <a:t>6 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天不可见）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581900" y="3648075"/>
            <a:ext cx="4038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未知键被静默丢弃，且默认值恰好等于意图值，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填错与填对毫无差别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581900" y="4324350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Source Han Sans SC"/>
                <a:ea typeface="Source Han Sans SC"/>
              </a:rPr>
              <a:t>对策：参数文档与配置字段双向比对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391400" y="4781550"/>
            <a:ext cx="4419600" cy="1447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581900" y="4933950"/>
            <a:ext cx="4038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ource Han Sans SC"/>
                <a:ea typeface="Source Han Sans SC"/>
              </a:rPr>
              <a:t>③ 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摆设断言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581900" y="5248275"/>
            <a:ext cx="40386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期望值与被测产物同源，等于拿产物跟自己比；</a:t>
            </a:r>
            <a:r>
              <a:rPr lang="zh-CN" sz="1275" b="1">
                <a:solidFill>
                  <a:srgbClr val="1A2230"/>
                </a:solidFill>
                <a:latin typeface="Source Han Sans SC"/>
                <a:ea typeface="Source Han Sans SC"/>
              </a:rPr>
              <a:t>注入缺陷测试照样全绿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581900" y="5924550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FA8"/>
                </a:solidFill>
                <a:latin typeface="Source Han Sans SC"/>
                <a:ea typeface="Source Han Sans SC"/>
              </a:rPr>
              <a:t>对策：</a:t>
            </a:r>
            <a:r>
              <a:rPr lang="en-US" sz="1200">
                <a:solidFill>
                  <a:srgbClr val="1E4FA8"/>
                </a:solidFill>
                <a:latin typeface="Source Han Sans SC"/>
                <a:ea typeface="Source Han Sans SC"/>
              </a:rPr>
              <a:t>35 </a:t>
            </a:r>
            <a:r>
              <a:rPr lang="zh-CN" sz="1200">
                <a:solidFill>
                  <a:srgbClr val="1E4FA8"/>
                </a:solidFill>
                <a:latin typeface="Source Han Sans SC"/>
                <a:ea typeface="Source Han Sans SC"/>
              </a:rPr>
              <a:t>条变异</a:t>
            </a:r>
            <a:r>
              <a:rPr lang="en-US" sz="1200">
                <a:solidFill>
                  <a:srgbClr val="1E4FA8"/>
                </a:solidFill>
                <a:latin typeface="Source Han Sans SC"/>
                <a:ea typeface="Source Han Sans SC"/>
              </a:rPr>
              <a:t> + </a:t>
            </a:r>
            <a:r>
              <a:rPr lang="zh-CN" sz="1200">
                <a:solidFill>
                  <a:srgbClr val="1E4FA8"/>
                </a:solidFill>
                <a:latin typeface="Source Han Sans SC"/>
                <a:ea typeface="Source Han Sans SC"/>
              </a:rPr>
              <a:t>判据自带自证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81000" y="64389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双人对话播客自动生成系统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D14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答辩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268075" y="6419850"/>
            <a:ext cx="542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11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5" name="" descr="&lt;Slide style={{ width: 1280, height: 720, position: 'relative', background: '#0E3F8C', fontFamily: 'Source Han Sans SC, Noto Sans SC, Microsoft YaHei, sans-serif', overflow: 'hidden' }}&gt;&#10;&#10;  &lt;svg width={1280} height={720} viewBox='0 0 1280 720' style={{ position: 'absolute', top: 0, left: 0 }}&gt;&#10;    &lt;rect x='0' y='0' width='1280' height='720' fill='#0E3F8C' /&gt;&#10;    &lt;rect x='0' y='712' width='1280' height='8' fill='#3D7BD9' /&gt;&#10;    &lt;g opacity='0.22' stroke='#7FA8E0' strokeWidth='2' fill='none'&gt;&#10;      &lt;path d='M60 560 L200 560 L200 500 L340 500 L340 620 L480 620 L480 460 L620 460' /&gt;&#10;      &lt;path d='M60 640 L160 640 L160 600 L300 600 L300 680 L440 680 L440 560 L580 560' /&gt;&#10;    &lt;/g&gt;&#10;    &lt;g opacity='0.14' stroke='#7FA8E0' strokeWidth='1.5' fill='none'&gt;&#10;      &lt;circle cx='1080' cy='140' r='70' /&gt;&#10;      &lt;circle cx='1080' cy='140' r='118' /&gt;&#10;      &lt;circle cx='1080' cy='140' r='166' /&gt;&#10;    &lt;/g&gt;&#10;  &lt;/svg&gt;&#10;&#10;  &lt;Box style={{ position: 'absolute', top: 208, left: 88, width: 1104, flexDirection: 'column' }}&gt;&#10;    &lt;Box style={{ flexDirection: 'row', alignItems: 'center', gap: 12, marginBottom: 24 }}&gt;&#10;      &lt;Box style={{ width: 44, height: 3, background: '#3D7BD9' }} /&gt;&#10;      &lt;Text style={{ fontSize: 18, color: '#9FC0EA', letterSpacing: 3 }}&gt;谢谢&lt;/Text&gt;&#10;    &lt;/Box&gt;&#10;&#10;    &lt;Text style={{ fontSize: 68, fontWeight: 'bold', color: '#FFFFFF', lineHeight: 1.18 }}&gt;&#10;      所有指标均可复算&#10;    &lt;/Text&gt;&#10;&#10;    &lt;Text style={{ fontSize: 23, color: '#A9C6EC', marginTop: 20, lineHeight: 1.65, width: 940 }}&gt;&#10;      演示中出现的每一个数字，都对应一个可以重新执行的脚本或一份可以翻开的证据文件。&#10;      需要复现任何一项，我可以在现场把它跑一遍。&#10;    &lt;/Text&gt;&#10;&#10;    &lt;Box style={{ width: 120, height: 2, background: '#3D7BD9', marginTop: 34, marginBottom: 28 }} /&gt;&#10;&#10;    &lt;Box style={{ flexDirection: 'row', gap: 20 }}&gt;&#10;      &lt;Box style={{ background: '#1E4FA8', borderRadius: 6, padding: '16px 26px', flexDirection: 'row', alignItems: 'center', gap: 12 }}&gt;&#10;        &lt;Text style={{ fontSize: 34, fontWeight: 'bold', color: '#FFFFFF' }}&gt;411&lt;/Text&gt;&#10;        &lt;Text style={{ fontSize: 17, color: '#BFD3EE' }}&gt;项回归全绿&lt;/Text&gt;&#10;      &lt;/Box&gt;&#10;      &lt;Box style={{ background: '#1E4FA8', borderRadius: 6, padding: '16px 26px', flexDirection: 'row', alignItems: 'center', gap: 12 }}&gt;&#10;        &lt;Text style={{ fontSize: 34, fontWeight: 'bold', color: '#FFFFFF' }}&gt;35&lt;/Text&gt;&#10;        &lt;Text style={{ fontSize: 17, color: '#BFD3EE' }}&gt;条变异全红&lt;/Text&gt;&#10;      &lt;/Box&gt;&#10;      &lt;Box style={{ background: '#1E4FA8', borderRadius: 6, padding: '16px 26px', flexDirection: 'row', alignItems: 'center', gap: 12 }}&gt;&#10;        &lt;Text style={{ fontSize: 34, fontWeight: 'bold', color: '#FFFFFF' }}&gt;1120 / 1120&lt;/Text&gt;&#10;        &lt;Text style={{ fontSize: 17, color: '#BFD3EE' }}&gt;句一致&lt;/Text&gt;&#10;      &lt;/Box&gt;&#10;      &lt;Box style={{ background: '#1E4FA8', borderRadius: 6, padding: '16px 26px', flexDirection: 'row', alignItems: 'center', gap: 12 }}&gt;&#10;        &lt;Text style={{ fontSize: 34, fontWeight: 'bold', color: '#FFFFFF' }}&gt;22&lt;/Text&gt;&#10;        &lt;Text style={{ fontSize: 17, color: '#BFD3EE' }}&gt;份交付文档&lt;/Text&gt;&#10;      &lt;/Box&gt;&#10;    &lt;/Box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88" name=""/>
          <p:cNvSpPr/>
          <p:nvPr/>
        </p:nvSpPr>
        <p:spPr>
          <a:xfrm rot="0" flipH="0" flipV="0">
            <a:off x="838200" y="2076450"/>
            <a:ext cx="4191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371600" y="1981200"/>
            <a:ext cx="400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9FC0EA"/>
                </a:solidFill>
                <a:latin typeface="Source Han Sans SC"/>
                <a:ea typeface="Source Han Sans SC"/>
              </a:rPr>
              <a:t>谢谢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2419350"/>
            <a:ext cx="10515600" cy="9239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100" b="1">
                <a:solidFill>
                  <a:srgbClr val="FFFFFF"/>
                </a:solidFill>
                <a:latin typeface="Source Han Sans SC"/>
                <a:ea typeface="Source Han Sans SC"/>
              </a:rPr>
              <a:t>所有指标均可复算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38200" y="3533775"/>
            <a:ext cx="89535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725">
                <a:solidFill>
                  <a:srgbClr val="A9C6EC"/>
                </a:solidFill>
                <a:latin typeface="Source Han Sans SC"/>
                <a:ea typeface="Source Han Sans SC"/>
              </a:rPr>
              <a:t>演示中出现的每一个数字，都对应一个可以重新执行的脚本或一份可以翻开的证据文件。</a:t>
            </a:r>
            <a:r>
              <a:rPr lang="en-US" sz="1725">
                <a:solidFill>
                  <a:srgbClr val="A9C6EC"/>
                </a:solidFill>
                <a:latin typeface="Source Han Sans SC"/>
                <a:ea typeface="Source Han Sans SC"/>
              </a:rPr>
              <a:t> </a:t>
            </a:r>
            <a:r>
              <a:rPr lang="zh-CN" sz="1725">
                <a:solidFill>
                  <a:srgbClr val="A9C6EC"/>
                </a:solidFill>
                <a:latin typeface="Source Han Sans SC"/>
                <a:ea typeface="Source Han Sans SC"/>
              </a:rPr>
              <a:t>需要复现任何一项，我可以在现场把它跑一遍。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838200" y="4733925"/>
            <a:ext cx="1143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838200" y="5019675"/>
            <a:ext cx="2019300" cy="695325"/>
          </a:xfrm>
          <a:prstGeom prst="roundRect">
            <a:avLst>
              <a:gd name="adj" fmla="val 821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85850" y="5172075"/>
            <a:ext cx="600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Source Han Sans SC"/>
                <a:ea typeface="Source Han Sans SC"/>
              </a:rPr>
              <a:t>411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800225" y="5267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项回归全绿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048000" y="5019675"/>
            <a:ext cx="1819275" cy="695325"/>
          </a:xfrm>
          <a:prstGeom prst="roundRect">
            <a:avLst>
              <a:gd name="adj" fmla="val 821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295650" y="5172075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Source Han Sans SC"/>
                <a:ea typeface="Source Han Sans SC"/>
              </a:rPr>
              <a:t>35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810000" y="5267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条变异全红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5057775" y="5019675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305425" y="5172075"/>
            <a:ext cx="1952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Source Han Sans SC"/>
                <a:ea typeface="Source Han Sans SC"/>
              </a:rPr>
              <a:t>1120 / 1120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372350" y="526732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句一致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296275" y="5019675"/>
            <a:ext cx="1819275" cy="695325"/>
          </a:xfrm>
          <a:prstGeom prst="roundRect">
            <a:avLst>
              <a:gd name="adj" fmla="val 821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543925" y="5172075"/>
            <a:ext cx="40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Source Han Sans SC"/>
                <a:ea typeface="Source Han Sans SC"/>
              </a:rPr>
              <a:t>22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058275" y="52673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份交付文档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2026-09-20T11:18:22Z</dcterms:created>
  <dcterms:modified xsi:type="dcterms:W3CDTF">2026-09-20T11:18:22Z</dcterms:modified>
</cp:coreProperties>
</file>