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各位老师好，我是数学学院的张佳楠。我这次做的东西，一句话说清楚：你给它一个主题，它给你一期能直接听的播客。不是写出一段文字，是真的有人声、有片头片尾、能塞进播客客户端订阅的那种成片。</a:t>
            </a:r>
          </a:p>
          <a:p>
            <a:endParaRPr lang="zh-CN"/>
          </a:p>
          <a:p>
            <a:r>
              <a:rPr lang="zh-CN" dirty="0"/>
              <a:t>下面这三张图就是它跑起来的样子。左边是填参数的地方，中间是一期做完之后的任务详情页，右边是它自动生成的订阅源。都是真的，不是效果图。</a:t>
            </a:r>
          </a:p>
          <a:p>
            <a:endParaRPr lang="zh-CN"/>
          </a:p>
          <a:p>
            <a:r>
              <a:rPr lang="zh-CN" dirty="0"/>
              <a:t>接下来我用十分钟讲三件事：做出来了什么、它凭什么能跑通、以及做到什么程度、还差什么。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时间不多，我就讲三件事。</a:t>
            </a:r>
          </a:p>
          <a:p>
            <a:endParaRPr lang="zh-CN"/>
          </a:p>
          <a:p>
            <a:r>
              <a:rPr lang="zh-CN" dirty="0"/>
              <a:t>第一件是它做出来长什么样——真的跑出来的成片，真的界面。第二件是它凭什么能跑通，重点是显存只有 4.32 GB，这件事我是怎么绕过去的。第三件是做到什么程度、还差什么，包括我踩过的六个坑，还有到现在没做完的四件事。</a:t>
            </a:r>
          </a:p>
          <a:p>
            <a:endParaRPr lang="zh-CN"/>
          </a:p>
          <a:p>
            <a:r>
              <a:rPr lang="zh-CN" dirty="0"/>
              <a:t>每一件我都会给能当场复算的数字。讲得不对的地方，欢迎老师直接打断我。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先说为什么做这个，再说做给谁用。</a:t>
            </a:r>
          </a:p>
          <a:p>
            <a:endParaRPr lang="zh-CN"/>
          </a:p>
          <a:p>
            <a:r>
              <a:rPr lang="zh-CN" dirty="0"/>
              <a:t>播客这两年是涨的，知识科普、行业解读这类双人对话节目尤其受欢迎。但做一档这样的节目，链条很长：先选题策划，再写两个人的对话脚本，然后两个主播分别录，最后还得剪辑、拼接、处理响度。一期节目从选题到成片，快也要好几天。个人做内容的人，还有学校里想批量做教学音频的老师，很难持续产出——不是没想法，是工期压不下来。</a:t>
            </a:r>
          </a:p>
          <a:p>
            <a:endParaRPr lang="zh-CN"/>
          </a:p>
          <a:p>
            <a:r>
              <a:rPr lang="zh-CN" dirty="0"/>
              <a:t>那为什么是现在能做？因为两条技术刚好都熟了。一条是语音合成：阿里开源的 CosyVoice 支持零样本音色克隆，只要几秒参考音频就能复刻音色，中文自然度够用，而且能完全放在本地跑，不依赖云服务。另一条是内容生成：大模型能按主题、时长、风格，直接把双人对话脚本写出来。</a:t>
            </a:r>
          </a:p>
          <a:p>
            <a:endParaRPr lang="zh-CN"/>
          </a:p>
          <a:p>
            <a:r>
              <a:rPr lang="zh-CN" dirty="0"/>
              <a:t>把这两条接起来，「输入一个主题、输出一期成片」这件事就成立了。再套一个网页壳子，没有录音棚、不会剪辑的人也能用。</a:t>
            </a:r>
          </a:p>
          <a:p>
            <a:endParaRPr lang="zh-CN"/>
          </a:p>
          <a:p>
            <a:r>
              <a:rPr lang="zh-CN" dirty="0"/>
              <a:t>所以定位一句话：面向个人创作者和教学场景的、从「输入主题」到「成片加 RSS 订阅」闭环的网页应用。</a:t>
            </a:r>
          </a:p>
          <a:p>
            <a:endParaRPr lang="zh-CN"/>
          </a:p>
          <a:p>
            <a:r>
              <a:rPr lang="zh-CN" dirty="0"/>
              <a:t>目标用户四类：个人内容创作者是主力，要的是「快」；教育机构和老师要的是「便宜且能批量复用」；视障和通勤用户只听不看，他们不碰网页，走 RSS 在播客客户端听——所以这个系统的听众出口是订阅源，不是界面；还有一类就是答辩评审，按验收清单逐项验。</a:t>
            </a:r>
          </a:p>
          <a:p>
            <a:endParaRPr lang="zh-CN"/>
          </a:p>
          <a:p>
            <a:r>
              <a:rPr lang="zh-CN" dirty="0"/>
              <a:t>功能上切成六个模块：环境部署、对话脚本生成、语音合成、音频后期与封装、网页界面、用户与历史记录。这六个模块就是后面每一页在讲的东西。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先说第一件事：东西做出来长什么样。</a:t>
            </a:r>
          </a:p>
          <a:p>
            <a:endParaRPr lang="zh-CN"/>
          </a:p>
          <a:p>
            <a:r>
              <a:rPr lang="zh-CN" dirty="0"/>
              <a:t>我拆成三块讲。一是输入——你只要填四样东西：主题、想听多久、语速、还有语言风格。二是界面——一共六个页面，从登录注册到任务详情、再到订阅源，全都能跑。三是产出——我留了三期演示成片，加起来十三分五十八秒。这些不是剪出来的，是系统自己一步一步跑出来的。</a:t>
            </a:r>
          </a:p>
          <a:p>
            <a:endParaRPr lang="zh-CN"/>
          </a:p>
          <a:p>
            <a:r>
              <a:rPr lang="zh-CN" dirty="0"/>
              <a:t>这三块都能现场看，我先把它们摆出来，再讲里面的道理。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这一页讲清楚它到底怎么来的。</a:t>
            </a:r>
          </a:p>
          <a:p>
            <a:endParaRPr lang="zh-CN"/>
          </a:p>
          <a:p>
            <a:r>
              <a:rPr lang="zh-CN" dirty="0"/>
              <a:t>左边是全部链路。你要填的只有四个框：主题、想听多久、语速、语言风格。填完之后，DeepSeek 先写一版双人对话脚本，CosyVoice 用你自己录的两段声音把脚本念出来，FFmpeg 做后期和响度归一，最后导出 mp3、写一条订阅源。你拿到的就是一个能订阅的播客频道。</a:t>
            </a:r>
          </a:p>
          <a:p>
            <a:endParaRPr lang="zh-CN"/>
          </a:p>
          <a:p>
            <a:r>
              <a:rPr lang="zh-CN" dirty="0"/>
              <a:t>右边是这三期演示的台账：三百零二秒、二百五十七秒、二百七十九秒，加起来十三分五十八秒、十二点七八兆、一百七十九行对话。这些数字是我当场从数据库里查出来的。台账本身只记「哪三期」，具体数字一律现测——写死在清单里的数字，迟早会和实物对不上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这一页是界面，先说设计，再看长什么样。</a:t>
            </a:r>
          </a:p>
          <a:p>
            <a:endParaRPr lang="zh-CN"/>
          </a:p>
          <a:p>
            <a:r>
              <a:rPr lang="zh-CN" dirty="0"/>
              <a:t>设计上第一条原则，也是最重要的一条：这不是一个「用得越久越好」的产品界面。它的成功标准是用户尽快离开——提交完就去做别的事，回头直接拿走成片。所以整个界面的重心不是让人沉浸，是让人一眼看清状态。</a:t>
            </a:r>
          </a:p>
          <a:p>
            <a:endParaRPr lang="zh-CN"/>
          </a:p>
          <a:p>
            <a:r>
              <a:rPr lang="zh-CN" dirty="0"/>
              <a:t>第二条，状态必须可判，不能靠猜。每个任务都有状态标签、阶段文案和进度条，出错就直接把错误信息显示出来。</a:t>
            </a:r>
          </a:p>
          <a:p>
            <a:endParaRPr lang="zh-CN"/>
          </a:p>
          <a:p>
            <a:r>
              <a:rPr lang="zh-CN" dirty="0"/>
              <a:t>第三条比较细：没有信息和信息是零，必须区分开。比如「队列位置」如果是空，就不显示那一栏，而不是显示一个零——这两件事对用户的意思完全不同。</a:t>
            </a:r>
          </a:p>
          <a:p>
            <a:endParaRPr lang="zh-CN"/>
          </a:p>
          <a:p>
            <a:r>
              <a:rPr lang="zh-CN" dirty="0"/>
              <a:t>第四条，破坏性的操作，取消和删除，都要二次确认。</a:t>
            </a:r>
          </a:p>
          <a:p>
            <a:endParaRPr lang="zh-CN"/>
          </a:p>
          <a:p>
            <a:r>
              <a:rPr lang="zh-CN" dirty="0"/>
              <a:t>技术上，组件用 Ant Design，布局用 Tailwind，分工很清楚：Tailwind 只管间距、栅格、背景色这些工具类，组件长什么样交给 AntD，避免两套设计语言打架。主色沿用 AntD 默认蓝，没做主题定制——这是有意的取舍，工具型界面、单人开发，不做设计系统，代价是将来要做视觉统一得回头补一层令牌。</a:t>
            </a:r>
          </a:p>
          <a:p>
            <a:endParaRPr lang="zh-CN"/>
          </a:p>
          <a:p>
            <a:r>
              <a:rPr lang="zh-CN" dirty="0"/>
              <a:t>右边这些图都是真机截图，一千四百四乘九百，无头浏览器截的，脚本能重跑。左上是任务详情页，也是信息密度最高的一页：进度、播放器、下载、逐句脚本全在一屏。脚本回看按 A、B 交替标色，你听到的两把声音就是这两个人。这一屏同时是个调试工具——哪句念错了、卡在第几段，看一眼就知道。</a:t>
            </a:r>
          </a:p>
          <a:p>
            <a:endParaRPr lang="zh-CN"/>
          </a:p>
          <a:p>
            <a:r>
              <a:rPr lang="zh-CN" dirty="0"/>
              <a:t>下面五张是其余页面：新建节目、历史列表、订阅源、登录、注册。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第二件事：它凭什么能跑通。</a:t>
            </a:r>
          </a:p>
          <a:p>
            <a:endParaRPr lang="zh-CN"/>
          </a:p>
          <a:p>
            <a:r>
              <a:rPr lang="zh-CN" dirty="0"/>
              <a:t>我说三个最要紧的地方。第一个，整条链路只有五个阶段，能不能从这一步跳到那一步，不是各处代码自己判断的，只有一张状态转移表说了算，非法跳步直接拒绝。第二个，一共九个状态、两条回边；服务器崩了重启之后，它会自己扫一遍，该接着跑的接着跑，该判失败的判失败，不会留下一个永远不动的任务。第三个，这块显卡净可用只有 4.32 GB，我靠「一次只干一件事」，加上「干过的句子不重干」，把峰值压到了三千五百五十一兆。</a:t>
            </a:r>
          </a:p>
          <a:p>
            <a:endParaRPr lang="zh-CN"/>
          </a:p>
          <a:p>
            <a:r>
              <a:rPr lang="zh-CN" dirty="0"/>
              <a:t>讲白了，这三条都是为了同一件事：让它在没有余量的机器上，还能自己把活干完。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上一页讲了流水线有哪五段，这一页讲一次真实的提交，从头到尾发生了什么。</a:t>
            </a:r>
          </a:p>
          <a:p>
            <a:endParaRPr lang="zh-CN"/>
          </a:p>
          <a:p>
            <a:r>
              <a:rPr lang="zh-CN" dirty="0"/>
              <a:t>用户点「新建节目」，填主题、时长、语速、风格，这四样提交上去。后端先做两件事：校验参数，然后在这个用户自己的账号下建一条任务，状态是「待处理」，同时把它丢进只有一个工作线程的队列。注意是排队，不是并行——这块卡同一时间只能跑一路推理。</a:t>
            </a:r>
          </a:p>
          <a:p>
            <a:endParaRPr lang="zh-CN"/>
          </a:p>
          <a:p>
            <a:r>
              <a:rPr lang="zh-CN" dirty="0"/>
              <a:t>队列轮到它了，阶段一开始，状态变成脚本生成中。脚本服务把主题和风格套进提示词模板，调 DeepSeek，拿回一段双人对话。拿回来的东西要先过一遍结构化校验和敏感词，不合格就重试。合格了逐行落库，状态变成「脚本就绪」，等人确认。</a:t>
            </a:r>
          </a:p>
          <a:p>
            <a:endParaRPr lang="zh-CN"/>
          </a:p>
          <a:p>
            <a:r>
              <a:rPr lang="zh-CN" dirty="0"/>
              <a:t>这时候用户可以看一眼，改两句，也可以直接放行。确认之后进阶段二，状态切成合成中。文本先做规范化——多音字、数字、英文缩写都处理掉，再按标点切成一句一句。然后每句单独合成，用说话人切换音色，A 用女声、B 用男声。这里最关键的一条：算完一句立刻存盘，缓存键是八个字段拼出来的哈希。所以中途崩了、或者要重跑，已经算过的句子不会重算。</a:t>
            </a:r>
          </a:p>
          <a:p>
            <a:endParaRPr lang="zh-CN"/>
          </a:p>
          <a:p>
            <a:r>
              <a:rPr lang="zh-CN" dirty="0"/>
              <a:t>全部句子合成完，进阶段三，后期。用 FFmpeg 按标点插停顿、把两个音色拼成一条、做响度归一、再混上片头和片尾。</a:t>
            </a:r>
          </a:p>
          <a:p>
            <a:endParaRPr lang="zh-CN"/>
          </a:p>
          <a:p>
            <a:r>
              <a:rPr lang="zh-CN" dirty="0"/>
              <a:t>最后阶段四打包：导出 mp3、写 RSS 的 XML、更新订阅地址。状态置为完成，历史列表里能看到、能重新下载。</a:t>
            </a:r>
          </a:p>
          <a:p>
            <a:endParaRPr lang="zh-CN"/>
          </a:p>
          <a:p>
            <a:r>
              <a:rPr lang="zh-CN" dirty="0"/>
              <a:t>整条链路上任何一个阶段失败，状态都回落到失败并带上原因，不会卡在半路。这就是为什么前面强调那张状态转移表——每一步能去哪、不能去哪，只有它说了算。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这张图是整条链路：写脚本、等你确认、合成、后期、打包，五段接力。</a:t>
            </a:r>
          </a:p>
          <a:p>
            <a:endParaRPr lang="zh-CN"/>
          </a:p>
          <a:p>
            <a:r>
              <a:rPr lang="zh-CN" dirty="0"/>
              <a:t>我想重点说的是图里没画出来的那个东西——状态机。一开始我会在各个函数里自己判断「现在到哪一步了、下一步能不能走」，后来发现这样一定会漏。现在只有一个地方定义状态转移，别的地方想跳步，直接拒绝。</a:t>
            </a:r>
          </a:p>
          <a:p>
            <a:endParaRPr lang="zh-CN"/>
          </a:p>
          <a:p>
            <a:r>
              <a:rPr lang="zh-CN" dirty="0"/>
              <a:t>这么改不是为了代码好看，是因为能救命。服务器一崩，卡在合成阶段的任务原本会永远停在那儿不动；现在启动的时候会扫一遍，凡是没走到终态的，要么拉回去重跑，要么明确判失败。</a:t>
            </a:r>
          </a:p>
          <a:p>
            <a:endParaRPr lang="zh-CN"/>
          </a:p>
          <a:p>
            <a:r>
              <a:rPr lang="zh-CN" dirty="0"/>
              <a:t>这一条我是踩了坑才补上的。大概在第十二天，我连续两次意外断掉服务，才发现有一批任务再也不会动了。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这一页讲我认为最难的一件事：机器不够用。</a:t>
            </a:r>
          </a:p>
          <a:p>
            <a:endParaRPr lang="zh-CN"/>
          </a:p>
          <a:p>
            <a:r>
              <a:rPr lang="zh-CN" dirty="0"/>
              <a:t>这块卡标称 6 G，系统自己先占掉 1 G，净可用只剩 4.32 G，也就是四千四百二十四兆。任务书里建议 8 G 起步，我差了将近一半。这个差值不是靠调参抹平的，是靠三个很笨的办法。</a:t>
            </a:r>
          </a:p>
          <a:p>
            <a:endParaRPr lang="zh-CN"/>
          </a:p>
          <a:p>
            <a:r>
              <a:rPr lang="zh-CN" dirty="0"/>
              <a:t>第一，一次只干一件事。并发设成 1，再用一个显存互斥锁保证第二个任务进来是排队，不是两个一起抢卡。第二，干过的句子不重干。每句合成完就存起来，缓存键是八个字段拼出来的哈希——音色、参考音频的指纹、模型版本、随机种子、文本本身都在里面。第三，能搬走的搬走，把编码器放到 CPU 上跑，显存留给真正的推理。</a:t>
            </a:r>
          </a:p>
          <a:p>
            <a:endParaRPr lang="zh-CN"/>
          </a:p>
          <a:p>
            <a:r>
              <a:rPr lang="zh-CN" dirty="0"/>
              <a:t>结果是峰值 allocated 三千五百五十一兆，门槛三千六，三次采样都没超。但我要如实说一个例外：有一次文本生成没收敛，那一次解码把 reserved 顶到了四千二百一十二兆，越过四千二的门槛十二兆。显存这一侧，我没有完全闭环。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这一页讲这十四天是怎么过来的。</a:t>
            </a:r>
          </a:p>
          <a:p>
            <a:endParaRPr lang="zh-CN"/>
          </a:p>
          <a:p>
            <a:r>
              <a:rPr lang="zh-CN" dirty="0"/>
              <a:t>我把它分成四段，而且每一段的收尾条件不是「功能写完了」，是「有没有一个能当场重跑一遍的东西」。</a:t>
            </a:r>
          </a:p>
          <a:p>
            <a:endParaRPr lang="zh-CN"/>
          </a:p>
          <a:p>
            <a:r>
              <a:rPr lang="zh-CN" dirty="0"/>
              <a:t>第一段 D0 到 D2，环境和模型定稿。这里有个背景：任务书建议显存 8 GB 起步，我这张卡净可用只有 4.32 GB。所以我第一件事不是写业务代码，是把 CosyVoice 跑起来、把显存和耗时的基线数字老老实实记下来——后面所有关于性能的话，都得拿这两天记的数说话。</a:t>
            </a:r>
          </a:p>
          <a:p>
            <a:endParaRPr lang="zh-CN"/>
          </a:p>
          <a:p>
            <a:r>
              <a:rPr lang="zh-CN" dirty="0"/>
              <a:t>第二段 D3 到 D6，链路打通。这一段结束的时候，我是用命令行把五段流水线从头到尾走完，跑出了第一期能听的 mp3。注意关键词是「能听」——测试用的夹具音频不算数。</a:t>
            </a:r>
          </a:p>
          <a:p>
            <a:endParaRPr lang="zh-CN"/>
          </a:p>
          <a:p>
            <a:r>
              <a:rPr lang="zh-CN" dirty="0"/>
              <a:t>第三段 D7 到 D11 最慢，前端和评测一起做。这一段收尾时，网页上能提交任务、能播放、能订阅，指标也开始有机器读数了，不再只有「我觉得行」。逐句一致率那个 1120 比 1120 的全量普查，就是这一段跑出来的。</a:t>
            </a:r>
          </a:p>
          <a:p>
            <a:endParaRPr lang="zh-CN"/>
          </a:p>
          <a:p>
            <a:r>
              <a:rPr lang="zh-CN" dirty="0"/>
              <a:t>最后三天 D12 到 D14 是加固和交付：把断电自愈补上，把六个缺陷一个个挖出来，把文档和产物逐文件对账。</a:t>
            </a:r>
          </a:p>
          <a:p>
            <a:endParaRPr lang="zh-CN"/>
          </a:p>
          <a:p>
            <a:r>
              <a:rPr lang="zh-CN" dirty="0"/>
              <a:t>所以分段的依据不是日历。那个能当场重跑一遍的东西没出现，这一段就不算完。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这一页把整个系统拆开给你看。但我想先说一句：这个架构不是自由设计出来的，是被几条实测出来的约束钉死的。</a:t>
            </a:r>
          </a:p>
          <a:p>
            <a:endParaRPr lang="zh-CN"/>
          </a:p>
          <a:p>
            <a:r>
              <a:rPr lang="zh-CN" dirty="0"/>
              <a:t>最硬的一条：这块卡标称六 G，被系统和桌面占完之后，净可用只有四点三二 G。任务书建议八 G 起步，差了将近一半。这一条直接决定了后面所有选择——模型必须常驻、不能反复加载；并发只能是一路；能搬到 CPU 上的都搬走。任何「优雅但违反这条」的方案，直接不成立。</a:t>
            </a:r>
          </a:p>
          <a:p>
            <a:endParaRPr lang="zh-CN"/>
          </a:p>
          <a:p>
            <a:r>
              <a:rPr lang="zh-CN" dirty="0"/>
              <a:t>第二条是显存记账要双口径，allocated 和 reserved 分开算，因为换缓冲区的时候吃的是 reserved。</a:t>
            </a:r>
          </a:p>
          <a:p>
            <a:endParaRPr lang="zh-CN"/>
          </a:p>
          <a:p>
            <a:r>
              <a:rPr lang="zh-CN" dirty="0"/>
              <a:t>第三，上游 CosyVoice 的依赖链在 Python 三点一一以上没有可用的安装包，所以只能锁三点十。这跟任务书写的不一样，我在文档里做了偏离声明，不藏。</a:t>
            </a:r>
          </a:p>
          <a:p>
            <a:endParaRPr lang="zh-CN"/>
          </a:p>
          <a:p>
            <a:r>
              <a:rPr lang="zh-CN" dirty="0"/>
              <a:t>第四，模型权重九点一七 G，必须外置，不能进代码库，所以部署链路里必须自带「怎么拿到权重、怎么校验」。</a:t>
            </a:r>
          </a:p>
          <a:p>
            <a:endParaRPr lang="zh-CN"/>
          </a:p>
          <a:p>
            <a:r>
              <a:rPr lang="zh-CN" dirty="0"/>
              <a:t>架构本身分四层。最上面是表现层，浏览器的单页应用，React 十八加 Vite，组件用 Ant Design，布局用 Tailwind。第二层是接口层，FastAPI，四组路由：认证、任务、订阅源、音色。第三层是领域服务层，七个服务，脚本生成、文本规范化、语音合成、后期、RSS、片头片尾、任务编排。最底下是基础设施层：SQLite 加 SQLAlchemy、文件系统、配置、安全。</a:t>
            </a:r>
          </a:p>
          <a:p>
            <a:endParaRPr lang="zh-CN"/>
          </a:p>
          <a:p>
            <a:r>
              <a:rPr lang="zh-CN" dirty="0"/>
              <a:t>跟这三层并列的还有三个外部依赖：DeepSeek 走网络、CosyVoice 权重在本地、FFmpeg 在后期链路里。</a:t>
            </a:r>
          </a:p>
          <a:p>
            <a:endParaRPr lang="zh-CN"/>
          </a:p>
          <a:p>
            <a:r>
              <a:rPr lang="zh-CN" dirty="0"/>
              <a:t>分层不是为了好看，判据是「能不能独立替换或独立测试」。所以有三条不可跨越：接口层不碰推理，只做校验和投递；领域层不直接读环境变量，参数一律走统一的配置模块；表现层不猜后端状态，可观测性判断收在一个共用文件里，两个页面共用一套口径。</a:t>
            </a:r>
          </a:p>
          <a:p>
            <a:endParaRPr lang="zh-CN"/>
          </a:p>
          <a:p>
            <a:r>
              <a:rPr lang="zh-CN" dirty="0"/>
              <a:t>最后一列是代价。每条决策我都写了它放弃了什么——比如不引入 Celery，代价就是队列随进程重启而丢，所以必须做崩溃恢复扫描。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第三件事：做到什么程度，还差什么。</a:t>
            </a:r>
          </a:p>
          <a:p>
            <a:endParaRPr lang="zh-CN"/>
          </a:p>
          <a:p>
            <a:r>
              <a:rPr lang="zh-CN" dirty="0"/>
              <a:t>我把两件事放进同一章，因为它们其实是一回事的两面——一个系统可信不可信，不在于它说自己做到了多少，而在于它对自己没做到的部分说不说得清楚。</a:t>
            </a:r>
          </a:p>
          <a:p>
            <a:endParaRPr lang="zh-CN"/>
          </a:p>
          <a:p>
            <a:r>
              <a:rPr lang="zh-CN" dirty="0"/>
              <a:t>指标那一页，我会把每一项的证据级别标出来：哪几项是机器算的、能当场复跑，哪一项是人听的。缺陷那一页我会讲六个我自己踩的坑，重点不是「我修好了」，而是「它为什么能活那么久没被发现」。最后是四件到今天还没做完的事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这一页是我最想讲清楚的一页。</a:t>
            </a:r>
          </a:p>
          <a:p>
            <a:endParaRPr lang="zh-CN"/>
          </a:p>
          <a:p>
            <a:r>
              <a:rPr lang="zh-CN" dirty="0"/>
              <a:t>五项指标，我一项一项说，并且每一项都标清楚证据是什么。第一项，结构可用率，十二条测试主题全部结构合规，十二比十二。第二项，逐句一致率，一千一百二十比一千一百二十，百分之百——这是把库里三十六期成片全部离线普查一遍得出的，不触发合成、不占显卡，脚本可以随时重跑。第四项，一千字脚本的端到端耗时，稳态口径是五点四到六点二分钟，指标是十分钟，有余量。第五项，峰值显存，两条口径都没过线。</a:t>
            </a:r>
          </a:p>
          <a:p>
            <a:endParaRPr lang="zh-CN"/>
          </a:p>
          <a:p>
            <a:r>
              <a:rPr lang="zh-CN" dirty="0"/>
              <a:t>第三项要单独说。MOS 是人听的，我找了三位朋友听完，反馈都是「都没问题」。但我没有让他们填评分表，所以这一项我给不出均分。有的汇报会在这里写一个四点几分出来——那个数我没法复算，我不写。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这一页是六个真实的缺陷，我挑两个说。</a:t>
            </a:r>
          </a:p>
          <a:p>
            <a:endParaRPr lang="zh-CN"/>
          </a:p>
          <a:p>
            <a:r>
              <a:rPr lang="zh-CN" dirty="0"/>
              <a:t>第一个，vite 的代理配置我写成了前缀匹配，结果前端的页面路由 /feed 被代理规则吃掉了，打开那个页面就是空的。为什么没早点发现？因为代理转发和页面路由本来是两个不相干的东西，而我的测试只访问了首页。</a:t>
            </a:r>
          </a:p>
          <a:p>
            <a:endParaRPr lang="zh-CN"/>
          </a:p>
          <a:p>
            <a:r>
              <a:rPr lang="zh-CN" dirty="0"/>
              <a:t>第五个更有意思。报告里我写「MOS 包是六段抽样」，但实际交付的包是由清单里十二个条目拼起来的。结论没错，但规格描述和产物对不上。这不是代码问题，是文档漂移——我改了产物，没回头改描述产物的那句话。</a:t>
            </a:r>
          </a:p>
          <a:p>
            <a:endParaRPr lang="zh-CN"/>
          </a:p>
          <a:p>
            <a:r>
              <a:rPr lang="zh-CN" dirty="0"/>
              <a:t>六个缺陷有一个共同点：它们全都活过了当时的回归和门禁。失败不发声，就不会有人去找它。所以对策不是「更仔细地看」，而是让失败必然出声——现在有三十五条变异测试，把代码故意改坏，看测试会不会红；判据本身也自带一个自检开关。</a:t>
            </a:r>
          </a:p>
          <a:p>
            <a:endParaRPr lang="zh-CN"/>
          </a:p>
          <a:p>
            <a:r>
              <a:rPr lang="zh-CN" dirty="0"/>
              <a:t>最下面四件事，是我到今天还没做完的。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讲完事，最后说四条我个人的体会。</a:t>
            </a:r>
          </a:p>
          <a:p>
            <a:endParaRPr lang="zh-CN"/>
          </a:p>
          <a:p>
            <a:r>
              <a:rPr lang="zh-CN" dirty="0"/>
              <a:t>第一条，也是最贵的一条——门禁绿不等于东西是对的。我修的六个缺陷，全都活过了当时的回归和门禁。它们不是被测出来的，是我后来人肉按文档真用一遍才发现的。所以判据不能只看数量：要让它自带一个自检开关，代码里放一个已知的坏样本，看它会不会红；再拿三十五个变异，把代码故意改坏，看测试认不认。一个从来不会失败的测试，等于没有测试。</a:t>
            </a:r>
          </a:p>
          <a:p>
            <a:endParaRPr lang="zh-CN"/>
          </a:p>
          <a:p>
            <a:r>
              <a:rPr lang="zh-CN" dirty="0"/>
              <a:t>第二条关于文档。这个项目里最集中的一类缺陷，不是代码写错，是我改了产物，却没有回头改那句描述产物的话。报告里写「六段抽样」，实物是十二个条目拼的；脚本改成绑本机了，手册还写着绑全部网卡。结论都对，就是对不上。这次做 PPT 又踩了一次同样的坑——打包脚本的说明模板没跟着改。同一个错犯三次，说明它不是疏忽，是没有机制。</a:t>
            </a:r>
          </a:p>
          <a:p>
            <a:endParaRPr lang="zh-CN"/>
          </a:p>
          <a:p>
            <a:r>
              <a:rPr lang="zh-CN" dirty="0"/>
              <a:t>第三条，资源不够的时候怎么选。任务书建议八 GB 显存，我这块卡净可用只有四点三二 GB。不是靠调参抹平的，是靠两条纪律换来的：一次只干一件事，第二个人来了就排队；干过的句子不重干，缓存键拿八个字段拼出来。剩下的缺口我没有假装没有——撞顶那一次显存确实超了门槛，我在答辩页上如实标了没闭环。</a:t>
            </a:r>
          </a:p>
          <a:p>
            <a:endParaRPr lang="zh-CN"/>
          </a:p>
          <a:p>
            <a:r>
              <a:rPr lang="zh-CN" dirty="0"/>
              <a:t>最后一条最简单也最难：不会写的就不写。语音质量这一项，我只找了三位真人听，他们都说没问题，但我没有评分表，所以我不给均分。没做完的四件事单列一页，不塞脚注。答辩这件事，评委想听的大概不是「我做得多好」，而是「我知不知道自己差在哪」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我的汇报到这里。</a:t>
            </a:r>
          </a:p>
          <a:p>
            <a:endParaRPr lang="zh-CN"/>
          </a:p>
          <a:p>
            <a:r>
              <a:rPr lang="zh-CN" dirty="0"/>
              <a:t>最后说一句实在的：这份 PPT 里出现的每一个数字，都能在这台机器上当场复算——成片在，脚本在，交付包也在。哪一步我讲得不够清楚，或者老师想看哪一页背后的东西，现在就可以说，我直接跑给各位看。</a:t>
            </a:r>
          </a:p>
          <a:p>
            <a:endParaRPr lang="zh-CN"/>
          </a:p>
          <a:p>
            <a:r>
              <a:rPr lang="zh-CN" dirty="0"/>
              <a:t>谢谢各位老师。</a:t>
            </a:r>
          </a:p>
        </p:txBody>
      </p:sp>
      <p:sp>
        <p:nvSpPr>
          <p:cNvPr id="3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3" Type="http://schemas.openxmlformats.org/officeDocument/2006/relationships/image" Target="media/image3.png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1.png" /><Relationship Id="rId5" Type="http://schemas.openxmlformats.org/officeDocument/2006/relationships/image" Target="media/image5.png" /><Relationship Id="rId3" Type="http://schemas.openxmlformats.org/officeDocument/2006/relationships/image" Target="media/image4.png" /><Relationship Id="rId4" Type="http://schemas.openxmlformats.org/officeDocument/2006/relationships/image" Target="media/image3.png" /><Relationship Id="rId6" Type="http://schemas.openxmlformats.org/officeDocument/2006/relationships/image" Target="media/image6.png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padding: '36px 72px 32px 72px', flexDirection: 'column', justifyContent: 'space-between', fontFamily: '&quot;Source Han Sans SC&quot;,&quot;Noto Sans SC&quot;,&quot;PingFang SC&quot;,&quot;Microsoft YaHei&quot;,sans-serif' }} notes={`各位老师好，我是数学学院的张佳楠。我这次做的东西，一句话说清楚：你给它一个主题，它给你一期能直接听的播客。不是写出一段文字，是真的有人声、有片头片尾、能塞进播客客户端订阅的那种成片。&#10;&#10;下面这三张图就是它跑起来的样子。左边是填参数的地方，中间是一期做完之后的任务详情页，右边是它自动生成的订阅源。都是真的，不是效果图。&#10;&#10;接下来我用十分钟讲三件事：做出来了什么、它凭什么能跑通、以及做到什么程度、还差什么。`}&gt;&#10;&#10;    {/* 顶部署名行 */}&#10;    &lt;Box style={{ flexDirection: 'row', justifyContent: 'space-between', alignItems: 'center' }}&gt;&#10;        &lt;Text style={{ fontSize: 13, color: '#6E7480', fontFamily: '&quot;JetBrains Mono&quot;,&quot;Cascadia Mono&quot;,Consolas,monospace', letterSpacing: '1px' }}&gt;&#10;            嘉应学院数学学院 · 张佳楠&#10;        &lt;/Text&gt;&#10;        &lt;Text style={{ fontSize: 13, color: '#6E7480', fontFamily: '&quot;JetBrains Mono&quot;,&quot;Cascadia Mono&quot;,Consolas,monospace', letterSpacing: '1px' }}&gt;&#10;            项目答辩 · 2026 年 9 月&#10;        &lt;/Text&gt;&#10;    &lt;/Box&gt;&#10;&#10;    {/* 标题块 */}&#10;    &lt;Box style={{ flexDirection: 'column' }}&gt;&#10;        &lt;Box style={{ width: 56, height: 3, background: '#D9480F' }} /&gt;&#10;        &lt;Box style={{ height: 26 }} /&gt;&#10;        &lt;Text style={{ fontSize: 68, fontWeight: 'bold', color: '#15171B', lineHeight: 1.18, letterSpacing: '-1px' }}&gt;&#10;            双人对话播客自动生成系统&#10;        &lt;/Text&gt;&#10;        &lt;Box style={{ height: 18 }} /&gt;&#10;        &lt;Text style={{ fontSize: 22, color: '#3A3F47', lineHeight: 1.5 }}&gt;&#10;            你给一个主题，它给你一期能直接听的播客&#10;        &lt;/Text&gt;&#10;        &lt;Box style={{ height: 14 }} /&gt;&#10;        &lt;Text style={{ fontSize: 15, color: '#6E7480', lineHeight: 1.5 }}&gt;&#10;            网页填四个参数 → 自动写双人对话脚本 → 用你自己的声音念出来 → 合成 mp3 并发布订阅源&#10;        &lt;/Text&gt;&#10;    &lt;/Box&gt;&#10;&#10;    {/* 真实界面截图带（主视觉） */}&#10;    &lt;Box style={{ flexDirection: 'column' }}&gt;&#10;        &lt;Box style={{ flexDirection: 'row', gap: 16 }}&gt;&#10;            &lt;Image src='assets/ui_submit.png' style={{ width: 368, height: 230, border: '1px solid #15171B' }} /&gt;&#10;            &lt;Image src='assets/ui_detail.png' style={{ width: 368, height: 230, border: '1px solid #15171B' }} /&gt;&#10;            &lt;Image src='assets/ui_feed.png' style={{ width: 368, height: 230, border: '1px solid #15171B' }} /&gt;&#10;        &lt;/Box&gt;&#10;        &lt;Box style={{ height: 10 }} /&gt;&#10;        &lt;Box style={{ flexDirection: 'row', gap: 16 }}&gt;&#10;            &lt;Text style={{ width: 368, fontSize: 13, color: '#6E7480' }}&gt;新建一期节目 —— 四个输入参数&lt;/Text&gt;&#10;            &lt;Text style={{ width: 368, fontSize: 13, color: '#6E7480' }}&gt;一期跑完 —— 成片、下载、脚本回看&lt;/Text&gt;&#10;            &lt;Text style={{ width: 368, fontSize: 13, color: '#6E7480' }}&gt;自动生成的播客订阅源&lt;/Text&gt;&#10;        &lt;/Box&gt;&#10;    &lt;/Box&gt;&#10;&#10;    {/* 底部数字带 */}&#10;    &lt;Box style={{ flexDirection: 'column' }}&gt;&#10;        &lt;Box style={{ height: 1, background: '#15171B', opacity: 0.12 }} /&gt;&#10;        &lt;Box style={{ height: 18 }} /&gt;&#10;        &lt;Box style={{ flexDirection: 'row', gap: 52, alignItems: 'flex-end' }}&gt;&#10;            &lt;Box style={{ flexDirection: 'row', alignItems: 'flex-end', gap: 8 }}&gt;&#10;                &lt;Text style={{ fontSize: 30, fontWeight: 'bold', color: '#15171B', fontFamily: '&quot;JetBrains Mono&quot;,&quot;Cascadia Mono&quot;,Consolas,monospace', lineHeight: 1 }}&gt;&#10;                    40&#10;                &lt;/Text&gt;&#10;                &lt;Text style={{ fontSize: 13, color: '#6E7480', lineHeight: 1.4 }}&gt;期成片&lt;/Text&gt;&#10;            &lt;/Box&gt;&#10;            &lt;Box style={{ flexDirection: 'row', alignItems: 'flex-end', gap: 8 }}&gt;&#10;                &lt;Text style={{ fontSize: 30, fontWeight: 'bold', color: '#15171B', fontFamily: '&quot;JetBrains Mono&quot;,&quot;Cascadia Mono&quot;,Consolas,monospace', lineHeight: 1 }}&gt;&#10;                    1545&#10;                &lt;/Text&gt;&#10;                &lt;Text style={{ fontSize: 13, color: '#6E7480', lineHeight: 1.4 }}&gt;行对话&lt;/Text&gt;&#10;            &lt;/Box&gt;&#10;            &lt;Box style={{ flexDirection: 'row', alignItems: 'flex-end', gap: 8 }}&gt;&#10;                &lt;Text style={{ fontSize: 30, fontWeight: 'bold', color: '#D9480F', fontFamily: '&quot;JetBrains Mono&quot;,&quot;Cascadia Mono&quot;,Consolas,monospace', lineHeight: 1 }}&gt;&#10;                    1120 / 1120&#10;                &lt;/Text&gt;&#10;                &lt;Text style={{ fontSize: 13, color: '#6E7480', lineHeight: 1.4 }}&gt;逐句一致率&lt;/Text&gt;&#10;            &lt;/Box&gt;&#10;            &lt;Box style={{ flexDirection: 'row', alignItems: 'flex-end', gap: 8 }}&gt;&#10;                &lt;Text style={{ fontSize: 30, fontWeight: 'bold', color: '#15171B', fontFamily: '&quot;JetBrains Mono&quot;,&quot;Cascadia Mono&quot;,Consolas,monospace', lineHeight: 1 }}&gt;&#10;                    4.32&#10;                &lt;/Text&gt;&#10;                &lt;Text style={{ fontSize: 13, color: '#6E7480', lineHeight: 1.4 }}&gt;GB 显存跑通&lt;/Text&gt;&#10;            &lt;/Box&gt;&#10;            &lt;Box style={{ flexDirection: 'row', alignItems: 'flex-end', gap: 8 }}&gt;&#10;                &lt;Text style={{ fontSize: 30, fontWeight: 'bold', color: '#15171B', fontFamily: '&quot;JetBrains Mono&quot;,&quot;Cascadia Mono&quot;,Consolas,monospace', lineHeight: 1 }}&gt;&#10;                    411&#10;                &lt;/Text&gt;&#10;                &lt;Text style={{ fontSize: 13, color: '#6E7480', lineHeight: 1.4 }}&gt;项回归用例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7480"/>
                </a:solidFill>
                <a:latin typeface="JetBrains Mono"/>
                <a:ea typeface="JetBrains Mono"/>
              </a:rPr>
              <a:t>嘉应学院数学学院</a:t>
            </a:r>
            <a:r>
              <a:rPr lang="en-US" sz="975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75">
                <a:solidFill>
                  <a:srgbClr val="6E7480"/>
                </a:solidFill>
                <a:latin typeface="JetBrains Mono"/>
                <a:ea typeface="JetBrains Mono"/>
              </a:rPr>
              <a:t>张佳楠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801225" y="342900"/>
            <a:ext cx="170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E7480"/>
                </a:solidFill>
                <a:latin typeface="JetBrains Mono"/>
                <a:ea typeface="JetBrains Mono"/>
              </a:rPr>
              <a:t>项目答辩</a:t>
            </a:r>
            <a:r>
              <a:rPr lang="en-US" sz="975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2026 </a:t>
            </a:r>
            <a:r>
              <a:rPr lang="zh-CN" sz="975" spc="75">
                <a:solidFill>
                  <a:srgbClr val="6E7480"/>
                </a:solidFill>
                <a:latin typeface="JetBrains Mono"/>
                <a:ea typeface="JetBrains Mono"/>
              </a:rPr>
              <a:t>年</a:t>
            </a:r>
            <a:r>
              <a:rPr lang="en-US" sz="975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9 </a:t>
            </a:r>
            <a:r>
              <a:rPr lang="zh-CN" sz="975" spc="75">
                <a:solidFill>
                  <a:srgbClr val="6E7480"/>
                </a:solidFill>
                <a:latin typeface="JetBrains Mono"/>
                <a:ea typeface="JetBrains Mono"/>
              </a:rPr>
              <a:t>月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85800" y="809625"/>
            <a:ext cx="5334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1085850"/>
            <a:ext cx="10820400" cy="9239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100" b="1" spc="-75">
                <a:solidFill>
                  <a:srgbClr val="15171B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2181225"/>
            <a:ext cx="108204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3A3F47"/>
                </a:solidFill>
                <a:latin typeface="Source Han Sans SC"/>
                <a:ea typeface="Source Han Sans SC"/>
              </a:rPr>
              <a:t>你给一个主题，它给你一期能直接听的播客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269557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网页填四个参数</a:t>
            </a:r>
            <a:r>
              <a:rPr lang="en-US" sz="11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自动写双人对话脚本</a:t>
            </a:r>
            <a:r>
              <a:rPr lang="en-US" sz="11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用你自己的声音念出来</a:t>
            </a:r>
            <a:r>
              <a:rPr lang="en-US" sz="11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合成</a:t>
            </a:r>
            <a:r>
              <a:rPr lang="en-US" sz="11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mp3 </a:t>
            </a: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并发布订阅源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3276600"/>
            <a:ext cx="3505200" cy="21907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85800" y="3276600"/>
            <a:ext cx="3505200" cy="2190750"/>
          </a:xfrm>
          <a:prstGeom prst="rect">
            <a:avLst/>
          </a:prstGeom>
          <a:ln/>
        </p:spPr>
      </p:pic>
      <p:sp>
        <p:nvSpPr>
          <p:cNvPr id="11" name=""/>
          <p:cNvSpPr/>
          <p:nvPr/>
        </p:nvSpPr>
        <p:spPr>
          <a:xfrm rot="0" flipH="0" flipV="0">
            <a:off x="4343400" y="3276600"/>
            <a:ext cx="3505200" cy="21907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4343400" y="3276600"/>
            <a:ext cx="3505200" cy="219075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8001000" y="3276600"/>
            <a:ext cx="3505200" cy="21907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8001000" y="3276600"/>
            <a:ext cx="3505200" cy="21907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5800" y="556260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新建一期节目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四个输入参数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343400" y="556260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一期跑完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成片、下载、脚本回看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001000" y="556260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自动生成的播客订阅源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6210300"/>
            <a:ext cx="342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5171B"/>
                </a:solidFill>
                <a:latin typeface="JetBrains Mono"/>
                <a:ea typeface="JetBrains Mono"/>
              </a:rPr>
              <a:t>40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04900" y="6343650"/>
            <a:ext cx="371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期成片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971675" y="6210300"/>
            <a:ext cx="676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5171B"/>
                </a:solidFill>
                <a:latin typeface="JetBrains Mono"/>
                <a:ea typeface="JetBrains Mono"/>
              </a:rPr>
              <a:t>1545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724150" y="6343650"/>
            <a:ext cx="371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行对话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590925" y="6210300"/>
            <a:ext cx="1847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480F"/>
                </a:solidFill>
                <a:latin typeface="JetBrains Mono"/>
                <a:ea typeface="JetBrains Mono"/>
              </a:rPr>
              <a:t>1120 / 1120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514975" y="6343650"/>
            <a:ext cx="619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逐句一致率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629400" y="6210300"/>
            <a:ext cx="676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5171B"/>
                </a:solidFill>
                <a:latin typeface="JetBrains Mono"/>
                <a:ea typeface="JetBrains Mono"/>
              </a:rPr>
              <a:t>4.32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381875" y="634365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GB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显存跑通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582025" y="6210300"/>
            <a:ext cx="504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5171B"/>
                </a:solidFill>
                <a:latin typeface="JetBrains Mono"/>
                <a:ea typeface="JetBrains Mono"/>
              </a:rPr>
              <a:t>411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163050" y="6343650"/>
            <a:ext cx="619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项回归用例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85800" y="602932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时间不多，我就讲三件事。&#10;&#10;第一件是它做出来长什么样——真的跑出来的成片，真的界面。第二件是它凭什么能跑通，重点是显存只有 4.32 GB，这件事我是怎么绕过去的。第三件是做到什么程度、还差什么，包括我踩过的六个坑，还有到现在没做完的四件事。&#10;&#10;每一件我都会给能当场复算的数字。讲得不对的地方，欢迎老师直接打断我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目录&lt;/Text&gt;&#10;            &lt;Text style={{ fontSize: 13, color: '#6E7480', fontFamily: '&quot;JetBrains Mono&quot;,&quot;Cascadia Mono&quot;,Consolas,monospace', lineHeight: 1.4 }}&gt;17 页 · 讲 13~15 分钟&lt;/Text&gt;&#10;        &lt;/Box&gt;&#10;        &lt;Box style={{ flexDirection: 'column' }}&gt;&#10;            &lt;Text style={{ fontSize: 14, color: '#6E7480', lineHeight: 1.5 }}&gt;&#10;                三章，只讲已经跑完的东西；没跑完的也放在第三章里说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34, paddingBottom: 24 }}&gt;&#10;&#10;        {/* 左栏：引导 */}&#10;        &lt;Box style={{ width: 340, flexDirection: 'column', paddingRight: 44 }}&gt;&#10;            &lt;Box style={{ width: 44, height: 3, background: '#D9480F' }} /&gt;&#10;            &lt;Box style={{ height: 22 }} /&gt;&#10;            &lt;Text style={{ fontSize: 26, fontWeight: 'bold', color: '#15171B', lineHeight: 1.5 }}&gt;&#10;                时间不多，&lt;br /&gt;我只讲三件事&#10;            &lt;/Text&gt;&#10;            &lt;Box style={{ height: 20 }} /&gt;&#10;            &lt;Text style={{ fontSize: 15, color: '#6E7480', lineHeight: 1.8 }}&gt;&#10;                每一件都配了能当场复算的数字。讲不完的细节，都写在交付包里现役的 32 份文档中。&#10;            &lt;/Text&gt;&#10;        &lt;/Box&gt;&#10;&#10;        {/* 右栏：三条 */}&#10;        &lt;Box style={{ flex: 1, flexDirection: 'column', justifyContent: 'space-between' }}&gt;&#10;&#10;            &lt;Box style={{ flexDirection: 'column' }}&gt;&#10;                &lt;Box style={{ height: 1, background: '#15171B', opacity: 0.14 }} /&gt;&#10;                &lt;Box style={{ height: 18 }} /&gt;&#10;                &lt;Box style={{ flexDirection: 'row', alignItems: 'flex-start', gap: 26 }}&gt;&#10;                    &lt;Text style={{ width: 58, fontSize: 34, fontWeight: 'bold', color: '#D9480F', fontFamily: '&quot;JetBrains Mono&quot;,&quot;Cascadia Mono&quot;,Consolas,monospace', lineHeight: 1 }}&gt;01&lt;/Text&gt;&#10;                    &lt;Box style={{ flexDirection: 'column' }}&gt;&#10;                        &lt;Text style={{ fontSize: 26, fontWeight: 'bold', color: '#15171B', lineHeight: 1.3 }}&gt;做出来的是什么&lt;/Text&gt;&#10;                        &lt;Box style={{ height: 10 }} /&gt;&#10;                        &lt;Text style={{ fontSize: 18, color: '#4B5158', lineHeight: 1.7 }}&gt;&#10;                            四个输入参数 → 双人对话脚本 → 成片 mp3 → 播客订阅源。先讲它为什么做、六个模块，再放六张真机界面与三期真成片，每一期都能点开听。&#10;                        &lt;/Text&gt;&#10;                    &lt;/Box&gt;&#10;                &lt;/Box&gt;&#10;            &lt;/Box&gt;&#10;&#10;            &lt;Box style={{ flexDirection: 'column' }}&gt;&#10;                &lt;Box style={{ height: 1, background: '#15171B', opacity: 0.14 }} /&gt;&#10;                &lt;Box style={{ height: 18 }} /&gt;&#10;                &lt;Box style={{ flexDirection: 'row', alignItems: 'flex-start', gap: 26 }}&gt;&#10;                    &lt;Text style={{ width: 58, fontSize: 34, fontWeight: 'bold', color: '#D9480F', fontFamily: '&quot;JetBrains Mono&quot;,&quot;Cascadia Mono&quot;,Consolas,monospace', lineHeight: 1 }}&gt;02&lt;/Text&gt;&#10;                    &lt;Box style={{ flexDirection: 'column' }}&gt;&#10;                        &lt;Text style={{ fontSize: 26, fontWeight: 'bold', color: '#15171B', lineHeight: 1.3 }}&gt;它凭什么能跑通&lt;/Text&gt;&#10;                        &lt;Box style={{ height: 10 }} /&gt;&#10;                        &lt;Text style={{ fontSize: 18, color: '#4B5158', lineHeight: 1.7 }}&gt;&#10;                            四层架构与一次提交的完整业务流；五段流水线只认一张状态转移表；4.32 GB 显存靠「一次只干一件事 + 干过的句子不重干」扛下来。&#10;                        &lt;/Text&gt;&#10;                    &lt;/Box&gt;&#10;                &lt;/Box&gt;&#10;            &lt;/Box&gt;&#10;&#10;            &lt;Box style={{ flexDirection: 'column' }}&gt;&#10;                &lt;Box style={{ height: 1, background: '#15171B', opacity: 0.14 }} /&gt;&#10;                &lt;Box style={{ height: 18 }} /&gt;&#10;                &lt;Box style={{ flexDirection: 'row', alignItems: 'flex-start', gap: 26 }}&gt;&#10;                    &lt;Text style={{ width: 58, fontSize: 34, fontWeight: 'bold', color: '#D9480F', fontFamily: '&quot;JetBrains Mono&quot;,&quot;Cascadia Mono&quot;,Consolas,monospace', lineHeight: 1 }}&gt;03&lt;/Text&gt;&#10;                    &lt;Box style={{ flexDirection: 'column' }}&gt;&#10;                        &lt;Text style={{ fontSize: 26, fontWeight: 'bold', color: '#15171B', lineHeight: 1.3 }}&gt;做到什么程度、还差什么&lt;/Text&gt;&#10;                        &lt;Box style={{ height: 10 }} /&gt;&#10;                        &lt;Text style={{ fontSize: 18, color: '#4B5158', lineHeight: 1.7 }}&gt;&#10;                            五项指标里四项是机器算的、一项是人听的；六个真实缺陷以及它们为什么没被发现；还有四件到现在没做完的事。&#10;                        &lt;/Text&gt;&#10;                    &lt;/Box&gt;&#10;                &lt;/Box&gt;&#10;            &lt;/Box&gt;&#10;&#10;        &lt;/Box&gt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2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6477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058400" y="466725"/>
            <a:ext cx="1447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17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页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讲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13~15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分钟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三章，只讲已经跑完的东西；没跑完的也放在第三章里说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466850"/>
            <a:ext cx="4191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704975"/>
            <a:ext cx="28194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5171B"/>
                </a:solidFill>
                <a:latin typeface="Source Han Sans SC"/>
                <a:ea typeface="Source Han Sans SC"/>
              </a:rPr>
              <a:t>时间不多，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5171B"/>
                </a:solidFill>
                <a:latin typeface="Source Han Sans SC"/>
                <a:ea typeface="Source Han Sans SC"/>
              </a:rPr>
              <a:t>我只讲三件事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2790825"/>
            <a:ext cx="28194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每一件都配了能当场复算的数字。讲不完的细节，都写在交付包里现役的</a:t>
            </a:r>
            <a:r>
              <a:rPr lang="en-US" sz="11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32 </a:t>
            </a: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份文档中。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924300" y="1647825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480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667250" y="1647825"/>
            <a:ext cx="68389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5171B"/>
                </a:solidFill>
                <a:latin typeface="Source Han Sans SC"/>
                <a:ea typeface="Source Han Sans SC"/>
              </a:rPr>
              <a:t>做出来的是什么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67250" y="2133600"/>
            <a:ext cx="68389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四个输入参数</a:t>
            </a:r>
            <a:r>
              <a:rPr lang="en-US" sz="13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双人对话脚本</a:t>
            </a:r>
            <a:r>
              <a:rPr lang="en-US" sz="13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成片</a:t>
            </a:r>
            <a:r>
              <a:rPr lang="en-US" sz="13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mp3 → </a:t>
            </a: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播客订阅源。先讲它为什么做、六个模块，再放六张真机界面与三期真成片，每一期都能点开听。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924300" y="3257550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480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667250" y="3257550"/>
            <a:ext cx="68389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5171B"/>
                </a:solidFill>
                <a:latin typeface="Source Han Sans SC"/>
                <a:ea typeface="Source Han Sans SC"/>
              </a:rPr>
              <a:t>它凭什么能跑通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667250" y="3743325"/>
            <a:ext cx="68389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四层架构与一次提交的完整业务流；五段流水线只认一张状态转移表；</a:t>
            </a:r>
            <a:r>
              <a:rPr lang="en-US" sz="13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4.32 GB </a:t>
            </a: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显存靠「一次只干一件事</a:t>
            </a:r>
            <a:r>
              <a:rPr lang="en-US" sz="13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干过的句子不重干」扛下来。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924300" y="4867275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480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667250" y="4867275"/>
            <a:ext cx="68389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5171B"/>
                </a:solidFill>
                <a:latin typeface="Source Han Sans SC"/>
                <a:ea typeface="Source Han Sans SC"/>
              </a:rPr>
              <a:t>做到什么程度、还差什么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667250" y="5353050"/>
            <a:ext cx="68389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B5158"/>
                </a:solidFill>
                <a:latin typeface="Source Han Sans SC"/>
                <a:ea typeface="Source Han Sans SC"/>
              </a:rPr>
              <a:t>五项指标里四项是机器算的、一项是人听的；六个真实缺陷以及它们为什么没被发现；还有四件到现在没做完的事。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02 / 17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3924300" y="1466850"/>
            <a:ext cx="7581900" cy="9525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3924300" y="3076575"/>
            <a:ext cx="7581900" cy="9525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3924300" y="4686300"/>
            <a:ext cx="7581900" cy="9525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30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先说为什么做这个，再说做给谁用。&#10;&#10;播客这两年是涨的，知识科普、行业解读这类双人对话节目尤其受欢迎。但做一档这样的节目，链条很长：先选题策划，再写两个人的对话脚本，然后两个主播分别录，最后还得剪辑、拼接、处理响度。一期节目从选题到成片，快也要好几天。个人做内容的人，还有学校里想批量做教学音频的老师，很难持续产出——不是没想法，是工期压不下来。&#10;&#10;那为什么是现在能做？因为两条技术刚好都熟了。一条是语音合成：阿里开源的 CosyVoice 支持零样本音色克隆，只要几秒参考音频就能复刻音色，中文自然度够用，而且能完全放在本地跑，不依赖云服务。另一条是内容生成：大模型能按主题、时长、风格，直接把双人对话脚本写出来。&#10;&#10;把这两条接起来，「输入一个主题、输出一期成片」这件事就成立了。再套一个网页壳子，没有录音棚、不会剪辑的人也能用。&#10;&#10;所以定位一句话：面向个人创作者和教学场景的、从「输入主题」到「成片加 RSS 订阅」闭环的网页应用。&#10;&#10;目标用户四类：个人内容创作者是主力，要的是「快」；教育机构和老师要的是「便宜且能批量复用」；视障和通勤用户只听不看，他们不碰网页，走 RSS 在播客客户端听——所以这个系统的听众出口是订阅源，不是界面；还有一类就是答辩评审，按验收清单逐项验。&#10;&#10;功能上切成六个模块：环境部署、对话脚本生成、语音合成、音频后期与封装、网页界面、用户与历史记录。这六个模块就是后面每一页在讲的东西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为什么做它，做给谁用&lt;/Text&gt;&#10;            &lt;Text style={{ fontSize: 13, color: '#6E7480', fontFamily: '&quot;JetBrains Mono&quot;,&quot;Cascadia Mono&quot;,Consolas,monospace', lineHeight: 1.4 }}&gt;01 项目背景与目标&lt;/Text&gt;&#10;        &lt;/Box&gt;&#10;        &lt;Box style={{ flexDirection: 'column' }}&gt;&#10;            &lt;Text style={{ fontSize: 14, color: '#6E7480', lineHeight: 1.5 }}&gt;&#10;                背景、定位、目标用户、六个功能模块 —— 一句话概括：把做一期播客从几天压到几分钟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0 }}&gt;&#10;&#10;        {/* 左栏：背景 + 定位 */}&#10;        &lt;Box style={{ width: 500, flexDirection: 'column', paddingRight: 40 }}&gt;&#10;            &lt;Box style={{ width: 44, height: 3, background: '#D9480F' }} /&gt;&#10;            &lt;Box style={{ height: 16 }} /&gt;&#10;            &lt;Text style={{ fontSize: 20, fontWeight: 'bold', color: '#15171B', lineHeight: 1.5 }}&gt;&#10;                一期播客要几天，&lt;br /&gt;两条技术刚好熟了&#10;            &lt;/Text&gt;&#10;            &lt;Box style={{ height: 14 }} /&gt;&#10;            &lt;Text style={{ fontSize: 13.5, color: '#4B5158', lineHeight: 1.75 }}&gt;&#10;                做一档双人对话播客，链条是：选题 → 写对话稿 → 两人分别录 → 剪辑拼接与响度处理。一期从选题到成片通常要好几天，个人创作者与教学团队都很难持续产出。&#10;            &lt;/Text&gt;&#10;            &lt;Box style={{ height: 16 }} /&gt;&#10;            &lt;Box style={{ height: 1, background: '#15171B', opacity: 0.12 }} /&gt;&#10;            &lt;Box style={{ height: 14 }} /&gt;&#10;            &lt;Text style={{ fontSize: 14, fontWeight: 'bold', color: '#15171B', lineHeight: 1.5 }}&gt;两条前提，缺一不可&lt;/Text&gt;&#10;            &lt;Box style={{ height: 8 }} /&gt;&#10;            &lt;Box style={{ flexDirection: 'row', alignItems: 'flex-start', gap: 12 }}&gt;&#10;                &lt;Text style={{ fontSize: 15, fontWeight: 'bold', color: '#D9480F', fontFamily: '&quot;JetBrains Mono&quot;,&quot;Cascadia Mono&quot;,Consolas,monospace', lineHeight: 1.5 }}&gt;01&lt;/Text&gt;&#10;                &lt;Box style={{ flex: 1, flexDirection: 'column' }}&gt;&#10;                    &lt;Text style={{ fontSize: 13.5, fontWeight: 'bold', color: '#15171B', lineHeight: 1.45 }}&gt;语音能克隆，且能本地跑&lt;/Text&gt;&#10;                    &lt;Box style={{ height: 2 }} /&gt;&#10;                    &lt;Text style={{ fontSize: 12.5, color: '#6E7480', lineHeight: 1.5 }}&gt;CosyVoice 零样本音色合成，几秒参考音频即可复现音色，中文自然度够用，可完全本地部署&lt;/Text&gt;&#10;                &lt;/Box&gt;&#10;            &lt;/Box&gt;&#10;            &lt;Box style={{ height: 10 }} /&gt;&#10;            &lt;Box style={{ flexDirection: 'row', alignItems: 'flex-start', gap: 12 }}&gt;&#10;                &lt;Text style={{ fontSize: 15, fontWeight: 'bold', color: '#D9480F', fontFamily: '&quot;JetBrains Mono&quot;,&quot;Cascadia Mono&quot;,Consolas,monospace', lineHeight: 1.5 }}&gt;02&lt;/Text&gt;&#10;                &lt;Box style={{ flex: 1, flexDirection: 'column' }}&gt;&#10;                    &lt;Text style={{ fontSize: 13.5, fontWeight: 'bold', color: '#15171B', lineHeight: 1.45 }}&gt;大模型会写双人对话&lt;/Text&gt;&#10;                    &lt;Box style={{ height: 2 }} /&gt;&#10;                    &lt;Text style={{ fontSize: 12.5, color: '#6E7480', lineHeight: 1.5 }}&gt;按主题 / 时长 / 风格生成结构化双人对话脚本（本项目用 DeepSeek API）&lt;/Text&gt;&#10;                &lt;/Box&gt;&#10;            &lt;/Box&gt;&#10;            &lt;Box style={{ height: 14 }} /&gt;&#10;            &lt;Box style={{ background: '#EEF0F3', padding: '10px 14px', flexDirection: 'column' }}&gt;&#10;                &lt;Text style={{ fontSize: 12.5, color: '#5A6069', lineHeight: 1.6 }}&gt;&#10;                    定位：面向个人创作者与教育机构的、以「输入主题 → 成片音频 + RSS 订阅」为闭环的双人对话播客自动生成 Web 应用&#10;                &lt;/Text&gt;&#10;            &lt;/Box&gt;&#10;        &lt;/Box&gt;&#10;&#10;        {/* 右栏：目标用户 + 六模块 */}&#10;        &lt;Box style={{ flex: 1, flexDirection: 'column' }}&gt;&#10;            &lt;Text style={{ fontSize: 14, fontWeight: 'bold', color: '#15171B', lineHeight: 1.5 }}&gt;目标用户&lt;/Text&gt;&#10;            &lt;Box style={{ height: 8 }} /&gt;&#10;            &lt;Box style={{ height: 1, background: '#15171B', opacity: 0.12 }} /&gt;&#10;            &lt;Box style={{ height: 8 }} /&gt;&#10;&#10;            &lt;Box style={{ flexDirection: 'row', alignItems: 'flex-start', gap: 10 }}&gt;&#10;                &lt;Text style={{ width: 92, fontSize: 13, fontWeight: 'bold', color: '#15171B' }}&gt;个人创作者&lt;/Text&gt;&#10;                &lt;Text style={{ flex: 1, fontSize: 12.5, color: '#6E7480', lineHeight: 1.5 }}&gt;无录音棚与剪辑能力，要的是「把选题快速变成一期可发布的节目」&lt;/Text&gt;&#10;            &lt;/Box&gt;&#10;            &lt;Box style={{ height: 8 }} /&gt;&#10;            &lt;Box style={{ flexDirection: 'row', alignItems: 'flex-start', gap: 10 }}&gt;&#10;                &lt;Text style={{ width: 92, fontSize: 13, fontWeight: 'bold', color: '#15171B' }}&gt;教育机构 / 教师&lt;/Text&gt;&#10;                &lt;Text style={{ flex: 1, fontSize: 12.5, color: '#6E7480', lineHeight: 1.5 }}&gt;需批量生产教学音频，要的是低成本、可复用的音频内容生产&lt;/Text&gt;&#10;            &lt;/Box&gt;&#10;            &lt;Box style={{ height: 8 }} /&gt;&#10;            &lt;Box style={{ flexDirection: 'row', alignItems: 'flex-start', gap: 10 }}&gt;&#10;                &lt;Text style={{ width: 92, fontSize: 13, fontWeight: 'bold', color: '#15171B' }}&gt;视障 / 通勤用户&lt;/Text&gt;&#10;                &lt;Text style={{ flex: 1, fontSize: 12.5, color: '#6E7480', lineHeight: 1.5 }}&gt;以听为主，订阅 RSS 在播客客户端收听 —— 不接触本界面&lt;/Text&gt;&#10;            &lt;/Box&gt;&#10;            &lt;Box style={{ height: 8 }} /&gt;&#10;            &lt;Box style={{ flexDirection: 'row', alignItems: 'flex-start', gap: 10 }}&gt;&#10;                &lt;Text style={{ width: 92, fontSize: 13, fontWeight: 'bold', color: '#15171B' }}&gt;评审 / 答辩&lt;/Text&gt;&#10;                &lt;Text style={{ flex: 1, fontSize: 12.5, color: '#6E7480', lineHeight: 1.5 }}&gt;需要可复现的演示路径与量化证据，按验收清单逐项验证&lt;/Text&gt;&#10;            &lt;/Box&gt;&#10;&#10;            &lt;Box style={{ height: 16 }} /&gt;&#10;            &lt;Text style={{ fontSize: 14, fontWeight: 'bold', color: '#15171B', lineHeight: 1.5 }}&gt;六个功能模块&lt;/Text&gt;&#10;            &lt;Box style={{ height: 8 }} /&gt;&#10;            &lt;Box style={{ height: 1, background: '#15171B', opacity: 0.12 }} /&gt;&#10;            &lt;Box style={{ height: 10 }} /&gt;&#10;&#10;            {[&#10;              ['M1','开源环境部署','CosyVoice 与权重本地部署，2 种预置音色'],&#10;              ['M2','对话脚本生成','按主题 / 时长 / 风格生成，可编辑，含敏感词过滤'],&#10;              ['M3','语音合成','文本规范化、逐句切分、双音色切换'],&#10;              ['M4','音频后期与封装','停顿、拼接、响度归一、片头尾，导出 mp3 + RSS'],&#10;              ['M5','Web 界面','提交、在线编辑脚本、逐句试听、播放与下载'],&#10;              ['M6','用户与历史','注册登录、进度追踪、历史回放']&#10;            ].map((row,i)=&gt;(&#10;              &lt;Box key={i} style={{ flexDirection: 'row', alignItems: 'flex-start', gap: 10, marginBottom: 7 }}&gt;&#10;                &lt;Text style={{ width: 26, fontSize: 12.5, fontWeight: 'bold', color: '#D9480F', fontFamily: '&quot;JetBrains Mono&quot;,&quot;Cascadia Mono&quot;,Consolas,monospace', lineHeight: 1.5 }}&gt;{row[0]}&lt;/Text&gt;&#10;                &lt;Text style={{ width: 118, fontSize: 12.5, fontWeight: 'bold', color: '#15171B', lineHeight: 1.5 }}&gt;{row[1]}&lt;/Text&gt;&#10;                &lt;Text style={{ flex: 1, fontSize: 12, color: '#6E7480', lineHeight: 1.5 }}&gt;{row[2]}&lt;/Text&gt;&#10;              &lt;/Box&gt;&#10;            ))}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3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2385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为什么做它，做给谁用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01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项目背景与目标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背景、定位、目标用户、六个功能模块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一句话概括：把做一期播客从几天压到几分钟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85800" y="1333500"/>
            <a:ext cx="4191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43815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一期播客要几天，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两条技术刚好熟了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5800" y="2333625"/>
            <a:ext cx="43815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4B5158"/>
                </a:solidFill>
                <a:latin typeface="Source Han Sans SC"/>
                <a:ea typeface="Source Han Sans SC"/>
              </a:rPr>
              <a:t>做一档双人对话播客，链条是：选题</a:t>
            </a:r>
            <a:r>
              <a:rPr lang="en-US" sz="1013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4B5158"/>
                </a:solidFill>
                <a:latin typeface="Source Han Sans SC"/>
                <a:ea typeface="Source Han Sans SC"/>
              </a:rPr>
              <a:t>写对话稿</a:t>
            </a:r>
            <a:r>
              <a:rPr lang="en-US" sz="1013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4B5158"/>
                </a:solidFill>
                <a:latin typeface="Source Han Sans SC"/>
                <a:ea typeface="Source Han Sans SC"/>
              </a:rPr>
              <a:t>两人分别录</a:t>
            </a:r>
            <a:r>
              <a:rPr lang="en-US" sz="1013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4B5158"/>
                </a:solidFill>
                <a:latin typeface="Source Han Sans SC"/>
                <a:ea typeface="Source Han Sans SC"/>
              </a:rPr>
              <a:t>剪辑拼接与响度处理。一期从选题到成片通常要好几天，个人创作者与教学团队都很难持续产出。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5800" y="3448050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5171B"/>
                </a:solidFill>
                <a:latin typeface="Source Han Sans SC"/>
                <a:ea typeface="Source Han Sans SC"/>
              </a:rPr>
              <a:t>两条前提，缺一不可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17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D9480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71550" y="377190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语音能克隆，且能本地跑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71550" y="4019550"/>
            <a:ext cx="40957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CosyVoice 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零样本音色合成，几秒参考音频即可复现音色，中文自然度够用，可完全本地部署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85800" y="4543425"/>
            <a:ext cx="17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D9480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71550" y="454342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大模型会写双人对话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971550" y="4791075"/>
            <a:ext cx="40957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按主题</a:t>
            </a: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时长</a:t>
            </a: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风格生成结构化双人对话脚本（本项目用</a:t>
            </a: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DeepSeek API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85800" y="5143500"/>
            <a:ext cx="4381500" cy="6477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19150" y="5238750"/>
            <a:ext cx="41148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5A6069"/>
                </a:solidFill>
                <a:latin typeface="Source Han Sans SC"/>
                <a:ea typeface="Source Han Sans SC"/>
              </a:rPr>
              <a:t>定位：面向个人创作者与教育机构的、以「输入主题</a:t>
            </a:r>
            <a:r>
              <a:rPr lang="en-US" sz="938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5A6069"/>
                </a:solidFill>
                <a:latin typeface="Source Han Sans SC"/>
                <a:ea typeface="Source Han Sans SC"/>
              </a:rPr>
              <a:t>成片音频</a:t>
            </a:r>
            <a:r>
              <a:rPr lang="en-US" sz="938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+ RSS </a:t>
            </a:r>
            <a:r>
              <a:rPr lang="zh-CN" sz="938">
                <a:solidFill>
                  <a:srgbClr val="5A6069"/>
                </a:solidFill>
                <a:latin typeface="Source Han Sans SC"/>
                <a:ea typeface="Source Han Sans SC"/>
              </a:rPr>
              <a:t>订阅」为闭环的双人对话播客自动生成</a:t>
            </a:r>
            <a:r>
              <a:rPr lang="en-US" sz="938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Web </a:t>
            </a:r>
            <a:r>
              <a:rPr lang="zh-CN" sz="938">
                <a:solidFill>
                  <a:srgbClr val="5A6069"/>
                </a:solidFill>
                <a:latin typeface="Source Han Sans SC"/>
                <a:ea typeface="Source Han Sans SC"/>
              </a:rPr>
              <a:t>应用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448300" y="1333500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5171B"/>
                </a:solidFill>
                <a:latin typeface="Source Han Sans SC"/>
                <a:ea typeface="Source Han Sans SC"/>
              </a:rPr>
              <a:t>目标用户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448300" y="174307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个人创作者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419850" y="1743075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无录音棚与剪辑能力，要的是「把选题快速变成一期可发布的节目」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448300" y="203835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教育机构</a:t>
            </a:r>
            <a:r>
              <a:rPr lang="en-US" sz="97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教师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419850" y="2038350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需批量生产教学音频，要的是低成本、可复用的音频内容生产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448300" y="23336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视障</a:t>
            </a:r>
            <a:r>
              <a:rPr lang="en-US" sz="97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通勤用户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419850" y="2333625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以听为主，订阅</a:t>
            </a: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RSS 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在播客客户端收听</a:t>
            </a:r>
            <a:r>
              <a:rPr lang="en-US" sz="938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不接触本界面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448300" y="26289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评审</a:t>
            </a:r>
            <a:r>
              <a:rPr lang="en-US" sz="97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419850" y="2628900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6E7480"/>
                </a:solidFill>
                <a:latin typeface="Source Han Sans SC"/>
                <a:ea typeface="Source Han Sans SC"/>
              </a:rPr>
              <a:t>需要可复现的演示路径与量化证据，按验收清单逐项验证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448300" y="3000375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5171B"/>
                </a:solidFill>
                <a:latin typeface="Source Han Sans SC"/>
                <a:ea typeface="Source Han Sans SC"/>
              </a:rPr>
              <a:t>六个功能模块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448300" y="342900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M1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91200" y="342900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开源环境部署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010400" y="34290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CosyVoice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与权重本地部署，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2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种预置音色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448300" y="371475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M2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791200" y="371475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对话脚本生成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010400" y="371475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按主题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时长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风格生成，可编辑，含敏感词过滤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448300" y="400050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M3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791200" y="400050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语音合成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010400" y="40005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文本规范化、逐句切分、双音色切换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448300" y="428625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M4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91200" y="428625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音频后期与封装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010400" y="428625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停顿、拼接、响度归一、片头尾，导出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mp3 + RSS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448300" y="457200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M5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91200" y="457200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Web </a:t>
            </a: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界面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010400" y="45720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提交、在线编辑脚本、逐句试听、播放与下载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448300" y="4857750"/>
            <a:ext cx="2476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 b="1">
                <a:solidFill>
                  <a:srgbClr val="D9480F"/>
                </a:solidFill>
                <a:latin typeface="JetBrains Mono"/>
                <a:ea typeface="JetBrains Mono"/>
              </a:rPr>
              <a:t>M6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91200" y="485775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用户与历史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010400" y="485775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注册登录、进度追踪、历史回放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03 / 17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685800" y="3305175"/>
            <a:ext cx="43815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5448300" y="1657350"/>
            <a:ext cx="6057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5448300" y="3324225"/>
            <a:ext cx="6057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82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先说第一件事：东西做出来长什么样。&#10;&#10;我拆成三块讲。一是输入——你只要填四样东西：主题、想听多久、语速、还有语言风格。二是界面——一共六个页面，从登录注册到任务详情、再到订阅源，全都能跑。三是产出——我留了三期演示成片，加起来十三分五十八秒。这些不是剪出来的，是系统自己一步一步跑出来的。&#10;&#10;这三块都能现场看，我先把它们摆出来，再讲里面的道理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做出来的是什么&lt;/Text&gt;&#10;            &lt;Text style={{ fontSize: 13, color: '#6E7480', fontFamily: '&quot;JetBrains Mono&quot;,&quot;Cascadia Mono&quot;,Consolas,monospace', lineHeight: 1.4 }}&gt;第一章 · 01 / 03&lt;/Text&gt;&#10;        &lt;/Box&gt;&#10;        &lt;Box style={{ flexDirection: 'column' }}&gt;&#10;            &lt;Text style={{ fontSize: 14, color: '#6E7480', lineHeight: 1.5 }}&gt;&#10;                上一页说了为什么做、做给谁；这一章把成品摆出来，再说原理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alignItems: 'center' }}&gt;&#10;&#10;        &lt;Box style={{ width: 300, flexDirection: 'column' }}&gt;&#10;            &lt;Text style={{ fontSize: 160, fontWeight: 'bold', color: '#D9480F', fontFamily: '&quot;JetBrains Mono&quot;,&quot;Cascadia Mono&quot;,Consolas,monospace', lineHeight: 1 }}&gt;&#10;                01&#10;            &lt;/Text&gt;&#10;        &lt;/Box&gt;&#10;&#10;        &lt;Box style={{ flex: 1, flexDirection: 'column' }}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四个输入参数：主题、目标时长、语速、语言风格。填完点一下，剩下的它自己干完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六个页面：登录、注册、新建节目、历史、任务详情、订阅源。每个都能点、能用；设计上只求「一眼看清状态」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三期演示成片，合计 838 秒 / 12.78 MB。不是剪出来的，是系统自己一步一步跑出来的。&#10;                &lt;/Text&gt;&#10;            &lt;/Box&gt;&#10;&#10;            &lt;Box style={{ height: 40 }} /&gt;&#10;&#10;            &lt;Box style={{ borderLeft: '2px solid #D9480F', paddingLeft: 14 }}&gt;&#10;                &lt;Text style={{ fontSize: 17, color: '#15171B', lineHeight: 1.6 }}&gt;&#10;                    这一章只证明「它真的在跑」；跑得对不对，放在第三章用数字说。&#10;                &lt;/Text&gt;&#10;            &lt;/Box&gt;&#10;&#10;        &lt;/Box&gt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4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22669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做出来的是什么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0401300" y="46672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第一章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01 / 03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上一页说了为什么做、做给谁；这一章把成品摆出来，再说原理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28575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D9480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543300" y="182880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752850" y="170497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四个输入参数：主题、目标时长、语速、语言风格。填完点一下，剩下的它自己干完。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543300" y="306705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752850" y="294322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六个页面：登录、注册、新建节目、历史、任务详情、订阅源。每个都能点、能用；设计上只求「一眼看清状态」。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3543300" y="430530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3752850" y="418147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三期演示成片，合计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838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秒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/ 12.78 MB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。不是剪出来的，是系统自己一步一步跑出来的。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3543300" y="5419725"/>
            <a:ext cx="7981950" cy="314325"/>
          </a:xfrm>
          <a:custGeom>
            <a:pathLst>
              <a:path w="838" h="33">
                <a:moveTo>
                  <a:pt x="0" y="0"/>
                </a:moveTo>
                <a:lnTo>
                  <a:pt x="2" y="0"/>
                </a:lnTo>
                <a:lnTo>
                  <a:pt x="2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695700" y="5419725"/>
            <a:ext cx="7810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这一章只证明「它真的在跑」；跑得对不对，放在第三章用数字说。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04 / 17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00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讲清楚它到底怎么来的。&#10;&#10;左边是全部链路。你要填的只有四个框：主题、想听多久、语速、语言风格。填完之后，DeepSeek 先写一版双人对话脚本，CosyVoice 用你自己录的两段声音把脚本念出来，FFmpeg 做后期和响度归一，最后导出 mp3、写一条订阅源。你拿到的就是一个能订阅的播客频道。&#10;&#10;右边是这三期演示的台账：三百零二秒、二百五十七秒、二百七十九秒，加起来十三分五十八秒、十二点七八兆、一百七十九行对话。这些数字是我当场从数据库里查出来的。台账本身只记「哪三期」，具体数字一律现测——写死在清单里的数字，迟早会和实物对不上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四个参数进去，一期播客出来&lt;/Text&gt;&#10;            &lt;Text style={{ fontSize: 13, color: '#6E7480', fontFamily: '&quot;JetBrains Mono&quot;,&quot;Cascadia Mono&quot;,Consolas,monospace', lineHeight: 1.4 }}&gt;01 做出来的是什么&lt;/Text&gt;&#10;        &lt;/Box&gt;&#10;        &lt;Box style={{ flexDirection: 'column' }}&gt;&#10;            &lt;Text style={{ fontSize: 14, color: '#6E7480', lineHeight: 1.5 }}&gt;&#10;                二期的时长单位是秒，由 ffprobe 与数据库当场核对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30, paddingBottom: 26 }}&gt;&#10;&#10;        {/* 左栏：链路 */}&#10;        &lt;Box style={{ width: 660, flexDirection: 'column', justifyContent: 'center', paddingRight: 44 }}&gt;&#10;&#10;            &lt;Text style={{ fontSize: 13, color: '#6E7480', fontFamily: '&quot;JetBrains Mono&quot;,&quot;Cascadia Mono&quot;,Consolas,monospace' }}&gt;输入 —— 你只填这四个&lt;/Text&gt;&#10;            &lt;Box style={{ height: 12 }} /&gt;&#10;            &lt;Box style={{ flexDirection: 'row', gap: 12 }}&gt;&#10;                &lt;Box style={{ flex: 1, height: 54, background: '#15171B', alignItems: 'center', justifyContent: 'center' }}&gt;&#10;                    &lt;Text style={{ fontSize: 17, fontWeight: 'bold', color: '#FFFFFF' }}&gt;主题&lt;/Text&gt;&#10;                &lt;/Box&gt;&#10;                &lt;Box style={{ flex: 1, height: 54, background: '#15171B', alignItems: 'center', justifyContent: 'center' }}&gt;&#10;                    &lt;Text style={{ fontSize: 17, fontWeight: 'bold', color: '#FFFFFF' }}&gt;目标时长&lt;/Text&gt;&#10;                &lt;/Box&gt;&#10;                &lt;Box style={{ flex: 1, height: 54, background: '#15171B', alignItems: 'center', justifyContent: 'center' }}&gt;&#10;                    &lt;Text style={{ fontSize: 17, fontWeight: 'bold', color: '#FFFFFF' }}&gt;语速&lt;/Text&gt;&#10;                &lt;/Box&gt;&#10;                &lt;Box style={{ flex: 1, height: 54, background: '#15171B', alignItems: 'center', justifyContent: 'center' }}&gt;&#10;                    &lt;Text style={{ fontSize: 17, fontWeight: 'bold', color: '#FFFFFF' }}&gt;语言风格&lt;/Text&gt;&#10;                &lt;/Box&gt;&#10;            &lt;/Box&gt;&#10;&#10;            &lt;Box style={{ height: 16 }} /&gt;&#10;            &lt;Text style={{ fontSize: 15, color: '#D9480F', textAlign: 'center' }}&gt;↓&lt;/Text&gt;&#10;            &lt;Box style={{ height: 16 }} /&gt;&#10;&#10;            &lt;Text style={{ fontSize: 13, color: '#6E7480', fontFamily: '&quot;JetBrains Mono&quot;,&quot;Cascadia Mono&quot;,Consolas,monospace' }}&gt;自动处理 —— 五个阶段接力&lt;/Text&gt;&#10;            &lt;Box style={{ height: 12 }} /&gt;&#10;            &lt;Box style={{ flexDirection: 'row', gap: 10 }}&gt;&#10;                &lt;Box style={{ flex: 1, height: 62, background: '#EEF0F3', alignItems: 'center', justifyContent: 'center' }}&gt;&#10;                    &lt;Text style={{ fontSize: 15, fontWeight: 'bold', color: '#15171B' }}&gt;写脚本&lt;/Text&gt;&#10;                    &lt;Text style={{ fontSize: 12, color: '#5A6069', marginTop: 4 }}&gt;DeepSeek&lt;/Text&gt;&#10;                &lt;/Box&gt;&#10;                &lt;Box style={{ flex: 1, height: 62, background: '#EEF0F3', alignItems: 'center', justifyContent: 'center' }}&gt;&#10;                    &lt;Text style={{ fontSize: 15, fontWeight: 'bold', color: '#15171B' }}&gt;等你确认&lt;/Text&gt;&#10;                    &lt;Text style={{ fontSize: 12, color: '#5A6069', marginTop: 4 }}&gt;可改可退&lt;/Text&gt;&#10;                &lt;/Box&gt;&#10;                &lt;Box style={{ flex: 1, height: 62, background: '#EEF0F3', alignItems: 'center', justifyContent: 'center' }}&gt;&#10;                    &lt;Text style={{ fontSize: 15, fontWeight: 'bold', color: '#15171B' }}&gt;念出来&lt;/Text&gt;&#10;                    &lt;Text style={{ fontSize: 12, color: '#5A6069', marginTop: 4 }}&gt;CosyVoice&lt;/Text&gt;&#10;                &lt;/Box&gt;&#10;                &lt;Box style={{ flex: 1, height: 62, background: '#EEF0F3', alignItems: 'center', justifyContent: 'center' }}&gt;&#10;                    &lt;Text style={{ fontSize: 15, fontWeight: 'bold', color: '#15171B' }}&gt;后期&lt;/Text&gt;&#10;                    &lt;Text style={{ fontSize: 12, color: '#5A6069', marginTop: 4 }}&gt;FFmpeg&lt;/Text&gt;&#10;                &lt;/Box&gt;&#10;                &lt;Box style={{ flex: 1, height: 62, background: '#EEF0F3', alignItems: 'center', justifyContent: 'center' }}&gt;&#10;                    &lt;Text style={{ fontSize: 15, fontWeight: 'bold', color: '#15171B' }}&gt;打包&lt;/Text&gt;&#10;                    &lt;Text style={{ fontSize: 12, color: '#5A6069', marginTop: 4 }}&gt;RSS&lt;/Text&gt;&#10;                &lt;/Box&gt;&#10;            &lt;/Box&gt;&#10;&#10;            &lt;Box style={{ height: 16 }} /&gt;&#10;            &lt;Text style={{ fontSize: 15, color: '#D9480F', textAlign: 'center' }}&gt;↓&lt;/Text&gt;&#10;            &lt;Box style={{ height: 16 }} /&gt;&#10;&#10;            &lt;Text style={{ fontSize: 13, color: '#6E7480', fontFamily: '&quot;JetBrains Mono&quot;,&quot;Cascadia Mono&quot;,Consolas,monospace' }}&gt;输出 —— 三样东西&lt;/Text&gt;&#10;            &lt;Box style={{ height: 12 }} /&gt;&#10;            &lt;Box style={{ flexDirection: 'row', gap: 12 }}&gt;&#10;                &lt;Box style={{ flex: 1, height: 62, border: '1px solid #15171B', alignItems: 'center', justifyContent: 'center' }}&gt;&#10;                    &lt;Text style={{ fontSize: 16, fontWeight: 'bold', color: '#15171B' }}&gt;双人对话脚本&lt;/Text&gt;&#10;                &lt;/Box&gt;&#10;                &lt;Box style={{ flex: 1, height: 62, background: '#D9480F', alignItems: 'center', justifyContent: 'center' }}&gt;&#10;                    &lt;Text style={{ fontSize: 16, fontWeight: 'bold', color: '#FFFFFF' }}&gt;成片 mp3&lt;/Text&gt;&#10;                &lt;/Box&gt;&#10;                &lt;Box style={{ flex: 1, height: 62, border: '1px solid #15171B', alignItems: 'center', justifyContent: 'center' }}&gt;&#10;                    &lt;Text style={{ fontSize: 16, fontWeight: 'bold', color: '#15171B' }}&gt;播客订阅源&lt;/Text&gt;&#10;                &lt;/Box&gt;&#10;            &lt;/Box&gt;&#10;&#10;        &lt;/Box&gt;&#10;&#10;        {/* 右栏：台账 */}&#10;        &lt;Box style={{ flex: 1, flexDirection: 'column', paddingTop: 4 }}&gt;&#10;&#10;            &lt;Text style={{ fontSize: 22, fontWeight: 'bold', color: '#15171B', lineHeight: 1.35 }}&gt;三期演示成片&lt;/Text&gt;&#10;            &lt;Box style={{ height: 8 }} /&gt;&#10;            &lt;Text style={{ fontSize: 14, color: '#6E7480', lineHeight: 1.5 }}&gt;&#10;                清单只声明「哪三期」，数字一律现测&#10;            &lt;/Text&gt;&#10;            &lt;Box style={{ height: 18 }} /&gt;&#10;            &lt;Box style={{ height: 1, background: '#15171B', opacity: 0.14 }} /&gt;&#10;&#10;            &lt;Box style={{ height: 16 }} /&gt;&#10;            &lt;Text style={{ fontSize: 17, fontWeight: 'bold', color: '#15171B', lineHeight: 1.4 }}&gt;人工智能会不会取代程序员&lt;/Text&gt;&#10;            &lt;Box style={{ height: 5 }} /&gt;&#10;            &lt;Text style={{ fontSize: 15, color: '#4B5158', fontFamily: '&quot;JetBrains Mono&quot;,&quot;Cascadia Mono&quot;,Consolas,monospace' }}&gt;302 s · 4.60 MB · 74 行&lt;/Text&gt;&#10;&#10;            &lt;Box style={{ height: 22 }} /&gt;&#10;            &lt;Text style={{ fontSize: 17, fontWeight: 'bold', color: '#15171B', lineHeight: 1.4 }}&gt;为什么周末休息完反而更累&lt;/Text&gt;&#10;            &lt;Box style={{ height: 5 }} /&gt;&#10;            &lt;Text style={{ fontSize: 15, color: '#4B5158', fontFamily: '&quot;JetBrains Mono&quot;,&quot;Cascadia Mono&quot;,Consolas,monospace' }}&gt;257 s · 3.92 MB · 47 行&lt;/Text&gt;&#10;&#10;            &lt;Box style={{ height: 22 }} /&gt;&#10;            &lt;Text style={{ fontSize: 17, fontWeight: 'bold', color: '#15171B', lineHeight: 1.4 }}&gt;小城市正在变成新的机会洼地吗&lt;/Text&gt;&#10;            &lt;Box style={{ height: 5 }} /&gt;&#10;            &lt;Text style={{ fontSize: 15, color: '#4B5158', fontFamily: '&quot;JetBrains Mono&quot;,&quot;Cascadia Mono&quot;,Consolas,monospace' }}&gt;279 s · 4.26 MB · 58 行&lt;/Text&gt;&#10;&#10;            &lt;Box style={{ height: 18 }} /&gt;&#10;            &lt;Box style={{ height: 1, background: '#15171B', opacity: 0.14 }} /&gt;&#10;            &lt;Box style={{ height: 14 }} /&gt;&#10;            &lt;Text style={{ fontSize: 15, color: '#15171B', fontFamily: '&quot;JetBrains Mono&quot;,&quot;Cascadia Mono&quot;,Consolas,monospace' }}&gt;合计 838 s · 12.78 MB · 179 行&lt;/Text&gt;&#10;&#10;            &lt;Box style={{ height: 22 }} /&gt;&#10;            &lt;Box style={{ borderLeft: '2px solid #D9480F', paddingLeft: 14 }}&gt;&#10;                &lt;Text style={{ fontSize: 17, color: '#15171B', lineHeight: 1.6 }}&gt;&#10;                    这三期不是样例图，是机器跑出来的 —— 每一期都能现在点开听。&#10;                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5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42100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四个参数进去，一期播客出来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01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做出来的是什么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二期的时长单位是秒，由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ffprobe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与数据库当场核对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85800" y="2009775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输入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——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你只填这四个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85800" y="2276475"/>
            <a:ext cx="1381125" cy="5143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219200" y="24384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主题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2181225" y="2276475"/>
            <a:ext cx="1381125" cy="5143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2552700" y="2438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目标时长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3676650" y="2276475"/>
            <a:ext cx="1381125" cy="5143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210050" y="24384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语速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172075" y="2276475"/>
            <a:ext cx="1381125" cy="5143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543550" y="2438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语言风格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85800" y="2943225"/>
            <a:ext cx="58674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D9480F"/>
                </a:solidFill>
                <a:latin typeface="Source Han Sans SC"/>
                <a:ea typeface="Source Han Sans SC"/>
              </a:rPr>
              <a:t>↓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自动处理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——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五个阶段接力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85800" y="3533775"/>
            <a:ext cx="1095375" cy="5905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19175" y="36576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写脚本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62025" y="386715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DeepSeek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1876425" y="3533775"/>
            <a:ext cx="1095375" cy="5905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2143125" y="3657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等你确认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2200275" y="38671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可改可退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3067050" y="3533775"/>
            <a:ext cx="1104900" cy="5905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409950" y="36576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念出来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343275" y="3867150"/>
            <a:ext cx="561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CosyVoice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4267200" y="3533775"/>
            <a:ext cx="1095375" cy="5905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676775" y="36576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后期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591050" y="3867150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FFmpeg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457825" y="3533775"/>
            <a:ext cx="1095375" cy="5905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867400" y="36576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打包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905500" y="3867150"/>
            <a:ext cx="209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RSS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85800" y="4276725"/>
            <a:ext cx="58674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D9480F"/>
                </a:solidFill>
                <a:latin typeface="Source Han Sans SC"/>
                <a:ea typeface="Source Han Sans SC"/>
              </a:rPr>
              <a:t>↓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85800" y="4600575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输出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——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三样东西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85800" y="4867275"/>
            <a:ext cx="1876425" cy="5905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71575" y="5067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171B"/>
                </a:solidFill>
                <a:latin typeface="Source Han Sans SC"/>
                <a:ea typeface="Source Han Sans SC"/>
              </a:rPr>
              <a:t>双人对话脚本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2676525" y="4867275"/>
            <a:ext cx="1885950" cy="5905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276600" y="5067300"/>
            <a:ext cx="69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成片</a:t>
            </a: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mp3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4676775" y="4867275"/>
            <a:ext cx="1876425" cy="5905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238750" y="50673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5171B"/>
                </a:solidFill>
                <a:latin typeface="Source Han Sans SC"/>
                <a:ea typeface="Source Han Sans SC"/>
              </a:rPr>
              <a:t>播客订阅源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972300" y="1466850"/>
            <a:ext cx="45339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15171B"/>
                </a:solidFill>
                <a:latin typeface="Source Han Sans SC"/>
                <a:ea typeface="Source Han Sans SC"/>
              </a:rPr>
              <a:t>三期演示成片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972300" y="1885950"/>
            <a:ext cx="4533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清单只声明「哪三期」，数字一律现测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972300" y="246697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人工智能会不会取代程序员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972300" y="279082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B5158"/>
                </a:solidFill>
                <a:latin typeface="JetBrains Mono"/>
                <a:ea typeface="JetBrains Mono"/>
              </a:rPr>
              <a:t xml:space="preserve">302 s · 4.60 MB · 74 </a:t>
            </a:r>
            <a:r>
              <a:rPr lang="zh-CN" sz="1125">
                <a:solidFill>
                  <a:srgbClr val="4B5158"/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972300" y="317182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为什么周末休息完反而更累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972300" y="349567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B5158"/>
                </a:solidFill>
                <a:latin typeface="JetBrains Mono"/>
                <a:ea typeface="JetBrains Mono"/>
              </a:rPr>
              <a:t xml:space="preserve">257 s · 3.92 MB · 47 </a:t>
            </a:r>
            <a:r>
              <a:rPr lang="zh-CN" sz="1125">
                <a:solidFill>
                  <a:srgbClr val="4B5158"/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972300" y="387667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小城市正在变成新的机会洼地吗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972300" y="420052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B5158"/>
                </a:solidFill>
                <a:latin typeface="JetBrains Mono"/>
                <a:ea typeface="JetBrains Mono"/>
              </a:rPr>
              <a:t xml:space="preserve">279 s · 4.26 MB · 58 </a:t>
            </a:r>
            <a:r>
              <a:rPr lang="zh-CN" sz="1125">
                <a:solidFill>
                  <a:srgbClr val="4B5158"/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972300" y="4686300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5171B"/>
                </a:solidFill>
                <a:latin typeface="JetBrains Mono"/>
                <a:ea typeface="JetBrains Mono"/>
              </a:rPr>
              <a:t>合计</a:t>
            </a:r>
            <a:r>
              <a:rPr lang="en-US" sz="1125">
                <a:solidFill>
                  <a:srgbClr val="15171B"/>
                </a:solidFill>
                <a:latin typeface="JetBrains Mono"/>
                <a:ea typeface="JetBrains Mono"/>
              </a:rPr>
              <a:t xml:space="preserve"> 838 s · 12.78 MB · 179 </a:t>
            </a:r>
            <a:r>
              <a:rPr lang="zh-CN" sz="1125">
                <a:solidFill>
                  <a:srgbClr val="15171B"/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972300" y="5067300"/>
            <a:ext cx="4552950" cy="628650"/>
          </a:xfrm>
          <a:custGeom>
            <a:pathLst>
              <a:path w="478" h="66">
                <a:moveTo>
                  <a:pt x="0" y="0"/>
                </a:moveTo>
                <a:lnTo>
                  <a:pt x="2" y="0"/>
                </a:lnTo>
                <a:lnTo>
                  <a:pt x="2" y="66"/>
                </a:lnTo>
                <a:lnTo>
                  <a:pt x="0" y="66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124700" y="5067300"/>
            <a:ext cx="4381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这三期不是样例图，是机器跑出来的</a:t>
            </a:r>
            <a:r>
              <a:rPr lang="en-US" sz="127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每一期都能现在点开听。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05 / 17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6972300" y="2305050"/>
            <a:ext cx="4533900" cy="9525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6972300" y="4543425"/>
            <a:ext cx="4533900" cy="9525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6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是界面，先说设计，再看长什么样。&#10;&#10;设计上第一条原则，也是最重要的一条：这不是一个「用得越久越好」的产品界面。它的成功标准是用户尽快离开——提交完就去做别的事，回头直接拿走成片。所以整个界面的重心不是让人沉浸，是让人一眼看清状态。&#10;&#10;第二条，状态必须可判，不能靠猜。每个任务都有状态标签、阶段文案和进度条，出错就直接把错误信息显示出来。&#10;&#10;第三条比较细：没有信息和信息是零，必须区分开。比如「队列位置」如果是空，就不显示那一栏，而不是显示一个零——这两件事对用户的意思完全不同。&#10;&#10;第四条，破坏性的操作，取消和删除，都要二次确认。&#10;&#10;技术上，组件用 Ant Design，布局用 Tailwind，分工很清楚：Tailwind 只管间距、栅格、背景色这些工具类，组件长什么样交给 AntD，避免两套设计语言打架。主色沿用 AntD 默认蓝，没做主题定制——这是有意的取舍，工具型界面、单人开发，不做设计系统，代价是将来要做视觉统一得回头补一层令牌。&#10;&#10;右边这些图都是真机截图，一千四百四乘九百，无头浏览器截的，脚本能重跑。左上是任务详情页，也是信息密度最高的一页：进度、播放器、下载、逐句脚本全在一屏。脚本回看按 A、B 交替标色，你听到的两把声音就是这两个人。这一屏同时是个调试工具——哪句念错了、卡在第几段，看一眼就知道。&#10;&#10;下面五张是其余页面：新建节目、历史列表、订阅源、登录、注册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界面：先让人看清状态&lt;/Text&gt;&#10;            &lt;Text style={{ fontSize: 13, color: '#6E7480', fontFamily: '&quot;JetBrains Mono&quot;,&quot;Cascadia Mono&quot;,Consolas,monospace', lineHeight: 1.4 }}&gt;01 做出来的是什么&lt;/Text&gt;&#10;        &lt;/Box&gt;&#10;        &lt;Box style={{ flexDirection: 'column' }}&gt;&#10;            &lt;Text style={{ fontSize: 14, color: '#6E7480', lineHeight: 1.5 }}&gt;&#10;                左：四条设计原则与组件分工　·　右：六张 1440 × 900 真机截图，同一批脚本产出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0 }}&gt;&#10;&#10;        {/* 左栏：设计 */}&#10;        &lt;Box style={{ width: 430, flexDirection: 'column', paddingRight: 30 }}&gt;&#10;            &lt;Box style={{ width: 44, height: 3, background: '#D9480F' }} /&gt;&#10;            &lt;Box style={{ height: 12 }} /&gt;&#10;            &lt;Text style={{ fontSize: 20, fontWeight: 'bold', color: '#15171B', lineHeight: 1.5 }}&gt;&#10;                成功标准是&lt;br /&gt;用户尽快离开&#10;            &lt;/Text&gt;&#10;            &lt;Box style={{ height: 10 }} /&gt;&#10;            &lt;Text style={{ fontSize: 12.5, color: '#4B5158', lineHeight: 1.65 }}&gt;&#10;                它不是让人沉浸的产品，是让人一眼看清状态、提交完就能走。四条原则：&#10;            &lt;/Text&gt;&#10;            &lt;Box style={{ height: 10 }} /&gt;&#10;&#10;            {[&#10;              ['状态可判，不靠猜','每个任务都有状态标签 + 阶段文案 + 进度条；错误态直接显示原因'],&#10;              ['长任务不阻塞人','提交后立即跳详情，轮询进度，可随时离开、从历史回来'],&#10;              ['「没有信息」与「信息是 0」分开','队列位置、缓存命中率为空时不显示，而不是显示 0'],&#10;              ['破坏性操作二次确认','取消、删除走 Popconfirm']&#10;            ].map((row,i)=&gt;(&#10;              &lt;Box key={i} style={{ flexDirection: 'row', alignItems: 'flex-start', gap: 10, marginBottom: 7 }}&gt;&#10;                &lt;Text style={{ width: 18, fontSize: 13, fontWeight: 'bold', color: '#D9480F', fontFamily: '&quot;JetBrains Mono&quot;,&quot;Cascadia Mono&quot;,Consolas,monospace', lineHeight: 1.5 }}&gt;{i+1}&lt;/Text&gt;&#10;                &lt;Box style={{ flex: 1, flexDirection: 'column' }}&gt;&#10;                    &lt;Text style={{ fontSize: 12.5, fontWeight: 'bold', color: '#15171B', lineHeight: 1.4 }}&gt;{row[0]}&lt;/Text&gt;&#10;                    &lt;Text style={{ fontSize: 11, color: '#6E7480', lineHeight: 1.45 }}&gt;{row[1]}&lt;/Text&gt;&#10;                &lt;/Box&gt;&#10;              &lt;/Box&gt;&#10;            ))}&#10;&#10;            &lt;Box style={{ height: 4 }} /&gt;&#10;            &lt;Box style={{ height: 1, background: '#15171B', opacity: 0.12 }} /&gt;&#10;            &lt;Box style={{ height: 10 }} /&gt;&#10;&#10;            &lt;Text style={{ fontSize: 12.5, fontWeight: 'bold', color: '#15171B', lineHeight: 1.5 }}&gt;组件分工：两套库，各管一段&lt;/Text&gt;&#10;            &lt;Box style={{ height: 6 }} /&gt;&#10;            &lt;Text style={{ fontSize: 11.5, color: '#5A6069', lineHeight: 1.6 }}&gt;&#10;                &lt;span style={{ fontWeight: 'bold', color: '#15171B' }}&gt;Ant Design 5&lt;/span&gt; —— 表单、表格、反馈组件等交互外观；&lt;span style={{ fontWeight: 'bold', color: '#15171B' }}&gt;Tailwind 3&lt;/span&gt; —— 只用于间距、栅格、背景色等工具类。&lt;span style={{ color: '#6E7480' }}&gt;主色沿用 AntD 默认蓝，未做主题定制（有意的取舍：工具型界面、单人开发，不建令牌层）&lt;/span&gt;&#10;            &lt;/Text&gt;&#10;        &lt;/Box&gt;&#10;&#10;        {/* 右栏：截图墙 */}&#10;        &lt;Box style={{ flex: 1, flexDirection: 'column' }}&gt;&#10;            &lt;Image src='assets/ui_detail.png' style={{ width: 700, height: 322, border: '1px solid #15171B' }} /&gt;&#10;            &lt;Box style={{ height: 7 }} /&gt;&#10;            &lt;Text style={{ fontSize: 11.5, color: '#6E7480', lineHeight: 1.45 }}&gt;&#10;                任务详情页 —— 信息密度最高的一页：进度、播放器、下载、逐句脚本回看（A / B 交替标色），同时是一个调试工具&#10;            &lt;/Text&gt;&#10;            &lt;Box style={{ height: 11 }} /&gt;&#10;            &lt;Box style={{ flexDirection: 'row', gap: 12 }}&gt;&#10;                &lt;Image src='assets/ui_submit.png' style={{ width: 132, height: 84, border: '1px solid #15171B', opacity: 0.94 }} /&gt;&#10;                &lt;Image src='assets/ui_history.png' style={{ width: 132, height: 84, border: '1px solid #15171B', opacity: 0.94 }} /&gt;&#10;                &lt;Image src='assets/ui_feed.png' style={{ width: 132, height: 84, border: '1px solid #15171B', opacity: 0.94 }} /&gt;&#10;                &lt;Image src='assets/ui_login.png' style={{ width: 132, height: 84, border: '1px solid #15171B', opacity: 0.94 }} /&gt;&#10;                &lt;Image src='assets/ui_register.png' style={{ width: 132, height: 84, border: '1px solid #15171B', opacity: 0.94 }} /&gt;&#10;            &lt;/Box&gt;&#10;            &lt;Box style={{ height: 5 }} /&gt;&#10;            &lt;Box style={{ flexDirection: 'row', gap: 12 }}&gt;&#10;                &lt;Text style={{ width: 132, fontSize: 11, color: '#6E7480' }}&gt;新建节目：四参数&lt;/Text&gt;&#10;                &lt;Text style={{ width: 132, fontSize: 11, color: '#6E7480' }}&gt;历史：任务与状态&lt;/Text&gt;&#10;                &lt;Text style={{ width: 132, fontSize: 11, color: '#6E7480' }}&gt;订阅源：可订阅&lt;/Text&gt;&#10;                &lt;Text style={{ width: 132, fontSize: 11, color: '#6E7480' }}&gt;登录&lt;/Text&gt;&#10;                &lt;Text style={{ width: 132, fontSize: 11, color: '#6E7480' }}&gt;注册&lt;/Text&gt;&#10;            &lt;/Box&gt;&#10;            &lt;Box style={{ height: 10 }} /&gt;&#10;            &lt;Box style={{ borderLeft: '2px solid #D9480F', paddingLeft: 12 }}&gt;&#10;                &lt;Text style={{ fontSize: 12.5, color: '#15171B', lineHeight: 1.55 }}&gt;&#10;                    都是真机画面，不是效果图 —— 想看的话，这台机器上现在就能跑一期。&#10;                &lt;/Text&gt;&#10;            &lt;/Box&gt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6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2385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界面：先让人看清状态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01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做出来的是什么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左：四条设计原则与组件分工　·　右：六张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1440 × 900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真机截图，同一批脚本产出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85800" y="1333500"/>
            <a:ext cx="4191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85800" y="1476375"/>
            <a:ext cx="38100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成功标准是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用户尽快离开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5800" y="2257425"/>
            <a:ext cx="3810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它不是让人沉浸的产品，是让人一眼看清状态、提交完就能走。四条原则：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85800" y="2828925"/>
            <a:ext cx="17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D9480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952500" y="282892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状态可判，不靠猜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952500" y="302895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每个任务都有状态标签</a:t>
            </a:r>
            <a:r>
              <a:rPr lang="en-US" sz="8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阶段文案</a:t>
            </a:r>
            <a:r>
              <a:rPr lang="en-US" sz="8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进度条；错误态直接显示原因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85800" y="3286125"/>
            <a:ext cx="17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D9480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52500" y="328612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长任务不阻塞人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52500" y="348615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提交后立即跳详情，轮询进度，可随时离开、从历史回来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85800" y="3743325"/>
            <a:ext cx="17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D9480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952500" y="374332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「没有信息」与「信息是</a:t>
            </a:r>
            <a:r>
              <a:rPr lang="en-US" sz="938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」分开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52500" y="394335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队列位置、缓存命中率为空时不显示，而不是显示</a:t>
            </a:r>
            <a:r>
              <a:rPr lang="en-US" sz="8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0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85800" y="4200525"/>
            <a:ext cx="1714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D9480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52500" y="420052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破坏性操作二次确认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52500" y="440055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取消、删除走</a:t>
            </a:r>
            <a:r>
              <a:rPr lang="en-US" sz="82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Popconfirm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85800" y="48006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组件分工：两套库，各管一段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85800" y="5076825"/>
            <a:ext cx="38100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63" b="1">
                <a:solidFill>
                  <a:srgbClr val="15171B"/>
                </a:solidFill>
                <a:latin typeface="Source Han Sans SC"/>
                <a:ea typeface="Source Han Sans SC"/>
              </a:rPr>
              <a:t>Ant Design 5</a:t>
            </a:r>
            <a:r>
              <a:rPr lang="en-US" sz="863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63">
                <a:solidFill>
                  <a:srgbClr val="5A6069"/>
                </a:solidFill>
                <a:latin typeface="Source Han Sans SC"/>
                <a:ea typeface="Source Han Sans SC"/>
              </a:rPr>
              <a:t>表单、表格、反馈组件等交互外观；</a:t>
            </a:r>
            <a:r>
              <a:rPr lang="en-US" sz="863" b="1">
                <a:solidFill>
                  <a:srgbClr val="15171B"/>
                </a:solidFill>
                <a:latin typeface="Source Han Sans SC"/>
                <a:ea typeface="Source Han Sans SC"/>
              </a:rPr>
              <a:t>Tailwind 3</a:t>
            </a:r>
            <a:r>
              <a:rPr lang="en-US" sz="863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63">
                <a:solidFill>
                  <a:srgbClr val="5A6069"/>
                </a:solidFill>
                <a:latin typeface="Source Han Sans SC"/>
                <a:ea typeface="Source Han Sans SC"/>
              </a:rPr>
              <a:t>只用于间距、栅格、背景色等工具类。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主色沿用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AntD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默认蓝，未做主题定制（有意的取舍：工具型界面、单人开发，不建令牌层）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781550" y="1333500"/>
            <a:ext cx="6667500" cy="3067050"/>
          </a:xfrm>
          <a:prstGeom prst="rect">
            <a:avLst/>
          </a:prstGeom>
          <a:ln w="12700">
            <a:solidFill>
              <a:srgbClr val="15171B"/>
            </a:solidFill>
            <a:prstDash val="solid"/>
          </a:ln>
        </p:spPr>
        <p:txBody>
          <a:bodyPr/>
          <a:p/>
        </p:txBody>
      </p:sp>
      <p:pic>
        <p:nvPicPr>
          <p:cNvPr id="479" name=""/>
          <p:cNvPicPr>
            <a:picLocks noChangeAspect="1"/>
          </p:cNvPicPr>
          <p:nvPr/>
        </p:nvPicPr>
        <p:blipFill>
          <a:blip r:embed="rId1"/>
          <a:srcRect l="0" t="13200" r="0" b="13200"/>
          <a:stretch>
            <a:fillRect/>
          </a:stretch>
        </p:blipFill>
        <p:spPr>
          <a:xfrm rot="0" flipH="0" flipV="0">
            <a:off x="4781550" y="1333500"/>
            <a:ext cx="6667500" cy="3067050"/>
          </a:xfrm>
          <a:prstGeom prst="rect">
            <a:avLst/>
          </a:prstGeom>
          <a:ln/>
        </p:spPr>
      </p:pic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781550" y="446722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任务详情页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信息密度最高的一页：进度、播放器、下载、逐句脚本回看（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A / B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交替标色），同时是一个调试工具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781550" y="56197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新建节目：四参数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153150" y="5619750"/>
            <a:ext cx="1247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历史：任务与状态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515225" y="56197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订阅源：可订阅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886825" y="5619750"/>
            <a:ext cx="1247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登录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0248900" y="56197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E7480"/>
                </a:solidFill>
                <a:latin typeface="Source Han Sans SC"/>
                <a:ea typeface="Source Han Sans SC"/>
              </a:rPr>
              <a:t>注册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4781550" y="5848350"/>
            <a:ext cx="6743700" cy="228600"/>
          </a:xfrm>
          <a:custGeom>
            <a:pathLst>
              <a:path w="708" h="24">
                <a:moveTo>
                  <a:pt x="0" y="0"/>
                </a:move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914900" y="5848350"/>
            <a:ext cx="65913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都是真机画面，不是效果图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想看的话，这台机器上现在就能跑一期。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06 / 17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685800" y="4695825"/>
            <a:ext cx="38100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4781550" y="4772025"/>
            <a:ext cx="1257300" cy="800100"/>
          </a:xfrm>
          <a:prstGeom prst="rect">
            <a:avLst/>
          </a:prstGeom>
          <a:ln w="12700">
            <a:solidFill>
              <a:srgbClr val="15171B">
                <a:alpha val="9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4" name=""/>
          <p:cNvPicPr>
            <a:picLocks noChangeAspect="1"/>
          </p:cNvPicPr>
          <p:nvPr/>
        </p:nvPicPr>
        <p:blipFill>
          <a:blip r:embed="rId2">
            <a:alphaModFix amt="94000"/>
          </a:blip>
          <a:srcRect l="892" t="0" r="892" b="0"/>
          <a:stretch>
            <a:fillRect/>
          </a:stretch>
        </p:blipFill>
        <p:spPr>
          <a:xfrm rot="0" flipH="0" flipV="0">
            <a:off x="4781550" y="4772025"/>
            <a:ext cx="1257300" cy="800100"/>
          </a:xfrm>
          <a:prstGeom prst="rect">
            <a:avLst/>
          </a:prstGeom>
          <a:ln/>
        </p:spPr>
      </p:pic>
      <p:sp>
        <p:nvSpPr>
          <p:cNvPr id="495" name=""/>
          <p:cNvSpPr/>
          <p:nvPr/>
        </p:nvSpPr>
        <p:spPr>
          <a:xfrm rot="0" flipH="0" flipV="0">
            <a:off x="6153150" y="4772025"/>
            <a:ext cx="1257300" cy="800100"/>
          </a:xfrm>
          <a:prstGeom prst="rect">
            <a:avLst/>
          </a:prstGeom>
          <a:ln w="12700">
            <a:solidFill>
              <a:srgbClr val="15171B">
                <a:alpha val="9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6" name=""/>
          <p:cNvPicPr>
            <a:picLocks noChangeAspect="1"/>
          </p:cNvPicPr>
          <p:nvPr/>
        </p:nvPicPr>
        <p:blipFill>
          <a:blip r:embed="rId3">
            <a:alphaModFix amt="94000"/>
          </a:blip>
          <a:srcRect l="892" t="0" r="892" b="0"/>
          <a:stretch>
            <a:fillRect/>
          </a:stretch>
        </p:blipFill>
        <p:spPr>
          <a:xfrm rot="0" flipH="0" flipV="0">
            <a:off x="6153150" y="4772025"/>
            <a:ext cx="1257300" cy="800100"/>
          </a:xfrm>
          <a:prstGeom prst="rect">
            <a:avLst/>
          </a:prstGeom>
          <a:ln/>
        </p:spPr>
      </p:pic>
      <p:sp>
        <p:nvSpPr>
          <p:cNvPr id="497" name=""/>
          <p:cNvSpPr/>
          <p:nvPr/>
        </p:nvSpPr>
        <p:spPr>
          <a:xfrm rot="0" flipH="0" flipV="0">
            <a:off x="7515225" y="4772025"/>
            <a:ext cx="1257300" cy="800100"/>
          </a:xfrm>
          <a:prstGeom prst="rect">
            <a:avLst/>
          </a:prstGeom>
          <a:ln w="12700">
            <a:solidFill>
              <a:srgbClr val="15171B">
                <a:alpha val="9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8" name=""/>
          <p:cNvPicPr>
            <a:picLocks noChangeAspect="1"/>
          </p:cNvPicPr>
          <p:nvPr/>
        </p:nvPicPr>
        <p:blipFill>
          <a:blip r:embed="rId4">
            <a:alphaModFix amt="94000"/>
          </a:blip>
          <a:srcRect l="892" t="0" r="892" b="0"/>
          <a:stretch>
            <a:fillRect/>
          </a:stretch>
        </p:blipFill>
        <p:spPr>
          <a:xfrm rot="0" flipH="0" flipV="0">
            <a:off x="7515225" y="4772025"/>
            <a:ext cx="1257300" cy="800100"/>
          </a:xfrm>
          <a:prstGeom prst="rect">
            <a:avLst/>
          </a:prstGeom>
          <a:ln/>
        </p:spPr>
      </p:pic>
      <p:sp>
        <p:nvSpPr>
          <p:cNvPr id="499" name=""/>
          <p:cNvSpPr/>
          <p:nvPr/>
        </p:nvSpPr>
        <p:spPr>
          <a:xfrm rot="0" flipH="0" flipV="0">
            <a:off x="8886825" y="4772025"/>
            <a:ext cx="1257300" cy="800100"/>
          </a:xfrm>
          <a:prstGeom prst="rect">
            <a:avLst/>
          </a:prstGeom>
          <a:ln w="12700">
            <a:solidFill>
              <a:srgbClr val="15171B">
                <a:alpha val="9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0" name=""/>
          <p:cNvPicPr>
            <a:picLocks noChangeAspect="1"/>
          </p:cNvPicPr>
          <p:nvPr/>
        </p:nvPicPr>
        <p:blipFill>
          <a:blip r:embed="rId5">
            <a:alphaModFix amt="94000"/>
          </a:blip>
          <a:srcRect l="892" t="0" r="892" b="0"/>
          <a:stretch>
            <a:fillRect/>
          </a:stretch>
        </p:blipFill>
        <p:spPr>
          <a:xfrm rot="0" flipH="0" flipV="0">
            <a:off x="8886825" y="4772025"/>
            <a:ext cx="1257300" cy="800100"/>
          </a:xfrm>
          <a:prstGeom prst="rect">
            <a:avLst/>
          </a:prstGeom>
          <a:ln/>
        </p:spPr>
      </p:pic>
      <p:sp>
        <p:nvSpPr>
          <p:cNvPr id="501" name=""/>
          <p:cNvSpPr/>
          <p:nvPr/>
        </p:nvSpPr>
        <p:spPr>
          <a:xfrm rot="0" flipH="0" flipV="0">
            <a:off x="10248900" y="4772025"/>
            <a:ext cx="1257300" cy="800100"/>
          </a:xfrm>
          <a:prstGeom prst="rect">
            <a:avLst/>
          </a:prstGeom>
          <a:ln w="12700">
            <a:solidFill>
              <a:srgbClr val="15171B">
                <a:alpha val="9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2" name=""/>
          <p:cNvPicPr>
            <a:picLocks noChangeAspect="1"/>
          </p:cNvPicPr>
          <p:nvPr/>
        </p:nvPicPr>
        <p:blipFill>
          <a:blip r:embed="rId6">
            <a:alphaModFix amt="94000"/>
          </a:blip>
          <a:srcRect l="892" t="0" r="892" b="0"/>
          <a:stretch>
            <a:fillRect/>
          </a:stretch>
        </p:blipFill>
        <p:spPr>
          <a:xfrm rot="0" flipH="0" flipV="0">
            <a:off x="10248900" y="4772025"/>
            <a:ext cx="1257300" cy="8001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03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第二件事：它凭什么能跑通。&#10;&#10;我说三个最要紧的地方。第一个，整条链路只有五个阶段，能不能从这一步跳到那一步，不是各处代码自己判断的，只有一张状态转移表说了算，非法跳步直接拒绝。第二个，一共九个状态、两条回边；服务器崩了重启之后，它会自己扫一遍，该接着跑的接着跑，该判失败的判失败，不会留下一个永远不动的任务。第三个，这块显卡净可用只有 4.32 GB，我靠「一次只干一件事」，加上「干过的句子不重干」，把峰值压到了三千五百五十一兆。&#10;&#10;讲白了，这三条都是为了同一件事：让它在没有余量的机器上，还能自己把活干完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它凭什么能跑通&lt;/Text&gt;&#10;            &lt;Text style={{ fontSize: 13, color: '#6E7480', fontFamily: '&quot;JetBrains Mono&quot;,&quot;Cascadia Mono&quot;,Consolas,monospace', lineHeight: 1.4 }}&gt;第二章 · 02 / 03&lt;/Text&gt;&#10;        &lt;/Box&gt;&#10;        &lt;Box style={{ flexDirection: 'column' }}&gt;&#10;            &lt;Text style={{ fontSize: 14, color: '#6E7480', lineHeight: 1.5 }}&gt;&#10;                这一章的重点不是「用了什么」，是「哪里差点跑不动、怎么绕过去」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alignItems: 'center' }}&gt;&#10;&#10;        &lt;Box style={{ width: 300, flexDirection: 'column' }}&gt;&#10;            &lt;Text style={{ fontSize: 160, fontWeight: 'bold', color: '#D9480F', fontFamily: '&quot;JetBrains Mono&quot;,&quot;Cascadia Mono&quot;,Consolas,monospace', lineHeight: 1 }}&gt;&#10;                02&#10;            &lt;/Text&gt;&#10;        &lt;/Box&gt;&#10;&#10;        &lt;Box style={{ flex: 1, flexDirection: 'column' }}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五段流水线：写脚本 → 等你确认 → 合成 → 后期 → 打包。能不能跳步，只有一张状态转移表说了算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九个状态、两条回边。服务器崩了重启，它会自己把卡住的任务接上，不会留下一个永远不动的任务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单并发 + 句级缓存：这块卡净可用只有 4.32 GB，峰值 allocated 压到 3551.7 MB。&#10;                &lt;/Text&gt;&#10;            &lt;/Box&gt;&#10;&#10;            &lt;Box style={{ height: 40 }} /&gt;&#10;&#10;            &lt;Box style={{ borderLeft: '2px solid #D9480F', paddingLeft: 14 }}&gt;&#10;                &lt;Text style={{ fontSize: 17, color: '#15171B', lineHeight: 1.6 }}&gt;&#10;                    三条都是为了同一件事：让它在没有余量的机器上，自己把活干完。&#10;                &lt;/Text&gt;&#10;            &lt;/Box&gt;&#10;&#10;        &lt;/Box&gt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7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22669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它凭什么能跑通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401300" y="46672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第二章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02 / 03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这一章的重点不是「用了什么」，是「哪里差点跑不动、怎么绕过去」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28575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D9480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3543300" y="182880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752850" y="170497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五段流水线：写脚本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等你确认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合成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后期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打包。能不能跳步，只有一张状态转移表说了算。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3543300" y="306705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752850" y="294322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九个状态、两条回边。服务器崩了重启，它会自己把卡住的任务接上，不会留下一个永远不动的任务。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3543300" y="430530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752850" y="418147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单并发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句级缓存：这块卡净可用只有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4.32 GB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，峰值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allocated 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压到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3551.7 MB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543300" y="5419725"/>
            <a:ext cx="7981950" cy="314325"/>
          </a:xfrm>
          <a:custGeom>
            <a:pathLst>
              <a:path w="838" h="33">
                <a:moveTo>
                  <a:pt x="0" y="0"/>
                </a:moveTo>
                <a:lnTo>
                  <a:pt x="2" y="0"/>
                </a:lnTo>
                <a:lnTo>
                  <a:pt x="2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695700" y="5419725"/>
            <a:ext cx="7810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三条都是为了同一件事：让它在没有余量的机器上，自己把活干完。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07 / 17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21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上一页讲了流水线有哪五段，这一页讲一次真实的提交，从头到尾发生了什么。&#10;&#10;用户点「新建节目」，填主题、时长、语速、风格，这四样提交上去。后端先做两件事：校验参数，然后在这个用户自己的账号下建一条任务，状态是「待处理」，同时把它丢进只有一个工作线程的队列。注意是排队，不是并行——这块卡同一时间只能跑一路推理。&#10;&#10;队列轮到它了，阶段一开始，状态变成脚本生成中。脚本服务把主题和风格套进提示词模板，调 DeepSeek，拿回一段双人对话。拿回来的东西要先过一遍结构化校验和敏感词，不合格就重试。合格了逐行落库，状态变成「脚本就绪」，等人确认。&#10;&#10;这时候用户可以看一眼，改两句，也可以直接放行。确认之后进阶段二，状态切成合成中。文本先做规范化——多音字、数字、英文缩写都处理掉，再按标点切成一句一句。然后每句单独合成，用说话人切换音色，A 用女声、B 用男声。这里最关键的一条：算完一句立刻存盘，缓存键是八个字段拼出来的哈希。所以中途崩了、或者要重跑，已经算过的句子不会重算。&#10;&#10;全部句子合成完，进阶段三，后期。用 FFmpeg 按标点插停顿、把两个音色拼成一条、做响度归一、再混上片头和片尾。&#10;&#10;最后阶段四打包：导出 mp3、写 RSS 的 XML、更新订阅地址。状态置为完成，历史列表里能看到、能重新下载。&#10;&#10;整条链路上任何一个阶段失败，状态都回落到失败并带上原因，不会卡在半路。这就是为什么前面强调那张状态转移表——每一步能去哪、不能去哪，只有它说了算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一次提交，从头到尾&lt;/Text&gt;&#10;            &lt;Text style={{ fontSize: 13, color: '#6E7480', fontFamily: '&quot;JetBrains Mono&quot;,&quot;Cascadia Mono&quot;,Consolas,monospace', lineHeight: 1.4 }}&gt;02 一期播客的业务全流程&lt;/Text&gt;&#10;        &lt;/Box&gt;&#10;        &lt;Box style={{ flexDirection: 'column' }}&gt;&#10;            &lt;Text style={{ fontSize: 14, color: '#6E7480', lineHeight: 1.5 }}&gt;&#10;                上一页讲「有哪五段」，这一页讲「一次真实提交，每一步的输入输出与状态怎么变」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column', paddingTop: 20 }}&gt;&#10;&#10;        {/* 四个阶段横排 */}&#10;        &lt;Box style={{ flexDirection: 'row', gap: 14 }}&gt;&#10;&#10;            {/* 阶段 1 */}&#10;            &lt;Box style={{ flex: 1, flexDirection: 'column', background: '#EEF0F3', padding: '14px 16px' }}&gt;&#10;                &lt;Box style={{ flexDirection: 'row', alignItems: 'center', justifyContent: 'space-between' }}&gt;&#10;                    &lt;Text style={{ fontSize: 11, fontWeight: 'bold', color: '#FFFFFF', background: '#D9480F', padding: '2px 8px', fontFamily: '&quot;JetBrains Mono&quot;,&quot;Cascadia Mono&quot;,Consolas,monospace' }}&gt;阶段 1&lt;/Text&gt;&#10;                    &lt;Text style={{ fontSize: 11, color: '#5A6069', fontFamily: '&quot;JetBrains Mono&quot;,&quot;Cascadia Mono&quot;,Consolas,monospace' }}&gt;PENDING → SCRIPTING&lt;/Text&gt;&#10;                &lt;/Box&gt;&#10;                &lt;Box style={{ height: 10 }} /&gt;&#10;                &lt;Text style={{ fontSize: 15, fontWeight: 'bold', color: '#15171B', lineHeight: 1.4 }}&gt;写脚本&lt;/Text&gt;&#10;                &lt;Box style={{ height: 8 }} /&gt;&#10;                &lt;Text style={{ fontSize: 12.5, color: '#4B5158', lineHeight: 1.6 }}&gt;&#10;                    四个参数套进提示词模板 → 调 DeepSeek 生成双人对话 → 结构化校验 + 敏感词 → 逐行落库&#10;                &lt;/Text&gt;&#10;                &lt;Box style={{ height: 10 }} /&gt;&#10;                &lt;Text style={{ fontSize: 12, color: '#6E7480', lineHeight: 1.5 }}&gt;&#10;                    &lt;span style={{ fontWeight: 'bold', color: '#15171B' }}&gt;产出：&lt;/span&gt;A / B 对话脚本，状态转 SCRIPT_READY&#10;                &lt;/Text&gt;&#10;            &lt;/Box&gt;&#10;&#10;            {/* 阶段 2 */}&#10;            &lt;Box style={{ flex: 1, flexDirection: 'column', background: '#EEF0F3', padding: '14px 16px' }}&gt;&#10;                &lt;Box style={{ flexDirection: 'row', alignItems: 'center', justifyContent: 'space-between' }}&gt;&#10;                    &lt;Text style={{ fontSize: 11, fontWeight: 'bold', color: '#FFFFFF', background: '#15171B', padding: '2px 8px', fontFamily: '&quot;JetBrains Mono&quot;,&quot;Cascadia Mono&quot;,Consolas,monospace' }}&gt;阶段 2&lt;/Text&gt;&#10;                    &lt;Text style={{ fontSize: 11, color: '#5A6069', fontFamily: '&quot;JetBrains Mono&quot;,&quot;Cascadia Mono&quot;,Consolas,monospace' }}&gt;SYNTHESIZING&lt;/Text&gt;&#10;                &lt;/Box&gt;&#10;                &lt;Box style={{ height: 10 }} /&gt;&#10;                &lt;Text style={{ fontSize: 15, fontWeight: 'bold', color: '#15171B', lineHeight: 1.4 }}&gt;等你确认，再念&lt;/Text&gt;&#10;                &lt;Box style={{ height: 8 }} /&gt;&#10;                &lt;Text style={{ fontSize: 12.5, color: '#4B5158', lineHeight: 1.6 }}&gt;&#10;                    人可以先看脚本、改两句再放行 → 文本规范化（多音字 / 数字 / 英文）→ 按标点切句 → 逐句合成、A 女声 B 男声&#10;                &lt;/Text&gt;&#10;                &lt;Box style={{ height: 10 }} /&gt;&#10;                &lt;Text style={{ fontSize: 12, color: '#6E7480', lineHeight: 1.5 }}&gt;&#10;                    &lt;span style={{ fontWeight: 'bold', color: '#15171B' }}&gt;关键：&lt;/span&gt;算完一句立即落盘，缓存键 8 字段 SHA1&#10;                &lt;/Text&gt;&#10;            &lt;/Box&gt;&#10;&#10;            {/* 阶段 3 */}&#10;            &lt;Box style={{ flex: 1, flexDirection: 'column', background: '#EEF0F3', padding: '14px 16px' }}&gt;&#10;                &lt;Box style={{ flexDirection: 'row', alignItems: 'center', justifyContent: 'space-between' }}&gt;&#10;                    &lt;Text style={{ fontSize: 11, fontWeight: 'bold', color: '#FFFFFF', background: '#15171B', padding: '2px 8px', fontFamily: '&quot;JetBrains Mono&quot;,&quot;Cascadia Mono&quot;,Consolas,monospace' }}&gt;阶段 3&lt;/Text&gt;&#10;                    &lt;Text style={{ fontSize: 11, color: '#5A6069', fontFamily: '&quot;JetBrains Mono&quot;,&quot;Cascadia Mono&quot;,Consolas,monospace' }}&gt;POSTPROCESSING&lt;/Text&gt;&#10;                &lt;/Box&gt;&#10;                &lt;Box style={{ height: 10 }} /&gt;&#10;                &lt;Text style={{ fontSize: 15, fontWeight: 'bold', color: '#15171B', lineHeight: 1.4 }}&gt;后期&lt;/Text&gt;&#10;                &lt;Box style={{ height: 8 }} /&gt;&#10;                &lt;Text style={{ fontSize: 12.5, color: '#4B5158', lineHeight: 1.6 }}&gt;&#10;                    FFmpeg 按标点插停顿 → 双音色拼接 → 响度归一（loudnorm）→ 混入片头片尾&#10;                &lt;/Text&gt;&#10;                &lt;Box style={{ height: 10 }} /&gt;&#10;                &lt;Text style={{ fontSize: 12, color: '#6E7480', lineHeight: 1.5 }}&gt;&#10;                    &lt;span style={{ fontWeight: 'bold', color: '#15171B' }}&gt;注意：&lt;/span&gt;片头片尾必须 zero_shot，禁用 instruct2&#10;                &lt;/Text&gt;&#10;            &lt;/Box&gt;&#10;&#10;            {/* 阶段 4 */}&#10;            &lt;Box style={{ flex: 1, flexDirection: 'column', background: '#EEF0F3', padding: '14px 16px' }}&gt;&#10;                &lt;Box style={{ flexDirection: 'row', alignItems: 'center', justifyContent: 'space-between' }}&gt;&#10;                    &lt;Text style={{ fontSize: 11, fontWeight: 'bold', color: '#FFFFFF', background: '#15171B', padding: '2px 8px', fontFamily: '&quot;JetBrains Mono&quot;,&quot;Cascadia Mono&quot;,Consolas,monospace' }}&gt;阶段 4&lt;/Text&gt;&#10;                    &lt;Text style={{ fontSize: 11, color: '#5A6069', fontFamily: '&quot;JetBrains Mono&quot;,&quot;Cascadia Mono&quot;,Consolas,monospace' }}&gt;PACKAGING → DONE&lt;/Text&gt;&#10;                &lt;/Box&gt;&#10;                &lt;Box style={{ height: 10 }} /&gt;&#10;                &lt;Text style={{ fontSize: 15, fontWeight: 'bold', color: '#15171B', lineHeight: 1.4 }}&gt;打包&lt;/Text&gt;&#10;                &lt;Box style={{ height: 8 }} /&gt;&#10;                &lt;Text style={{ fontSize: 12.5, color: '#4B5158', lineHeight: 1.6 }}&gt;&#10;                    导出 mp3 → 生成 RSS 的 XML → 更新订阅地址 → 历史列表可见、可重新下载&#10;                &lt;/Text&gt;&#10;                &lt;Box style={{ height: 10 }} /&gt;&#10;                &lt;Text style={{ fontSize: 12, color: '#6E7480', lineHeight: 1.5 }}&gt;&#10;                    &lt;span style={{ fontWeight: 'bold', color: '#15171B' }}&gt;产出：&lt;/span&gt;成片 mp3 + RSS，状态终态 DONE&#10;                &lt;/Text&gt;&#10;            &lt;/Box&gt;&#10;&#10;        &lt;/Box&gt;&#10;&#10;        &lt;Box style={{ height: 16 }} /&gt;&#10;&#10;        {/* 底部：三件要说清楚的事 */}&#10;        &lt;Box style={{ height: 1, background: '#15171B', opacity: 0.12 }} /&gt;&#10;        &lt;Box style={{ height: 14 }} /&gt;&#10;&#10;        &lt;Box style={{ flexDirection: 'row', gap: 30 }}&gt;&#10;&#10;            &lt;Box style={{ flex: 1, flexDirection: 'column' }}&gt;&#10;                &lt;Text style={{ fontSize: 13, fontWeight: 'bold', color: '#D9480F', lineHeight: 1.5 }}&gt;为什么是排队，不是并行&lt;/Text&gt;&#10;                &lt;Box style={{ height: 4 }} /&gt;&#10;                &lt;Text style={{ fontSize: 12.5, color: '#4B5158', lineHeight: 1.65 }}&gt;&#10;                    全程只有一个工作线程。4.32 GB 显存只够跑一路推理，第二个任务进来是排队等，不是两个一起抢卡。代价是吞吐低，换来的是不会因为抢显存而双双失败。&#10;                &lt;/Text&gt;&#10;            &lt;/Box&gt;&#10;&#10;            &lt;Box style={{ flex: 1, flexDirection: 'column' }}&gt;&#10;                &lt;Text style={{ fontSize: 13, fontWeight: 'bold', color: '#D9480F', lineHeight: 1.5 }}&gt;为什么每句都要立刻存&lt;/Text&gt;&#10;                &lt;Box style={{ height: 4 }} /&gt;&#10;                &lt;Text style={{ fontSize: 12.5, color: '#4B5158', lineHeight: 1.65 }}&gt;&#10;                    合成是最慢也最容易崩的一段。算完一句马上落盘、缓存键把音色/参考音频指纹/模型版本/种子都拼进去，所以崩溃后重跑只补没算过的句子，不会从头再来。&#10;                &lt;/Text&gt;&#10;            &lt;/Box&gt;&#10;&#10;            &lt;Box style={{ flex: 1, flexDirection: 'column' }}&gt;&#10;                &lt;Text style={{ fontSize: 13, fontWeight: 'bold', color: '#D9480F', lineHeight: 1.5 }}&gt;为什么脚本生成与合成不放进一个事务&lt;/Text&gt;&#10;                &lt;Box style={{ height: 4 }} /&gt;&#10;                &lt;Text style={{ fontSize: 12.5, color: '#4B5158', lineHeight: 1.65 }}&gt;&#10;                    DeepSeek 要外网，本地推理不要。把两者解耦开，网络断了只影响脚本段，合成段的成果不受牵连，任务可以分阶段续跑。&#10;                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8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29146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一次提交，从头到尾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0048875" y="466725"/>
            <a:ext cx="14573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02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一期播客的业务全流程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上一页讲「有哪五段」，这一页讲「一次真实提交，每一步的输入输出与状态怎么变」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1333500"/>
            <a:ext cx="2609850" cy="20574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838200" y="1466850"/>
            <a:ext cx="485775" cy="1714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485775" cy="171450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highlight>
                  <a:srgbClr val="D9480F"/>
                </a:highlight>
                <a:latin typeface="JetBrains Mono"/>
                <a:ea typeface="JetBrains Mono"/>
              </a:rPr>
              <a:t>阶段</a:t>
            </a:r>
            <a:r>
              <a:rPr lang="en-US" sz="825" b="1">
                <a:solidFill>
                  <a:srgbClr val="FFFFFF"/>
                </a:solidFill>
                <a:highlight>
                  <a:srgbClr val="D9480F"/>
                </a:highlight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971675" y="1485900"/>
            <a:ext cx="1171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A6069"/>
                </a:solidFill>
                <a:latin typeface="JetBrains Mono"/>
                <a:ea typeface="JetBrains Mono"/>
              </a:rPr>
              <a:t>PENDING → SCRIPTING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38200" y="1733550"/>
            <a:ext cx="2305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写脚本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38200" y="2057400"/>
            <a:ext cx="23050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四个参数套进提示词模板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调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DeepSeek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生成双人对话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结构化校验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敏感词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逐行落库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2838450"/>
            <a:ext cx="23050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5171B"/>
                </a:solidFill>
                <a:latin typeface="Source Han Sans SC"/>
                <a:ea typeface="Source Han Sans SC"/>
              </a:rPr>
              <a:t>产出：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A / B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对话脚本，状态转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SCRIPT_READY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3429000" y="1333500"/>
            <a:ext cx="2600325" cy="20574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3581400" y="1466850"/>
            <a:ext cx="485775" cy="1714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3581400" y="1466850"/>
            <a:ext cx="485775" cy="171450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>阶段</a:t>
            </a:r>
            <a:r>
              <a:rPr lang="en-US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133975" y="148590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A6069"/>
                </a:solidFill>
                <a:latin typeface="JetBrains Mono"/>
                <a:ea typeface="JetBrains Mono"/>
              </a:rPr>
              <a:t>SYNTHESIZING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581400" y="1733550"/>
            <a:ext cx="2295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等你确认，再念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581400" y="2057400"/>
            <a:ext cx="22955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人可以先看脚本、改两句再放行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文本规范化（多音字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数字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英文）→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按标点切句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逐句合成、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A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女声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B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男声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581400" y="2838450"/>
            <a:ext cx="22955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5171B"/>
                </a:solidFill>
                <a:latin typeface="Source Han Sans SC"/>
                <a:ea typeface="Source Han Sans SC"/>
              </a:rPr>
              <a:t>关键：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算完一句立即落盘，缓存键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8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字段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SHA1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162675" y="1333500"/>
            <a:ext cx="2609850" cy="20574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6315075" y="1466850"/>
            <a:ext cx="485775" cy="1714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315075" y="1466850"/>
            <a:ext cx="485775" cy="171450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>阶段</a:t>
            </a:r>
            <a:r>
              <a:rPr lang="en-US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753350" y="1485900"/>
            <a:ext cx="866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A6069"/>
                </a:solidFill>
                <a:latin typeface="JetBrains Mono"/>
                <a:ea typeface="JetBrains Mono"/>
              </a:rPr>
              <a:t>POSTPROCESSING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315075" y="1733550"/>
            <a:ext cx="2305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后期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315075" y="2057400"/>
            <a:ext cx="23050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FFmpeg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按标点插停顿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双音色拼接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响度归一（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>loudnorm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）→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混入片头片尾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315075" y="2609850"/>
            <a:ext cx="23050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5171B"/>
                </a:solidFill>
                <a:latin typeface="Source Han Sans SC"/>
                <a:ea typeface="Source Han Sans SC"/>
              </a:rPr>
              <a:t>注意：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片头片尾必须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zero_shot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，禁用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instruct2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8905875" y="1333500"/>
            <a:ext cx="2600325" cy="20574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9058275" y="1466850"/>
            <a:ext cx="485775" cy="1714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058275" y="1466850"/>
            <a:ext cx="485775" cy="171450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>阶段</a:t>
            </a:r>
            <a:r>
              <a:rPr lang="en-US" sz="825" b="1">
                <a:solidFill>
                  <a:srgbClr val="FFFFFF"/>
                </a:solidFill>
                <a:highlight>
                  <a:srgbClr val="15171B"/>
                </a:highlight>
                <a:latin typeface="JetBrains Mono"/>
                <a:ea typeface="JetBrains Mono"/>
              </a:rPr>
              <a:t xml:space="preserve"> 4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363200" y="148590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A6069"/>
                </a:solidFill>
                <a:latin typeface="JetBrains Mono"/>
                <a:ea typeface="JetBrains Mono"/>
              </a:rPr>
              <a:t>PACKAGING → DONE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058275" y="1733550"/>
            <a:ext cx="22955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打包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058275" y="2057400"/>
            <a:ext cx="22955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导出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mp3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生成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RSS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的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XML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更新订阅地址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历史列表可见、可重新下载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058275" y="2609850"/>
            <a:ext cx="22955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5171B"/>
                </a:solidFill>
                <a:latin typeface="Source Han Sans SC"/>
                <a:ea typeface="Source Han Sans SC"/>
              </a:rPr>
              <a:t>产出：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成片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mp3 + RSS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，状态终态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DONE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85800" y="3686175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D9480F"/>
                </a:solidFill>
                <a:latin typeface="Source Han Sans SC"/>
                <a:ea typeface="Source Han Sans SC"/>
              </a:rPr>
              <a:t>为什么是排队，不是并行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85800" y="3952875"/>
            <a:ext cx="341947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全程只有一个工作线程。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4.32 GB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显存只够跑一路推理，第二个任务进来是排队等，不是两个一起抢卡。代价是吞吐低，换来的是不会因为抢显存而双双失败。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391025" y="3686175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D9480F"/>
                </a:solidFill>
                <a:latin typeface="Source Han Sans SC"/>
                <a:ea typeface="Source Han Sans SC"/>
              </a:rPr>
              <a:t>为什么每句都要立刻存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4391025" y="3952875"/>
            <a:ext cx="3409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合成是最慢也最容易崩的一段。算完一句马上落盘、缓存键把音色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参考音频指纹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模型版本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种子都拼进去，所以崩溃后重跑只补没算过的句子，不会从头再来。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086725" y="3686175"/>
            <a:ext cx="34194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D9480F"/>
                </a:solidFill>
                <a:latin typeface="Source Han Sans SC"/>
                <a:ea typeface="Source Han Sans SC"/>
              </a:rPr>
              <a:t>为什么脚本生成与合成不放进一个事务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086725" y="3952875"/>
            <a:ext cx="34194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DeepSeek 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要外网，本地推理不要。把两者解耦开，网络断了只影响脚本段，合成段的成果不受牵连，任务可以分阶段续跑。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08 / 17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85800" y="3543300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65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张图是整条链路：写脚本、等你确认、合成、后期、打包，五段接力。&#10;&#10;我想重点说的是图里没画出来的那个东西——状态机。一开始我会在各个函数里自己判断「现在到哪一步了、下一步能不能走」，后来发现这样一定会漏。现在只有一个地方定义状态转移，别的地方想跳步，直接拒绝。&#10;&#10;这么改不是为了代码好看，是因为能救命。服务器一崩，卡在合成阶段的任务原本会永远停在那儿不动；现在启动的时候会扫一遍，凡是没走到终态的，要么拉回去重跑，要么明确判失败。&#10;&#10;这一条我是踩了坑才补上的。大概在第十二天，我连续两次意外断掉服务，才发现有一批任务再也不会动了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五段流水线，状态机说了算&lt;/Text&gt;&#10;            &lt;Text style={{ fontSize: 13, color: '#6E7480', fontFamily: '&quot;JetBrains Mono&quot;,&quot;Cascadia Mono&quot;,Consolas,monospace', lineHeight: 1.4 }}&gt;02 它凭什么能跑通&lt;/Text&gt;&#10;        &lt;/Box&gt;&#10;        &lt;Box style={{ flexDirection: 'column' }}&gt;&#10;            &lt;Text style={{ fontSize: 14, color: '#6E7480', lineHeight: 1.5 }}&gt;&#10;                状态转移只在一个文件里定义，别处想跳步会被拒绝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8, paddingBottom: 24 }}&gt;&#10;&#10;        {/* 左栏：流水线 */}&#10;        &lt;Box style={{ width: 640, flexDirection: 'column', justifyContent: 'center', paddingRight: 48 }}&gt;&#10;&#10;            &lt;Box style={{ flexDirection: 'row', alignItems: 'center', gap: 16 }}&gt;&#10;                &lt;Box style={{ width: 32, height: 32, background: '#D9480F', alignItems: 'center', justifyContent: 'center' }}&gt;&#10;                    &lt;Text style={{ fontSize: 16, fontWeight: 'bold', color: '#FFFFFF', fontFamily: '&quot;JetBrains Mono&quot;,&quot;Cascadia Mono&quot;,Consolas,monospace' }}&gt;1&lt;/Text&gt;&#10;                &lt;/Box&gt;&#10;                &lt;Box style={{ flex: 1, flexDirection: 'row', alignItems: 'center', gap: 14 }}&gt;&#10;                    &lt;Text style={{ fontSize: 19, fontWeight: 'bold', color: '#15171B' }}&gt;脚本生成&lt;/Text&gt;&#10;                    &lt;Text style={{ fontSize: 14, color: '#6E7480' }}&gt;DeepSeek 写 A / B 对话，逐行落库&lt;/Text&gt;&#10;                &lt;/Box&gt;&#10;            &lt;/Box&gt;&#10;            &lt;Box style={{ width: 2, height: 18, background: '#15171B', opacity: 0.18, marginLeft: 15 }} /&gt;&#10;&#10;            &lt;Box style={{ flexDirection: 'row', alignItems: 'center', gap: 16 }}&gt;&#10;                &lt;Box style={{ width: 32, height: 32, background: '#15171B', alignItems: 'center', justifyContent: 'center' }}&gt;&#10;                    &lt;Text style={{ fontSize: 16, fontWeight: 'bold', color: '#FFFFFF', fontFamily: '&quot;JetBrains Mono&quot;,&quot;Cascadia Mono&quot;,Consolas,monospace' }}&gt;2&lt;/Text&gt;&#10;                &lt;/Box&gt;&#10;                &lt;Box style={{ flex: 1, flexDirection: 'row', alignItems: 'center', gap: 14 }}&gt;&#10;                    &lt;Text style={{ fontSize: 19, fontWeight: 'bold', color: '#15171B' }}&gt;等你确认&lt;/Text&gt;&#10;                    &lt;Text style={{ fontSize: 14, color: '#6E7480' }}&gt;脚本先给你看，能改、能退&lt;/Text&gt;&#10;                &lt;/Box&gt;&#10;            &lt;/Box&gt;&#10;            &lt;Box style={{ width: 2, height: 18, background: '#15171B', opacity: 0.18, marginLeft: 15 }} /&gt;&#10;&#10;            &lt;Box style={{ flexDirection: 'row', alignItems: 'center', gap: 16 }}&gt;&#10;                &lt;Box style={{ width: 32, height: 32, background: '#15171B', alignItems: 'center', justifyContent: 'center' }}&gt;&#10;                    &lt;Text style={{ fontSize: 16, fontWeight: 'bold', color: '#FFFFFF', fontFamily: '&quot;JetBrains Mono&quot;,&quot;Cascadia Mono&quot;,Consolas,monospace' }}&gt;3&lt;/Text&gt;&#10;                &lt;/Box&gt;&#10;                &lt;Box style={{ flex: 1, flexDirection: 'row', alignItems: 'center', gap: 14 }}&gt;&#10;                    &lt;Text style={{ fontSize: 19, fontWeight: 'bold', color: '#15171B' }}&gt;合成&lt;/Text&gt;&#10;                    &lt;Text style={{ fontSize: 14, color: '#6E7480' }}&gt;CosyVoice 逐句念，算完一句存一句&lt;/Text&gt;&#10;                &lt;/Box&gt;&#10;            &lt;/Box&gt;&#10;            &lt;Box style={{ width: 2, height: 18, background: '#15171B', opacity: 0.18, marginLeft: 15 }} /&gt;&#10;&#10;            &lt;Box style={{ flexDirection: 'row', alignItems: 'center', gap: 16 }}&gt;&#10;                &lt;Box style={{ width: 32, height: 32, background: '#15171B', alignItems: 'center', justifyContent: 'center' }}&gt;&#10;                    &lt;Text style={{ fontSize: 16, fontWeight: 'bold', color: '#FFFFFF', fontFamily: '&quot;JetBrains Mono&quot;,&quot;Cascadia Mono&quot;,Consolas,monospace' }}&gt;4&lt;/Text&gt;&#10;                &lt;/Box&gt;&#10;                &lt;Box style={{ flex: 1, flexDirection: 'row', alignItems: 'center', gap: 14 }}&gt;&#10;                    &lt;Text style={{ fontSize: 19, fontWeight: 'bold', color: '#15171B' }}&gt;后期&lt;/Text&gt;&#10;                    &lt;Text style={{ fontSize: 14, color: '#6E7480' }}&gt;停顿、拼接、响度归一、片头片尾&lt;/Text&gt;&#10;                &lt;/Box&gt;&#10;            &lt;/Box&gt;&#10;            &lt;Box style={{ width: 2, height: 18, background: '#15171B', opacity: 0.18, marginLeft: 15 }} /&gt;&#10;&#10;            &lt;Box style={{ flexDirection: 'row', alignItems: 'center', gap: 16 }}&gt;&#10;                &lt;Box style={{ width: 32, height: 32, background: '#15171B', alignItems: 'center', justifyContent: 'center' }}&gt;&#10;                    &lt;Text style={{ fontSize: 16, fontWeight: 'bold', color: '#FFFFFF', fontFamily: '&quot;JetBrains Mono&quot;,&quot;Cascadia Mono&quot;,Consolas,monospace' }}&gt;5&lt;/Text&gt;&#10;                &lt;/Box&gt;&#10;                &lt;Box style={{ flex: 1, flexDirection: 'row', alignItems: 'center', gap: 14 }}&gt;&#10;                    &lt;Text style={{ fontSize: 19, fontWeight: 'bold', color: '#15171B' }}&gt;打包&lt;/Text&gt;&#10;                    &lt;Text style={{ fontSize: 14, color: '#6E7480' }}&gt;导出 mp3、写 RSS、进订阅源&lt;/Text&gt;&#10;                &lt;/Box&gt;&#10;            &lt;/Box&gt;&#10;&#10;            &lt;Box style={{ height: 20 }} /&gt;&#10;            &lt;Box style={{ height: 1, background: '#15171B', opacity: 0.12 }} /&gt;&#10;            &lt;Box style={{ height: 12 }} /&gt;&#10;            &lt;Text style={{ fontSize: 12, color: '#6E7480', fontFamily: '&quot;JetBrains Mono&quot;,&quot;Cascadia Mono&quot;,Consolas,monospace', lineHeight: 1.7 }}&gt;&#10;                9 个状态：PENDING · SCRIPTING · SCRIPT_READY · SYNTHESIZING&lt;br /&gt;POSTPROCESSING · PACKAGING · DONE · FAILED · CANCELED&#10;            &lt;/Text&gt;&#10;&#10;        &lt;/Box&gt;&#10;&#10;        {/* 右栏：为什么 */}&#10;        &lt;Box style={{ flex: 1, flexDirection: 'column' }}&gt;&#10;&#10;            &lt;Text style={{ fontSize: 22, fontWeight: 'bold', color: '#15171B', lineHeight: 1.35 }}&gt;&#10;                为什么非要这么做&#10;            &lt;/Text&gt;&#10;            &lt;Box style={{ height: 14 }} /&gt;&#10;            &lt;Text style={{ fontSize: 17, color: '#4B5158', lineHeight: 1.75 }}&gt;&#10;                能不能从这一步跳到那一步，不是各处代码各写一套判断 —— 只有一张状态转移表说了算。代码想硬跳，会被直接拒绝。&#10;            &lt;/Text&gt;&#10;            &lt;Box style={{ height: 18 }} /&gt;&#10;            &lt;Text style={{ fontSize: 17, color: '#4B5158', lineHeight: 1.75 }}&gt;&#10;                好处不是「优雅」，是断了能接上。服务一崩，卡在合成阶段的任务原本会永远停在那儿；现在启动时会扫一遍非终态任务，该拉回脚本阶段的重跑，该判失败的判失败。&#10;            &lt;/Text&gt;&#10;            &lt;Box style={{ height: 20 }} /&gt;&#10;            &lt;Box style={{ borderLeft: '2px solid #D9480F', paddingLeft: 14 }}&gt;&#10;                &lt;Text style={{ fontSize: 17, color: '#15171B', lineHeight: 1.6 }}&gt;&#10;                    这条是踩坑之后才补的 —— 补之前，一次意外断服务就留下一批不会动的任务。&#10;                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09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8862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五段流水线，状态机说了算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02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它凭什么能跑通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状态转移只在一个文件里定义，别处想跳步会被拒绝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85800" y="2238375"/>
            <a:ext cx="304800" cy="30480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90575" y="2295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43000" y="22860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171B"/>
                </a:solidFill>
                <a:latin typeface="Source Han Sans SC"/>
                <a:ea typeface="Source Han Sans SC"/>
              </a:rPr>
              <a:t>脚本生成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2000250" y="2314575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DeepSeek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写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A / B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对话，逐行落库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85800" y="2714625"/>
            <a:ext cx="304800" cy="3048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90575" y="27717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143000" y="27622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171B"/>
                </a:solidFill>
                <a:latin typeface="Source Han Sans SC"/>
                <a:ea typeface="Source Han Sans SC"/>
              </a:rPr>
              <a:t>等你确认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2000250" y="27908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脚本先给你看，能改、能退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85800" y="3190875"/>
            <a:ext cx="304800" cy="3048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90575" y="3248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143000" y="32385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171B"/>
                </a:solidFill>
                <a:latin typeface="Source Han Sans SC"/>
                <a:ea typeface="Source Han Sans SC"/>
              </a:rPr>
              <a:t>合成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638300" y="3267075"/>
            <a:ext cx="2162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CosyVoice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逐句念，算完一句存一句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5800" y="3667125"/>
            <a:ext cx="304800" cy="3048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90575" y="37242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43000" y="37147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171B"/>
                </a:solidFill>
                <a:latin typeface="Source Han Sans SC"/>
                <a:ea typeface="Source Han Sans SC"/>
              </a:rPr>
              <a:t>后期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638300" y="37433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停顿、拼接、响度归一、片头片尾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85800" y="4143375"/>
            <a:ext cx="304800" cy="3048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90575" y="42005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143000" y="4191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5171B"/>
                </a:solidFill>
                <a:latin typeface="Source Han Sans SC"/>
                <a:ea typeface="Source Han Sans SC"/>
              </a:rPr>
              <a:t>打包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638300" y="4219575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导出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mp3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、写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RSS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、进订阅源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85800" y="4762500"/>
            <a:ext cx="56388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E7480"/>
                </a:solidFill>
                <a:latin typeface="JetBrains Mono"/>
                <a:ea typeface="JetBrains Mono"/>
              </a:rPr>
              <a:t xml:space="preserve">9 </a:t>
            </a:r>
            <a:r>
              <a:rPr lang="zh-CN" sz="900">
                <a:solidFill>
                  <a:srgbClr val="6E7480"/>
                </a:solidFill>
                <a:latin typeface="JetBrains Mono"/>
                <a:ea typeface="JetBrains Mono"/>
              </a:rPr>
              <a:t>个状态：</a:t>
            </a:r>
            <a:r>
              <a:rPr lang="en-US" sz="900">
                <a:solidFill>
                  <a:srgbClr val="6E7480"/>
                </a:solidFill>
                <a:latin typeface="JetBrains Mono"/>
                <a:ea typeface="JetBrains Mono"/>
              </a:rPr>
              <a:t>PENDING · SCRIPTING · SCRIPT_READY · SYNTHESIZING</a:t>
            </a:r>
            <a:endParaRPr/>
          </a:p>
          <a:p>
            <a:pPr>
              <a:lnSpc>
                <a:spcPct val="170000"/>
              </a:lnSpc>
            </a:pPr>
            <a:r>
              <a:rPr lang="en-US" sz="900">
                <a:solidFill>
                  <a:srgbClr val="6E7480"/>
                </a:solidFill>
                <a:latin typeface="JetBrains Mono"/>
                <a:ea typeface="JetBrains Mono"/>
              </a:rPr>
              <a:t>POSTPROCESSING · PACKAGING · DONE · FAILED · CANCELED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781800" y="1409700"/>
            <a:ext cx="47244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15171B"/>
                </a:solidFill>
                <a:latin typeface="Source Han Sans SC"/>
                <a:ea typeface="Source Han Sans SC"/>
              </a:rPr>
              <a:t>为什么非要这么做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781800" y="1885950"/>
            <a:ext cx="47244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B5158"/>
                </a:solidFill>
                <a:latin typeface="Source Han Sans SC"/>
                <a:ea typeface="Source Han Sans SC"/>
              </a:rPr>
              <a:t>能不能从这一步跳到那一步，不是各处代码各写一套判断</a:t>
            </a:r>
            <a:r>
              <a:rPr lang="en-US" sz="12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275">
                <a:solidFill>
                  <a:srgbClr val="4B5158"/>
                </a:solidFill>
                <a:latin typeface="Source Han Sans SC"/>
                <a:ea typeface="Source Han Sans SC"/>
              </a:rPr>
              <a:t>只有一张状态转移表说了算。代码想硬跳，会被直接拒绝。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781800" y="2743200"/>
            <a:ext cx="47244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B5158"/>
                </a:solidFill>
                <a:latin typeface="Source Han Sans SC"/>
                <a:ea typeface="Source Han Sans SC"/>
              </a:rPr>
              <a:t>好处不是「优雅」，是断了能接上。服务一崩，卡在合成阶段的任务原本会永远停在那儿；现在启动时会扫一遍非终态任务，该拉回脚本阶段的重跑，该判失败的判失败。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781800" y="3962400"/>
            <a:ext cx="4743450" cy="628650"/>
          </a:xfrm>
          <a:custGeom>
            <a:pathLst>
              <a:path w="498" h="66">
                <a:moveTo>
                  <a:pt x="0" y="0"/>
                </a:moveTo>
                <a:lnTo>
                  <a:pt x="2" y="0"/>
                </a:lnTo>
                <a:lnTo>
                  <a:pt x="2" y="66"/>
                </a:lnTo>
                <a:lnTo>
                  <a:pt x="0" y="66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934200" y="3962400"/>
            <a:ext cx="4572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这条是踩坑之后才补的</a:t>
            </a:r>
            <a:r>
              <a:rPr lang="en-US" sz="127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补之前，一次意外断服务就留下一批不会动的任务。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09 / 17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828675" y="2543175"/>
            <a:ext cx="19050" cy="171450"/>
          </a:xfrm>
          <a:prstGeom prst="rect">
            <a:avLst/>
          </a:prstGeom>
          <a:solidFill>
            <a:srgbClr val="15171B">
              <a:alpha val="18000"/>
            </a:srgbClr>
          </a:solidFill>
          <a:ln/>
        </p:spPr>
        <p:txBody>
          <a:bodyPr/>
          <a:p/>
        </p:txBody>
      </p:sp>
      <p:sp>
        <p:nvSpPr>
          <p:cNvPr id="601" name=""/>
          <p:cNvSpPr/>
          <p:nvPr/>
        </p:nvSpPr>
        <p:spPr>
          <a:xfrm rot="0" flipH="0" flipV="0">
            <a:off x="828675" y="3019425"/>
            <a:ext cx="19050" cy="171450"/>
          </a:xfrm>
          <a:prstGeom prst="rect">
            <a:avLst/>
          </a:prstGeom>
          <a:solidFill>
            <a:srgbClr val="15171B">
              <a:alpha val="18000"/>
            </a:srgbClr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828675" y="3495675"/>
            <a:ext cx="19050" cy="171450"/>
          </a:xfrm>
          <a:prstGeom prst="rect">
            <a:avLst/>
          </a:prstGeom>
          <a:solidFill>
            <a:srgbClr val="15171B">
              <a:alpha val="18000"/>
            </a:srgbClr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828675" y="3971925"/>
            <a:ext cx="19050" cy="171450"/>
          </a:xfrm>
          <a:prstGeom prst="rect">
            <a:avLst/>
          </a:prstGeom>
          <a:solidFill>
            <a:srgbClr val="15171B">
              <a:alpha val="18000"/>
            </a:srgbClr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685800" y="4638675"/>
            <a:ext cx="5638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讲我认为最难的一件事：机器不够用。&#10;&#10;这块卡标称 6 G，系统自己先占掉 1 G，净可用只剩 4.32 G，也就是四千四百二十四兆。任务书里建议 8 G 起步，我差了将近一半。这个差值不是靠调参抹平的，是靠三个很笨的办法。&#10;&#10;第一，一次只干一件事。并发设成 1，再用一个显存互斥锁保证第二个任务进来是排队，不是两个一起抢卡。第二，干过的句子不重干。每句合成完就存起来，缓存键是八个字段拼出来的哈希——音色、参考音频的指纹、模型版本、随机种子、文本本身都在里面。第三，能搬走的搬走，把编码器放到 CPU 上跑，显存留给真正的推理。&#10;&#10;结果是峰值 allocated 三千五百五十一兆，门槛三千六，三次采样都没超。但我要如实说一个例外：有一次文本生成没收敛，那一次解码把 reserved 顶到了四千二百一十二兆，越过四千二的门槛十二兆。显存这一侧，我没有完全闭环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4.32 GB 显存，怎么扛住的&lt;/Text&gt;&#10;            &lt;Text style={{ fontSize: 13, color: '#6E7480', fontFamily: '&quot;JetBrains Mono&quot;,&quot;Cascadia Mono&quot;,Consolas,monospace', lineHeight: 1.4 }}&gt;02 它凭什么能跑通&lt;/Text&gt;&#10;        &lt;/Box&gt;&#10;        &lt;Box style={{ flexDirection: 'column' }}&gt;&#10;            &lt;Text style={{ fontSize: 14, color: '#6E7480', lineHeight: 1.5 }}&gt;&#10;                显存两条口径必须一起报：allocated（≤ 3600）与 reserved（≤ 4200），单位 MiB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30 }}&gt;&#10;&#10;        {/* 左栏：显存刻度（分段宽之和 = 654） */}&#10;        &lt;Box style={{ width: 700, flexDirection: 'column', paddingRight: 46 }}&gt;&#10;&#10;            &lt;Text style={{ fontSize: 14, color: '#4B5158', lineHeight: 1.7 }}&gt;&#10;                任务书建议 8 GB 起步，这块卡净可用只有 4424 MiB —— 差了将近一半。这个差值不是靠调参抹平的。&#10;            &lt;/Text&gt;&#10;            &lt;Box style={{ height: 26 }} /&gt;&#10;&#10;            {/* 刻度条 */}&#10;            &lt;Box style={{ flexDirection: 'row', alignItems: 'flex-end' }}&gt;&#10;                &lt;Box style={{ width: 523, height: 76, background: '#15171B', justifyContent: 'center', paddingLeft: 12 }}&gt;&#10;                    &lt;Text style={{ fontSize: 13, color: '#FFFFFF', fontFamily: '&quot;JetBrains Mono&quot;,&quot;Cascadia Mono&quot;,Consolas,monospace' }}&gt;allocated 峰值 3512 / 3516.3 / 3551.7&lt;/Text&gt;&#10;                &lt;/Box&gt;&#10;                &lt;Box style={{ width: 2, height: 110, background: '#D9480F' }} /&gt;&#10;                &lt;Box style={{ width: 87, height: 76, background: '#15171B', opacity: 0.07 }} /&gt;&#10;                &lt;Box style={{ width: 2, height: 110, background: '#D9480F' }} /&gt;&#10;                &lt;Box style={{ width: 40, height: 76, background: '#D9480F', opacity: 0.3 }} /&gt;&#10;            &lt;/Box&gt;&#10;&#10;            {/* 门槛数值（右端与门槛线对齐） */}&#10;            &lt;Box style={{ flexDirection: 'row' }}&gt;&#10;                &lt;Box style={{ width: 525, flexDirection: 'row', justifyContent: 'flex-end', paddingRight: 4 }}&gt;&#10;                    &lt;Text style={{ fontSize: 12, color: '#D9480F', fontFamily: '&quot;JetBrains Mono&quot;,&quot;Cascadia Mono&quot;,Consolas,monospace' }}&gt;3600&lt;/Text&gt;&#10;                &lt;/Box&gt;&#10;                &lt;Box style={{ width: 87, flexDirection: 'row', justifyContent: 'flex-end', paddingRight: 4 }}&gt;&#10;                    &lt;Text style={{ fontSize: 12, color: '#D9480F', fontFamily: '&quot;JetBrains Mono&quot;,&quot;Cascadia Mono&quot;,Consolas,monospace' }}&gt;4200&lt;/Text&gt;&#10;                &lt;/Box&gt;&#10;                &lt;Box style={{ width: 2 }} /&gt;&#10;                &lt;Box style={{ width: 40 }} /&gt;&#10;            &lt;/Box&gt;&#10;&#10;            &lt;Box style={{ height: 8 }} /&gt;&#10;            &lt;Text style={{ fontSize: 12, color: '#6E7480', fontFamily: '&quot;JetBrains Mono&quot;,&quot;Cascadia Mono&quot;,Consolas,monospace' }}&gt;&#10;                0 ·············· 刻度 0 → 4500 MiB ·············· 4500&#10;            &lt;/Text&gt;&#10;&#10;            &lt;Box style={{ height: 24 }} /&gt;&#10;            &lt;Box style={{ height: 1, background: '#15171B', opacity: 0.12 }} /&gt;&#10;            &lt;Box style={{ height: 18 }} /&gt;&#10;&#10;            &lt;Box style={{ flexDirection: 'row', alignItems: 'flex-start', gap: 12 }}&gt;&#10;                &lt;Box style={{ width: 12, height: 12, background: '#15171B', marginTop: 3 }} /&gt;&#10;                &lt;Text style={{ fontSize: 14, color: '#4B5158', lineHeight: 1.6 }}&gt;&#10;                    allocated 峰值 3512 / 3516.3 / 3551.7 MiB —— 门槛 3600，三次采样都没超&#10;                &lt;/Text&gt;&#10;            &lt;/Box&gt;&#10;            &lt;Box style={{ height: 14 }} /&gt;&#10;            &lt;Box style={{ flexDirection: 'row', alignItems: 'flex-start', gap: 12 }}&gt;&#10;                &lt;Box style={{ width: 12, height: 12, background: '#15171B', opacity: 0.07, marginTop: 3 }} /&gt;&#10;                &lt;Text style={{ fontSize: 14, color: '#4B5158', lineHeight: 1.6 }}&gt;&#10;                    reserved 峰值（收敛句）3978 / 4000 / 4046 MiB —— 门槛 4200，没超&#10;                &lt;/Text&gt;&#10;            &lt;/Box&gt;&#10;            &lt;Box style={{ height: 14 }} /&gt;&#10;            &lt;Box style={{ flexDirection: 'row', alignItems: 'flex-start', gap: 12 }}&gt;&#10;                &lt;Box style={{ width: 12, height: 12, background: '#D9480F', opacity: 0.4, marginTop: 3 }} /&gt;&#10;                &lt;Text style={{ fontSize: 14, color: '#D9480F', lineHeight: 1.6 }}&gt;&#10;                    撞顶句单次解码 4212 MiB —— 越过 4200 门槛，全文唯一一次越线&#10;                &lt;/Text&gt;&#10;            &lt;/Box&gt;&#10;&#10;        &lt;/Box&gt;&#10;&#10;        {/* 右栏：三条解法 */}&#10;        &lt;Box style={{ flex: 1, flexDirection: 'column' }}&gt;&#10;&#10;            &lt;Text style={{ fontSize: 20, fontWeight: 'bold', color: '#15171B', lineHeight: 1.35 }}&gt;&#10;                不够用，就靠三个笨办法&#10;            &lt;/Text&gt;&#10;            &lt;Box style={{ height: 18 }} /&gt;&#10;&#10;            &lt;Text style={{ fontSize: 16, fontWeight: 'bold', color: '#15171B', lineHeight: 1.5 }}&gt;一、一次只干一件事&lt;/Text&gt;&#10;            &lt;Box style={{ height: 4 }} /&gt;&#10;            &lt;Text style={{ fontSize: 14, color: '#4B5158', lineHeight: 1.65 }}&gt;&#10;                并发固定为 1，再加一把显存互斥锁。第二个任务进来是排队，不是两个一起抢卡。&#10;            &lt;/Text&gt;&#10;            &lt;Box style={{ height: 16 }} /&gt;&#10;&#10;            &lt;Text style={{ fontSize: 16, fontWeight: 'bold', color: '#15171B', lineHeight: 1.5 }}&gt;二、干过的句子不重干&lt;/Text&gt;&#10;            &lt;Box style={{ height: 4 }} /&gt;&#10;            &lt;Text style={{ fontSize: 14, color: '#4B5158', lineHeight: 1.65 }}&gt;&#10;                每句合成完就落盘。缓存键是八个字段拼的哈希：音色、参考音频指纹、模型版本、种子全在里面。&#10;            &lt;/Text&gt;&#10;            &lt;Box style={{ height: 16 }} /&gt;&#10;&#10;            &lt;Text style={{ fontSize: 16, fontWeight: 'bold', color: '#15171B', lineHeight: 1.5 }}&gt;三、能搬走的搬走&lt;/Text&gt;&#10;            &lt;Box style={{ height: 4 }} /&gt;&#10;            &lt;Text style={{ fontSize: 14, color: '#4B5158', lineHeight: 1.65 }}&gt;&#10;                fp16 推理，编码器改走 ONNX 在 CPU 上跑，显存留给真正吃显存的那一步。&#10;            &lt;/Text&gt;&#10;&#10;            &lt;Box style={{ height: 22 }} /&gt;&#10;            &lt;Box style={{ borderLeft: '2px solid #D9480F', paddingLeft: 12 }}&gt;&#10;                &lt;Text style={{ fontSize: 15, color: '#15171B', lineHeight: 1.6 }}&gt;&#10;                    差值不是调参抹平的，是「一次只干一件事 + 不重干」换来的。&#10;                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0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9528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4.32 GB </a:t>
            </a: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显存，怎么扛住的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02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它凭什么能跑通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显存两条口径必须一起报：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>allocated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（≤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3600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）与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reserved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（≤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4200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），单位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MiB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1428750"/>
            <a:ext cx="622935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任务书建议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8 GB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起步，这块卡净可用只有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4424 MiB ——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差了将近一半。这个差值不是靠调参抹平的。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5800" y="2276475"/>
            <a:ext cx="4981575" cy="7239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4867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JetBrains Mono"/>
                <a:ea typeface="JetBrains Mono"/>
              </a:rPr>
              <a:t xml:space="preserve">allocated </a:t>
            </a:r>
            <a:r>
              <a:rPr lang="zh-CN" sz="975">
                <a:solidFill>
                  <a:srgbClr val="FFFFFF"/>
                </a:solidFill>
                <a:latin typeface="JetBrains Mono"/>
                <a:ea typeface="JetBrains Mono"/>
              </a:rPr>
              <a:t>峰值</a:t>
            </a:r>
            <a:r>
              <a:rPr lang="en-US" sz="975">
                <a:solidFill>
                  <a:srgbClr val="FFFFFF"/>
                </a:solidFill>
                <a:latin typeface="JetBrains Mono"/>
                <a:ea typeface="JetBrains Mono"/>
              </a:rPr>
              <a:t xml:space="preserve"> 3512 / 3516.3 / 3551.7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667375" y="1952625"/>
            <a:ext cx="19050" cy="10477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515100" y="1952625"/>
            <a:ext cx="19050" cy="10477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372100" y="3000375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480F"/>
                </a:solidFill>
                <a:latin typeface="JetBrains Mono"/>
                <a:ea typeface="JetBrains Mono"/>
              </a:rPr>
              <a:t>3600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200775" y="3000375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480F"/>
                </a:solidFill>
                <a:latin typeface="JetBrains Mono"/>
                <a:ea typeface="JetBrains Mono"/>
              </a:rPr>
              <a:t>4200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3219450"/>
            <a:ext cx="622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E7480"/>
                </a:solidFill>
                <a:latin typeface="JetBrains Mono"/>
                <a:ea typeface="JetBrains Mono"/>
              </a:rPr>
              <a:t xml:space="preserve">0 ·············· </a:t>
            </a:r>
            <a:r>
              <a:rPr lang="zh-CN" sz="900">
                <a:solidFill>
                  <a:srgbClr val="6E7480"/>
                </a:solidFill>
                <a:latin typeface="JetBrains Mono"/>
                <a:ea typeface="JetBrains Mono"/>
              </a:rPr>
              <a:t>刻度</a:t>
            </a:r>
            <a:r>
              <a:rPr lang="en-US" sz="900">
                <a:solidFill>
                  <a:srgbClr val="6E7480"/>
                </a:solidFill>
                <a:latin typeface="JetBrains Mono"/>
                <a:ea typeface="JetBrains Mono"/>
              </a:rPr>
              <a:t xml:space="preserve"> 0 → 4500 MiB ·············· 4500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5800" y="3800475"/>
            <a:ext cx="114300" cy="1143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14400" y="3771900"/>
            <a:ext cx="4705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allocated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峰值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3512 / 3516.3 / 3551.7 MiB ——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门槛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3600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，三次采样都没超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14400" y="4162425"/>
            <a:ext cx="44100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reserved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峰值（收敛句）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3978 / 4000 / 4046 MiB ——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门槛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4200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，没超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14400" y="4552950"/>
            <a:ext cx="40671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9480F"/>
                </a:solidFill>
                <a:latin typeface="Source Han Sans SC"/>
                <a:ea typeface="Source Han Sans SC"/>
              </a:rPr>
              <a:t>撞顶句单次解码</a:t>
            </a:r>
            <a:r>
              <a:rPr lang="en-US" sz="1050">
                <a:solidFill>
                  <a:srgbClr val="D9480F"/>
                </a:solidFill>
                <a:latin typeface="Source Han Sans SC"/>
                <a:ea typeface="Source Han Sans SC"/>
              </a:rPr>
              <a:t xml:space="preserve"> 4212 MiB —— </a:t>
            </a:r>
            <a:r>
              <a:rPr lang="zh-CN" sz="1050">
                <a:solidFill>
                  <a:srgbClr val="D9480F"/>
                </a:solidFill>
                <a:latin typeface="Source Han Sans SC"/>
                <a:ea typeface="Source Han Sans SC"/>
              </a:rPr>
              <a:t>越过</a:t>
            </a:r>
            <a:r>
              <a:rPr lang="en-US" sz="1050">
                <a:solidFill>
                  <a:srgbClr val="D9480F"/>
                </a:solidFill>
                <a:latin typeface="Source Han Sans SC"/>
                <a:ea typeface="Source Han Sans SC"/>
              </a:rPr>
              <a:t xml:space="preserve"> 4200 </a:t>
            </a:r>
            <a:r>
              <a:rPr lang="zh-CN" sz="1050">
                <a:solidFill>
                  <a:srgbClr val="D9480F"/>
                </a:solidFill>
                <a:latin typeface="Source Han Sans SC"/>
                <a:ea typeface="Source Han Sans SC"/>
              </a:rPr>
              <a:t>门槛，全文唯一一次越线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353300" y="1428750"/>
            <a:ext cx="41529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不够用，就靠三个笨办法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353300" y="191452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5171B"/>
                </a:solidFill>
                <a:latin typeface="Source Han Sans SC"/>
                <a:ea typeface="Source Han Sans SC"/>
              </a:rPr>
              <a:t>一、一次只干一件事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353300" y="2228850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并发固定为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1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，再加一把显存互斥锁。第二个任务进来是排队，不是两个一起抢卡。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353300" y="2914650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5171B"/>
                </a:solidFill>
                <a:latin typeface="Source Han Sans SC"/>
                <a:ea typeface="Source Han Sans SC"/>
              </a:rPr>
              <a:t>二、干过的句子不重干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353300" y="3228975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每句合成完就落盘。缓存键是八个字段拼的哈希：音色、参考音频指纹、模型版本、种子全在里面。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353300" y="391477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15171B"/>
                </a:solidFill>
                <a:latin typeface="Source Han Sans SC"/>
                <a:ea typeface="Source Han Sans SC"/>
              </a:rPr>
              <a:t>三、能搬走的搬走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353300" y="4229100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fp16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推理，编码器改走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ONNX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在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CPU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上跑，显存留给真正吃显存的那一步。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353300" y="4972050"/>
            <a:ext cx="4171950" cy="552450"/>
          </a:xfrm>
          <a:custGeom>
            <a:pathLst>
              <a:path w="438" h="58">
                <a:moveTo>
                  <a:pt x="0" y="0"/>
                </a:moveTo>
                <a:lnTo>
                  <a:pt x="2" y="0"/>
                </a:lnTo>
                <a:lnTo>
                  <a:pt x="2" y="58"/>
                </a:lnTo>
                <a:lnTo>
                  <a:pt x="0" y="58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86650" y="4972050"/>
            <a:ext cx="4019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差值不是调参抹平的，是「一次只干一件事</a:t>
            </a:r>
            <a:r>
              <a:rPr lang="en-US" sz="112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不重干」换来的。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10 / 17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686425" y="2276475"/>
            <a:ext cx="828675" cy="723900"/>
          </a:xfrm>
          <a:prstGeom prst="rect">
            <a:avLst/>
          </a:prstGeom>
          <a:solidFill>
            <a:srgbClr val="15171B">
              <a:alpha val="7000"/>
            </a:srgbClr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6534150" y="2276475"/>
            <a:ext cx="381000" cy="723900"/>
          </a:xfrm>
          <a:prstGeom prst="rect">
            <a:avLst/>
          </a:prstGeom>
          <a:solidFill>
            <a:srgbClr val="D9480F">
              <a:alpha val="30000"/>
            </a:srgbClr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685800" y="3590925"/>
            <a:ext cx="622935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685800" y="4191000"/>
            <a:ext cx="114300" cy="114300"/>
          </a:xfrm>
          <a:prstGeom prst="rect">
            <a:avLst/>
          </a:prstGeom>
          <a:solidFill>
            <a:srgbClr val="15171B">
              <a:alpha val="7000"/>
            </a:srgbClr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685800" y="4581525"/>
            <a:ext cx="114300" cy="114300"/>
          </a:xfrm>
          <a:prstGeom prst="rect">
            <a:avLst/>
          </a:prstGeom>
          <a:solidFill>
            <a:srgbClr val="D9480F">
              <a:alpha val="40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讲这十四天是怎么过来的。&#10;&#10;我把它分成四段，而且每一段的收尾条件不是「功能写完了」，是「有没有一个能当场重跑一遍的东西」。&#10;&#10;第一段 D0 到 D2，环境和模型定稿。这里有个背景：任务书建议显存 8 GB 起步，我这张卡净可用只有 4.32 GB。所以我第一件事不是写业务代码，是把 CosyVoice 跑起来、把显存和耗时的基线数字老老实实记下来——后面所有关于性能的话，都得拿这两天记的数说话。&#10;&#10;第二段 D3 到 D6，链路打通。这一段结束的时候，我是用命令行把五段流水线从头到尾走完，跑出了第一期能听的 mp3。注意关键词是「能听」——测试用的夹具音频不算数。&#10;&#10;第三段 D7 到 D11 最慢，前端和评测一起做。这一段收尾时，网页上能提交任务、能播放、能订阅，指标也开始有机器读数了，不再只有「我觉得行」。逐句一致率那个 1120 比 1120 的全量普查，就是这一段跑出来的。&#10;&#10;最后三天 D12 到 D14 是加固和交付：把断电自愈补上，把六个缺陷一个个挖出来，把文档和产物逐文件对账。&#10;&#10;所以分段的依据不是日历。那个能当场重跑一遍的东西没出现，这一段就不算完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14 天，四个阶段&lt;/Text&gt;&#10;            &lt;Text style={{ fontSize: 13, color: '#6E7480', fontFamily: '&quot;JetBrains Mono&quot;,&quot;Cascadia Mono&quot;,Consolas,monospace', lineHeight: 1.4 }}&gt;02 它凭什么能跑通&lt;/Text&gt;&#10;        &lt;/Box&gt;&#10;        &lt;Box style={{ flexDirection: 'column' }}&gt;&#10;            &lt;Text style={{ fontSize: 14, color: '#6E7480', lineHeight: 1.5 }}&gt;&#10;                单人全栈，D0 到 D14；分段的依据不是日历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column', paddingTop: 30 }}&gt;&#10;&#10;        {/* 时间轴 */}&#10;        &lt;Box style={{ height: 2, background: '#15171B', opacity: 0.12 }} /&gt;&#10;        &lt;Box style={{ height: 26 }} /&gt;&#10;&#10;        &lt;Box style={{ flexDirection: 'row', gap: 16 }}&gt;&#10;&#10;            {/* 段 1 */}&#10;            &lt;Box style={{ width: 272, flexDirection: 'column' }}&gt;&#10;                &lt;Box style={{ width: 82, height: 26, background: '#D9480F', alignItems: 'center', justifyContent: 'center' }}&gt;&#10;                    &lt;Text style={{ fontSize: 13, fontWeight: 'bold', color: '#FFFFFF', fontFamily: '&quot;JetBrains Mono&quot;,&quot;Cascadia Mono&quot;,Consolas,monospace' }}&gt;D0~D2&lt;/Text&gt;&#10;                &lt;/Box&gt;&#10;                &lt;Box style={{ height: 12 }} /&gt;&#10;                &lt;Text style={{ fontSize: 18, fontWeight: 'bold', color: '#15171B', lineHeight: 1.35 }}&gt;环境与模型定稿&lt;/Text&gt;&#10;                &lt;Box style={{ height: 10 }} /&gt;&#10;                &lt;Box style={{ height: 1, background: '#15171B', opacity: 0.12 }} /&gt;&#10;                &lt;Box style={{ height: 10 }} /&gt;&#10;                &lt;Text style={{ fontSize: 13, color: '#4B5158', lineHeight: 1.7 }}&gt;&#10;                    任务书建议 8 GB 显存，这张卡净可用只有 4.32 GB。先把模型跑起来，把基线的数字记下来。&#10;                &lt;/Text&gt;&#10;                &lt;Box style={{ height: 10 }} /&gt;&#10;                &lt;Box style={{ flexDirection: 'row', alignItems: 'flex-start', gap: 6 }}&gt;&#10;                    &lt;Text style={{ fontSize: 12, fontWeight: 'bold', color: '#D9480F', lineHeight: 1.6 }}&gt;验收&lt;/Text&gt;&#10;                    &lt;Text style={{ flex: 1, fontSize: 12, color: '#6E7480', lineHeight: 1.6 }}&gt;单句合成跑通，基线进《部署基线报告》&lt;/Text&gt;&#10;                &lt;/Box&gt;&#10;            &lt;/Box&gt;&#10;&#10;            {/* 段 2 */}&#10;            &lt;Box style={{ width: 272, flexDirection: 'column' }}&gt;&#10;                &lt;Box style={{ width: 82, height: 26, background: '#15171B', alignItems: 'center', justifyContent: 'center' }}&gt;&#10;                    &lt;Text style={{ fontSize: 13, fontWeight: 'bold', color: '#FFFFFF', fontFamily: '&quot;JetBrains Mono&quot;,&quot;Cascadia Mono&quot;,Consolas,monospace' }}&gt;D3~D6&lt;/Text&gt;&#10;                &lt;/Box&gt;&#10;                &lt;Box style={{ height: 12 }} /&gt;&#10;                &lt;Text style={{ fontSize: 18, fontWeight: 'bold', color: '#15171B', lineHeight: 1.35 }}&gt;链路打通&lt;/Text&gt;&#10;                &lt;Box style={{ height: 10 }} /&gt;&#10;                &lt;Box style={{ height: 1, background: '#15171B', opacity: 0.12 }} /&gt;&#10;                &lt;Box style={{ height: 10 }} /&gt;&#10;                &lt;Text style={{ fontSize: 13, color: '#4B5158', lineHeight: 1.7 }}&gt;&#10;                    用命令行把五段流水线一次走完，第一期 mp3 出了声 —— 是能听的成片，不是测试夹具。&#10;                &lt;/Text&gt;&#10;                &lt;Box style={{ height: 10 }} /&gt;&#10;                &lt;Box style={{ flexDirection: 'row', alignItems: 'flex-start', gap: 6 }}&gt;&#10;                    &lt;Text style={{ fontSize: 12, fontWeight: 'bold', color: '#D9480F', lineHeight: 1.6 }}&gt;验收&lt;/Text&gt;&#10;                    &lt;Text style={{ flex: 1, fontSize: 12, color: '#6E7480', lineHeight: 1.6 }}&gt;成片可播放，时长与体积落库&lt;/Text&gt;&#10;                &lt;/Box&gt;&#10;            &lt;/Box&gt;&#10;&#10;            {/* 段 3 */}&#10;            &lt;Box style={{ width: 272, flexDirection: 'column' }}&gt;&#10;                &lt;Box style={{ width: 82, height: 26, background: '#15171B', alignItems: 'center', justifyContent: 'center' }}&gt;&#10;                    &lt;Text style={{ fontSize: 13, fontWeight: 'bold', color: '#FFFFFF', fontFamily: '&quot;JetBrains Mono&quot;,&quot;Cascadia Mono&quot;,Consolas,monospace' }}&gt;D7~D11&lt;/Text&gt;&#10;                &lt;/Box&gt;&#10;                &lt;Box style={{ height: 12 }} /&gt;&#10;                &lt;Text style={{ fontSize: 18, fontWeight: 'bold', color: '#15171B', lineHeight: 1.35 }}&gt;前端与评测&lt;/Text&gt;&#10;                &lt;Box style={{ height: 10 }} /&gt;&#10;                &lt;Box style={{ height: 1, background: '#15171B', opacity: 0.12 }} /&gt;&#10;                &lt;Box style={{ height: 10 }} /&gt;&#10;                &lt;Text style={{ fontSize: 13, color: '#4B5158', lineHeight: 1.7 }}&gt;&#10;                    网页能提交、能播放、能订阅；指标开始有机器读数，不再只有「我觉得行」。&#10;                &lt;/Text&gt;&#10;                &lt;Box style={{ height: 10 }} /&gt;&#10;                &lt;Box style={{ flexDirection: 'row', alignItems: 'flex-start', gap: 6 }}&gt;&#10;                    &lt;Text style={{ fontSize: 12, fontWeight: 'bold', color: '#D9480F', lineHeight: 1.6 }}&gt;验收&lt;/Text&gt;&#10;                    &lt;Text style={{ flex: 1, fontSize: 12, color: '#6E7480', lineHeight: 1.6 }}&gt;逐句一致率 1120 / 1120（36 期全量普查）&lt;/Text&gt;&#10;                &lt;/Box&gt;&#10;            &lt;/Box&gt;&#10;&#10;            {/* 段 4 */}&#10;            &lt;Box style={{ width: 272, flexDirection: 'column' }}&gt;&#10;                &lt;Box style={{ width: 82, height: 26, background: '#15171B', alignItems: 'center', justifyContent: 'center' }}&gt;&#10;                    &lt;Text style={{ fontSize: 13, fontWeight: 'bold', color: '#FFFFFF', fontFamily: '&quot;JetBrains Mono&quot;,&quot;Cascadia Mono&quot;,Consolas,monospace' }}&gt;D12~D14&lt;/Text&gt;&#10;                &lt;/Box&gt;&#10;                &lt;Box style={{ height: 12 }} /&gt;&#10;                &lt;Text style={{ fontSize: 18, fontWeight: 'bold', color: '#15171B', lineHeight: 1.35 }}&gt;加固与交付&lt;/Text&gt;&#10;                &lt;Box style={{ height: 10 }} /&gt;&#10;                &lt;Box style={{ height: 1, background: '#15171B', opacity: 0.12 }} /&gt;&#10;                &lt;Box style={{ height: 10 }} /&gt;&#10;                &lt;Text style={{ fontSize: 13, color: '#4B5158', lineHeight: 1.7 }}&gt;&#10;                    把断电自愈补上，把六个缺陷一个个挖出来，把文档与产物逐文件对账。&#10;                &lt;/Text&gt;&#10;                &lt;Box style={{ height: 10 }} /&gt;&#10;                &lt;Box style={{ flexDirection: 'row', alignItems: 'flex-start', gap: 6 }}&gt;&#10;                    &lt;Text style={{ fontSize: 12, fontWeight: 'bold', color: '#D9480F', lineHeight: 1.6 }}&gt;验收&lt;/Text&gt;&#10;                    &lt;Text style={{ flex: 1, fontSize: 12, color: '#6E7480', lineHeight: 1.6 }}&gt;非终态任务可恢复；411 项回归全绿&lt;/Text&gt;&#10;                &lt;/Box&gt;&#10;            &lt;/Box&gt;&#10;&#10;        &lt;/Box&gt;&#10;&#10;        &lt;Box style={{ height: 36 }} /&gt;&#10;        &lt;Box style={{ height: 1, background: '#15171B', opacity: 0.12 }} /&gt;&#10;        &lt;Box style={{ height: 22 }} /&gt;&#10;&#10;        {/* 判断句 */}&#10;        &lt;Box style={{ borderLeft: '2px solid #D9480F', paddingLeft: 14 }}&gt;&#10;            &lt;Text style={{ fontSize: 17, color: '#15171B', lineHeight: 1.6 }}&gt;&#10;                每一段收尾，都得留下一个能当场重跑一遍的东西。那个东西没出现，这一段就不算完。&#10;            &lt;/Text&gt;&#10;        &lt;/Box&gt;&#10;&#10;        &lt;Box style={{ height: 14 }} /&gt;&#10;        &lt;Text style={{ fontSize: 13, color: '#6E7480', lineHeight: 1.7 }}&gt;&#10;            前两段最慢：4.32 GB 的显存只够一次跑一件事，没有并行可换，只能一件一件试。&#10;        &lt;/Text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1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24479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14 </a:t>
            </a: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天，四个阶段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420350" y="466725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02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它凭什么能跑通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单人全栈，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D0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D14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；分段的依据不是日历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85800" y="1695450"/>
            <a:ext cx="781050" cy="2476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95350" y="1743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D0~D2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2057400"/>
            <a:ext cx="25908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5171B"/>
                </a:solidFill>
                <a:latin typeface="Source Han Sans SC"/>
                <a:ea typeface="Source Han Sans SC"/>
              </a:rPr>
              <a:t>环境与模型定稿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2590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任务书建议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8 GB 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显存，这张卡净可用只有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4.32 GB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。先把模型跑起来，把基线的数字记下来。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 b="1">
                <a:solidFill>
                  <a:srgbClr val="D9480F"/>
                </a:solidFill>
                <a:latin typeface="Source Han Sans SC"/>
                <a:ea typeface="Source Han Sans SC"/>
              </a:rPr>
              <a:t>验收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71550" y="3400425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单句合成跑通，基线进《部署基线报告》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429000" y="1695450"/>
            <a:ext cx="781050" cy="2476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638550" y="1743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D3~D6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429000" y="2057400"/>
            <a:ext cx="25908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5171B"/>
                </a:solidFill>
                <a:latin typeface="Source Han Sans SC"/>
                <a:ea typeface="Source Han Sans SC"/>
              </a:rPr>
              <a:t>链路打通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429000" y="25431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用命令行把五段流水线一次走完，第一期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mp3 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出了声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是能听的成片，不是测试夹具。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429000" y="315277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 b="1">
                <a:solidFill>
                  <a:srgbClr val="D9480F"/>
                </a:solidFill>
                <a:latin typeface="Source Han Sans SC"/>
                <a:ea typeface="Source Han Sans SC"/>
              </a:rPr>
              <a:t>验收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714750" y="3152775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成片可播放，时长与体积落库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172200" y="1695450"/>
            <a:ext cx="781050" cy="2476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343650" y="17430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D7~D11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172200" y="2057400"/>
            <a:ext cx="25908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5171B"/>
                </a:solidFill>
                <a:latin typeface="Source Han Sans SC"/>
                <a:ea typeface="Source Han Sans SC"/>
              </a:rPr>
              <a:t>前端与评测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172200" y="25431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网页能提交、能播放、能订阅；指标开始有机器读数，不再只有「我觉得行」。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172200" y="315277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 b="1">
                <a:solidFill>
                  <a:srgbClr val="D9480F"/>
                </a:solidFill>
                <a:latin typeface="Source Han Sans SC"/>
                <a:ea typeface="Source Han Sans SC"/>
              </a:rPr>
              <a:t>验收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457950" y="3152775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逐句一致率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1120 / 1120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36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期全量普查）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915400" y="1695450"/>
            <a:ext cx="781050" cy="2476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048750" y="17430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D12~D14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915400" y="2057400"/>
            <a:ext cx="2590800" cy="285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15171B"/>
                </a:solidFill>
                <a:latin typeface="Source Han Sans SC"/>
                <a:ea typeface="Source Han Sans SC"/>
              </a:rPr>
              <a:t>加固与交付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915400" y="2543175"/>
            <a:ext cx="2590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把断电自愈补上，把六个缺陷一个个挖出来，把文档与产物逐文件对账。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915400" y="315277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 b="1">
                <a:solidFill>
                  <a:srgbClr val="D9480F"/>
                </a:solidFill>
                <a:latin typeface="Source Han Sans SC"/>
                <a:ea typeface="Source Han Sans SC"/>
              </a:rPr>
              <a:t>验收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201150" y="3152775"/>
            <a:ext cx="23050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非终态任务可恢复；</a:t>
            </a:r>
            <a:r>
              <a:rPr lang="en-US" sz="90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411 </a:t>
            </a: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项回归全绿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5800" y="4191000"/>
            <a:ext cx="10839450" cy="314325"/>
          </a:xfrm>
          <a:custGeom>
            <a:pathLst>
              <a:path w="1138" h="33">
                <a:moveTo>
                  <a:pt x="0" y="0"/>
                </a:moveTo>
                <a:lnTo>
                  <a:pt x="2" y="0"/>
                </a:lnTo>
                <a:lnTo>
                  <a:pt x="2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4191000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每一段收尾，都得留下一个能当场重跑一遍的东西。那个东西没出现，这一段就不算完。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108204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前两段最慢：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4.32 GB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的显存只够一次跑一件事，没有并行可换，只能一件一件试。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11 / 17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85800" y="1428750"/>
            <a:ext cx="10820400" cy="19050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85800" y="2438400"/>
            <a:ext cx="2590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3429000" y="2438400"/>
            <a:ext cx="2590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172200" y="2438400"/>
            <a:ext cx="2590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915400" y="2438400"/>
            <a:ext cx="2590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85800" y="397192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把整个系统拆开给你看。但我想先说一句：这个架构不是自由设计出来的，是被几条实测出来的约束钉死的。&#10;&#10;最硬的一条：这块卡标称六 G，被系统和桌面占完之后，净可用只有四点三二 G。任务书建议八 G 起步，差了将近一半。这一条直接决定了后面所有选择——模型必须常驻、不能反复加载；并发只能是一路；能搬到 CPU 上的都搬走。任何「优雅但违反这条」的方案，直接不成立。&#10;&#10;第二条是显存记账要双口径，allocated 和 reserved 分开算，因为换缓冲区的时候吃的是 reserved。&#10;&#10;第三，上游 CosyVoice 的依赖链在 Python 三点一一以上没有可用的安装包，所以只能锁三点十。这跟任务书写的不一样，我在文档里做了偏离声明，不藏。&#10;&#10;第四，模型权重九点一七 G，必须外置，不能进代码库，所以部署链路里必须自带「怎么拿到权重、怎么校验」。&#10;&#10;架构本身分四层。最上面是表现层，浏览器的单页应用，React 十八加 Vite，组件用 Ant Design，布局用 Tailwind。第二层是接口层，FastAPI，四组路由：认证、任务、订阅源、音色。第三层是领域服务层，七个服务，脚本生成、文本规范化、语音合成、后期、RSS、片头片尾、任务编排。最底下是基础设施层：SQLite 加 SQLAlchemy、文件系统、配置、安全。&#10;&#10;跟这三层并列的还有三个外部依赖：DeepSeek 走网络、CosyVoice 权重在本地、FFmpeg 在后期链路里。&#10;&#10;分层不是为了好看，判据是「能不能独立替换或独立测试」。所以有三条不可跨越：接口层不碰推理，只做校验和投递；领域层不直接读环境变量，参数一律走统一的配置模块；表现层不猜后端状态，可观测性判断收在一个共用文件里，两个页面共用一套口径。&#10;&#10;最后一列是代价。每条决策我都写了它放弃了什么——比如不引入 Celery，代价就是队列随进程重启而丢，所以必须做崩溃恢复扫描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四层架构，被四条约束钉死&lt;/Text&gt;&#10;            &lt;Text style={{ fontSize: 13, color: '#6E7480', fontFamily: '&quot;JetBrains Mono&quot;,&quot;Cascadia Mono&quot;,Consolas,monospace', lineHeight: 1.4 }}&gt;03 系统架构&lt;/Text&gt;&#10;        &lt;/Box&gt;&#10;        &lt;Box style={{ flexDirection: 'column' }}&gt;&#10;            &lt;Text style={{ fontSize: 14, color: '#6E7480', lineHeight: 1.5 }}&gt;&#10;                分层的判据是「能否独立替换或独立测试」，不是目录好看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0 }}&gt;&#10;&#10;        {/* 左：四层架构 */}&#10;        &lt;Box style={{ width: 700, flexDirection: 'column', paddingRight: 34 }}&gt;&#10;&#10;            &lt;Box style={{ flexDirection: 'column', gap: 8 }}&gt;&#10;&#10;                {/* L4 */}&#10;                &lt;Box style={{ flexDirection: 'row', alignItems: 'stretch' }}&gt;&#10;                    &lt;Box style={{ width: 62, background: '#D9480F', flexDirection: 'column', justifyContent: 'center', alignItems: 'center' }}&gt;&#10;                        &lt;Text style={{ fontSize: 11, fontWeight: 'bold', color: '#FFFFFF', fontFamily: '&quot;JetBrains Mono&quot;,&quot;Cascadia Mono&quot;,Consolas,monospace', lineHeight: 1.3 }}&gt;表现层&lt;/Text&gt;&#10;                    &lt;/Box&gt;&#10;                    &lt;Box style={{ flex: 1, background: '#EEF0F3', padding: '9px 14px', flexDirection: 'column' }}&gt;&#10;                        &lt;Text style={{ fontSize: 13.5, fontWeight: 'bold', color: '#15171B', lineHeight: 1.4 }}&gt;浏览器 SPA　&lt;span style={{ fontWeight: 'normal', color: '#6E7480' }}&gt;React 18 + Vite 5&lt;/span&gt;&lt;/Text&gt;&#10;                        &lt;Box style={{ height: 3 }} /&gt;&#10;                        &lt;Text style={{ fontSize: 12, color: '#5A6069', lineHeight: 1.5 }}&gt;Ant Design 5（交互组件）· Tailwind 3（布局响应式）· 路由守卫 · JWT 落地 localStorage&lt;/Text&gt;&#10;                    &lt;/Box&gt;&#10;                &lt;/Box&gt;&#10;&#10;                {/* L3 */}&#10;                &lt;Box style={{ flexDirection: 'row', alignItems: 'stretch' }}&gt;&#10;                    &lt;Box style={{ width: 62, background: '#15171B', flexDirection: 'column', justifyContent: 'center', alignItems: 'center' }}&gt;&#10;                        &lt;Text style={{ fontSize: 11, fontWeight: 'bold', color: '#FFFFFF', fontFamily: '&quot;JetBrains Mono&quot;,&quot;Cascadia Mono&quot;,Consolas,monospace', lineHeight: 1.3 }}&gt;接口层&lt;/Text&gt;&#10;                    &lt;/Box&gt;&#10;                    &lt;Box style={{ flex: 1, background: '#EEF0F3', padding: '9px 14px', flexDirection: 'column' }}&gt;&#10;                        &lt;Text style={{ fontSize: 13.5, fontWeight: 'bold', color: '#15171B', lineHeight: 1.4 }}&gt;FastAPI　&lt;span style={{ fontWeight: 'normal', color: '#6E7480' }}&gt;四组路由 + 依赖注入 + Pydantic 契约&lt;/span&gt;&lt;/Text&gt;&#10;                        &lt;Box style={{ height: 3 }} /&gt;&#10;                        &lt;Text style={{ fontSize: 12, color: '#5A6069', lineHeight: 1.5 }}&gt;auth 注册登录 · tasks 提交/进度/脚本/试听/下载 · feed RSS（公开）· voices 音色档案&lt;/Text&gt;&#10;                    &lt;/Box&gt;&#10;                &lt;/Box&gt;&#10;&#10;                {/* L2 */}&#10;                &lt;Box style={{ flexDirection: 'row', alignItems: 'stretch' }}&gt;&#10;                    &lt;Box style={{ width: 62, background: '#15171B', flexDirection: 'column', justifyContent: 'center', alignItems: 'center' }}&gt;&#10;                        &lt;Text style={{ fontSize: 11, fontWeight: 'bold', color: '#FFFFFF', fontFamily: '&quot;JetBrains Mono&quot;,&quot;Cascadia Mono&quot;,Consolas,monospace', lineHeight: 1.3 }}&gt;领域层&lt;/Text&gt;&#10;                    &lt;/Box&gt;&#10;                    &lt;Box style={{ flex: 1, background: '#EEF0F3', padding: '9px 14px', flexDirection: 'column' }}&gt;&#10;                        &lt;Text style={{ fontSize: 13.5, fontWeight: 'bold', color: '#15171B', lineHeight: 1.4 }}&gt;七个服务　&lt;span style={{ fontWeight: 'normal', color: '#6E7480' }}&gt;耗时推理只在这一层&lt;/span&gt;&lt;/Text&gt;&#10;                        &lt;Box style={{ height: 3 }} /&gt;&#10;                        &lt;Text style={{ fontSize: 12, color: '#5A6069', lineHeight: 1.5 }}&gt;script_gen · normalize · tts（句级缓存）· postprocess · podcast_rss · intro_outro · task_runner（状态机 + 单并发队列）&lt;/Text&gt;&#10;                    &lt;/Box&gt;&#10;                &lt;/Box&gt;&#10;&#10;                {/* L1 */}&#10;                &lt;Box style={{ flexDirection: 'row', alignItems: 'stretch' }}&gt;&#10;                    &lt;Box style={{ width: 62, background: '#15171B', flexDirection: 'column', justifyContent: 'center', alignItems: 'center' }}&gt;&#10;                        &lt;Text style={{ fontSize: 11, fontWeight: 'bold', color: '#FFFFFF', fontFamily: '&quot;JetBrains Mono&quot;,&quot;Cascadia Mono&quot;,Consolas,monospace', lineHeight: 1.3 }}&gt;基础层&lt;/Text&gt;&#10;                    &lt;/Box&gt;&#10;                    &lt;Box style={{ flex: 1, background: '#EEF0F3', padding: '9px 14px', flexDirection: 'column' }}&gt;&#10;                        &lt;Text style={{ fontSize: 13.5, fontWeight: 'bold', color: '#15171B', lineHeight: 1.4 }}&gt;存储与配置　&lt;span style={{ fontWeight: 'normal', color: '#6E7480' }}&gt;SQLAlchemy 2.x + SQLite（WAL）&lt;/span&gt;&lt;/Text&gt;&#10;                        &lt;Box style={{ height: 3 }} /&gt;&#10;                        &lt;Text style={{ fontSize: 12, color: '#5A6069', lineHeight: 1.5 }}&gt;文件系统 data/ · models.py 状态词汇表 · config.py 参数单一来源 · security.py bcrypt + JWT&lt;/Text&gt;&#10;                    &lt;/Box&gt;&#10;                &lt;/Box&gt;&#10;&#10;                {/* EXT */}&#10;                &lt;Box style={{ flexDirection: 'row', alignItems: 'stretch' }}&gt;&#10;                    &lt;Box style={{ width: 62, background: '#FFFFFF', border: '1px dashed #9AA0A6', flexDirection: 'column', justifyContent: 'center', alignItems: 'center' }}&gt;&#10;                        &lt;Text style={{ fontSize: 11, fontWeight: 'bold', color: '#5A6069', fontFamily: '&quot;JetBrains Mono&quot;,&quot;Cascadia Mono&quot;,Consolas,monospace', lineHeight: 1.3 }}&gt;外部&lt;/Text&gt;&#10;                    &lt;/Box&gt;&#10;                    &lt;Box style={{ flex: 1, background: '#FFFFFF', border: '1px dashed #9AA0A6', padding: '9px 14px' }}&gt;&#10;                        &lt;Text style={{ fontSize: 12, color: '#5A6069', lineHeight: 1.5 }}&gt;DeepSeek API（脚本生成，需外网）· CosyVoice2-0.5B 权重（本地推理）· FFmpeg 9.0.1（后期链路）&lt;/Text&gt;&#10;                    &lt;/Box&gt;&#10;                &lt;/Box&gt;&#10;&#10;            &lt;/Box&gt;&#10;&#10;            &lt;Box style={{ height: 12 }} /&gt;&#10;            &lt;Box style={{ height: 1, background: '#15171B', opacity: 0.12 }} /&gt;&#10;            &lt;Box style={{ height: 10 }} /&gt;&#10;            &lt;Text style={{ fontSize: 12.5, color: '#4B5158', lineHeight: 1.6 }}&gt;&#10;                &lt;span style={{ fontWeight: 'bold', color: '#15171B' }}&gt;三条不可跨越：&lt;/span&gt;接口层不碰推理（只校验、鉴权、投递、读状态）／领域层不直接读环境变量（参数一律走 config.py）／表现层不猜后端状态（可观测性收口到共用的纯函数）&#10;            &lt;/Text&gt;&#10;&#10;        &lt;/Box&gt;&#10;&#10;        {/* 右：硬约束 + 技术选型 */}&#10;        &lt;Box style={{ flex: 1, flexDirection: 'column' }}&gt;&#10;&#10;            &lt;Text style={{ fontSize: 14, fontWeight: 'bold', color: '#15171B', lineHeight: 1.5 }}&gt;四条硬约束（实测，非假设）&lt;/Text&gt;&#10;            &lt;Box style={{ height: 8 }} /&gt;&#10;            &lt;Box style={{ height: 1, background: '#15171B', opacity: 0.12 }} /&gt;&#10;            &lt;Box style={{ height: 10 }} /&gt;&#10;&#10;            &lt;Box style={{ flexDirection: 'row', alignItems: 'flex-start', gap: 10 }}&gt;&#10;                &lt;Text style={{ width: 26, fontSize: 12, fontWeight: 'bold', color: '#D9480F', fontFamily: '&quot;JetBrains Mono&quot;,&quot;Cascadia Mono&quot;,Consolas,monospace', lineHeight: 1.6 }}&gt;C1&lt;/Text&gt;&#10;                &lt;Box style={{ flex: 1, flexDirection: 'column' }}&gt;&#10;                    &lt;Text style={{ fontSize: 12.5, color: '#15171B', lineHeight: 1.55 }}&gt;&lt;span style={{ fontWeight: 'bold' }}&gt;净可用显存 4.32 GB&lt;/span&gt;（标称 6 GB，被系统占用后只剩这些）&lt;/Text&gt;&#10;                    &lt;Text style={{ fontSize: 11.5, color: '#6E7480', lineHeight: 1.5 }}&gt;→ 决定「单并发 + 模型常驻 + 句级缓存 + onnx 走 CPU」主干，排除一切并发多路推理&lt;/Text&gt;&#10;                &lt;/Box&gt;&#10;            &lt;/Box&gt;&#10;            &lt;Box style={{ height: 10 }} /&gt;&#10;&#10;            &lt;Box style={{ flexDirection: 'row', alignItems: 'flex-start', gap: 10 }}&gt;&#10;                &lt;Text style={{ width: 26, fontSize: 12, fontWeight: 'bold', color: '#D9480F', fontFamily: '&quot;JetBrains Mono&quot;,&quot;Cascadia Mono&quot;,Consolas,monospace', lineHeight: 1.6 }}&gt;C2&lt;/Text&gt;&#10;                &lt;Box style={{ flex: 1, flexDirection: 'column' }}&gt;&#10;                    &lt;Text style={{ fontSize: 12.5, color: '#15171B', lineHeight: 1.55 }}&gt;&lt;span style={{ fontWeight: 'bold' }}&gt;显存记账必须双口径&lt;/span&gt;：allocated ≤ 3600 / reserved ≤ 4200 MB&lt;/Text&gt;&#10;                    &lt;Text style={{ fontSize: 11.5, color: '#6E7480', lineHeight: 1.5 }}&gt;→ 任何需要换缓冲区的设计都按 reserved 记账&lt;/Text&gt;&#10;                &lt;/Box&gt;&#10;            &lt;/Box&gt;&#10;            &lt;Box style={{ height: 10 }} /&gt;&#10;&#10;            &lt;Box style={{ flexDirection: 'row', alignItems: 'flex-start', gap: 10 }}&gt;&#10;                &lt;Text style={{ width: 26, fontSize: 12, fontWeight: 'bold', color: '#D9480F', fontFamily: '&quot;JetBrains Mono&quot;,&quot;Cascadia Mono&quot;,Consolas,monospace', lineHeight: 1.6 }}&gt;C4&lt;/Text&gt;&#10;                &lt;Box style={{ flex: 1, flexDirection: 'column' }}&gt;&#10;                    &lt;Text style={{ fontSize: 12.5, color: '#15171B', lineHeight: 1.55 }}&gt;&lt;span style={{ fontWeight: 'bold' }}&gt;上游依赖链硬要求 Python 3.10&lt;/span&gt;（pyworld / pynini 在 3.11+ 无可用轮子）&lt;/Text&gt;&#10;                    &lt;Text style={{ fontSize: 11.5, color: '#6E7480', lineHeight: 1.5 }}&gt;→ 与任务书「3.12+」冲突，已声明偏离（架构文档第八章）&lt;/Text&gt;&#10;                &lt;/Box&gt;&#10;            &lt;/Box&gt;&#10;            &lt;Box style={{ height: 10 }} /&gt;&#10;&#10;            &lt;Box style={{ flexDirection: 'row', alignItems: 'flex-start', gap: 10 }}&gt;&#10;                &lt;Text style={{ width: 26, fontSize: 12, fontWeight: 'bold', color: '#D9480F', fontFamily: '&quot;JetBrains Mono&quot;,&quot;Cascadia Mono&quot;,Consolas,monospace', lineHeight: 1.6 }}&gt;C6&lt;/Text&gt;&#10;                &lt;Box style={{ flex: 1, flexDirection: 'column' }}&gt;&#10;                    &lt;Text style={{ fontSize: 12.5, color: '#15171B', lineHeight: 1.55 }}&gt;&lt;span style={{ fontWeight: 'bold' }}&gt;LLM 需外网&lt;/span&gt;（DeepSeek API，OpenAI 兼容）&lt;/Text&gt;&#10;                    &lt;Text style={{ fontSize: 11.5, color: '#6E7480', lineHeight: 1.5 }}&gt;→ 脚本生成与合成必须解耦，网络不可达时任务失败可续跑&lt;/Text&gt;&#10;                &lt;/Box&gt;&#10;            &lt;/Box&gt;&#10;&#10;            &lt;Box style={{ height: 16 }} /&gt;&#10;            &lt;Box style={{ height: 1, background: '#15171B', opacity: 0.12 }} /&gt;&#10;            &lt;Box style={{ height: 12 }} /&gt;&#10;            &lt;Text style={{ fontSize: 13, fontWeight: 'bold', color: '#15171B', lineHeight: 1.5 }}&gt;技术选型&lt;/Text&gt;&#10;            &lt;Box style={{ height: 8 }} /&gt;&#10;            &lt;Text style={{ fontSize: 12, color: '#5A6069', lineHeight: 1.7 }}&gt;&#10;                后端 FastAPI + SQLAlchemy 2.x + SQLite（WAL）&lt;br /&gt;&#10;                前端 React 18 + Vite 5 + AntD 5 + Tailwind 3&lt;br /&gt;&#10;                推理 CosyVoice2-0.5B（fp16）· 后期 FFmpeg 9.0.1&lt;br /&gt;&#10;                生成 DeepSeek API · 鉴权 bcrypt + JWT&#10;            &lt;/Text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2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8862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四层架构，被四条约束钉死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791825" y="466725"/>
            <a:ext cx="714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03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系统架构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分层的判据是「能否独立替换或独立测试」，不是目录好看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85800" y="1333500"/>
            <a:ext cx="590550" cy="6286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28675" y="15621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 b="1">
                <a:solidFill>
                  <a:srgbClr val="FFFFFF"/>
                </a:solidFill>
                <a:latin typeface="JetBrains Mono"/>
                <a:ea typeface="JetBrains Mono"/>
              </a:rPr>
              <a:t>表现层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1276350" y="1333500"/>
            <a:ext cx="5753100" cy="6286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409700" y="1419225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浏览器</a:t>
            </a:r>
            <a:r>
              <a:rPr lang="en-US" sz="1013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SPA</a:t>
            </a: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　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>React 18 + Vite 5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409700" y="166687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Ant Design 5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（交互组件）·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Tailwind 3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（布局响应式）·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路由守卫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· JWT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落地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localStorage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2038350"/>
            <a:ext cx="590550" cy="6286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28675" y="226695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 b="1">
                <a:solidFill>
                  <a:srgbClr val="FFFFFF"/>
                </a:solidFill>
                <a:latin typeface="JetBrains Mono"/>
                <a:ea typeface="JetBrains Mono"/>
              </a:rPr>
              <a:t>接口层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1276350" y="2038350"/>
            <a:ext cx="5753100" cy="6286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409700" y="2124075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15171B"/>
                </a:solidFill>
                <a:latin typeface="Source Han Sans SC"/>
                <a:ea typeface="Source Han Sans SC"/>
              </a:rPr>
              <a:t>FastAPI</a:t>
            </a: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　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四组路由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依赖注入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Pydantic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契约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409700" y="237172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auth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注册登录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· tasks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提交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/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进度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/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脚本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/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试听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/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下载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· feed RSS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（公开）·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voices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音色档案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85800" y="2743200"/>
            <a:ext cx="590550" cy="83820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8675" y="30765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 b="1">
                <a:solidFill>
                  <a:srgbClr val="FFFFFF"/>
                </a:solidFill>
                <a:latin typeface="JetBrains Mono"/>
                <a:ea typeface="JetBrains Mono"/>
              </a:rPr>
              <a:t>领域层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1276350" y="2743200"/>
            <a:ext cx="5753100" cy="83820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409700" y="2828925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七个服务　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耗时推理只在这一层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409700" y="3076575"/>
            <a:ext cx="54864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script_gen · normalize · tts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（句级缓存）·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postprocess · podcast_rss · intro_outro · task_runner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（状态机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单并发队列）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85800" y="3657600"/>
            <a:ext cx="590550" cy="628650"/>
          </a:xfrm>
          <a:prstGeom prst="rect">
            <a:avLst/>
          </a:prstGeom>
          <a:solidFill>
            <a:srgbClr val="15171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8675" y="38862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 b="1">
                <a:solidFill>
                  <a:srgbClr val="FFFFFF"/>
                </a:solidFill>
                <a:latin typeface="JetBrains Mono"/>
                <a:ea typeface="JetBrains Mono"/>
              </a:rPr>
              <a:t>基础层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276350" y="3657600"/>
            <a:ext cx="5753100" cy="62865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409700" y="3743325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15171B"/>
                </a:solidFill>
                <a:latin typeface="Source Han Sans SC"/>
                <a:ea typeface="Source Han Sans SC"/>
              </a:rPr>
              <a:t>存储与配置　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>SQLAlchemy 2.x + SQLite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（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>WAL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409700" y="399097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文件系统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data/ · models.py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状态词汇表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· config.py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参数单一来源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· security.py bcrypt + JWT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85800" y="4362450"/>
            <a:ext cx="59055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76300" y="44672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 b="1">
                <a:solidFill>
                  <a:srgbClr val="5A6069"/>
                </a:solidFill>
                <a:latin typeface="JetBrains Mono"/>
                <a:ea typeface="JetBrains Mono"/>
              </a:rPr>
              <a:t>外部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276350" y="4362450"/>
            <a:ext cx="57531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409700" y="4448175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DeepSeek API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（脚本生成，需外网）·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CosyVoice2-0.5B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权重（本地推理）·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FFmpeg 9.0.1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（后期链路）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5800" y="4962525"/>
            <a:ext cx="63436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三条不可跨越：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接口层不碰推理（只校验、鉴权、投递、读状态）／领域层不直接读环境变量（参数一律走</a:t>
            </a:r>
            <a:r>
              <a:rPr lang="en-US" sz="938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config.py</a:t>
            </a:r>
            <a:r>
              <a:rPr lang="zh-CN" sz="938">
                <a:solidFill>
                  <a:srgbClr val="4B5158"/>
                </a:solidFill>
                <a:latin typeface="Source Han Sans SC"/>
                <a:ea typeface="Source Han Sans SC"/>
              </a:rPr>
              <a:t>）／表现层不猜后端状态（可观测性收口到共用的纯函数）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353300" y="133350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5171B"/>
                </a:solidFill>
                <a:latin typeface="Source Han Sans SC"/>
                <a:ea typeface="Source Han Sans SC"/>
              </a:rPr>
              <a:t>四条硬约束（实测，非假设）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353300" y="176212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D9480F"/>
                </a:solidFill>
                <a:latin typeface="JetBrains Mono"/>
                <a:ea typeface="JetBrains Mono"/>
              </a:rPr>
              <a:t>C1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696200" y="1762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净可用显存</a:t>
            </a:r>
            <a:r>
              <a:rPr lang="en-US" sz="938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4.32 GB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（标称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6 GB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，被系统占用后只剩这些）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696200" y="1990725"/>
            <a:ext cx="38100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决定「单并发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模型常驻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句级缓存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+ onnx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走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CPU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」主干，排除一切并发多路推理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353300" y="248602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D9480F"/>
                </a:solidFill>
                <a:latin typeface="JetBrains Mono"/>
                <a:ea typeface="JetBrains Mono"/>
              </a:rPr>
              <a:t>C2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696200" y="24860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显存记账必须双口径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：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>allocated ≤ 3600 / reserved ≤ 4200 MB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696200" y="2714625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任何需要换缓冲区的设计都按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reserved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记账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353300" y="300990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D9480F"/>
                </a:solidFill>
                <a:latin typeface="JetBrains Mono"/>
                <a:ea typeface="JetBrains Mono"/>
              </a:rPr>
              <a:t>C4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96200" y="3009900"/>
            <a:ext cx="3810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上游依赖链硬要求</a:t>
            </a:r>
            <a:r>
              <a:rPr lang="en-US" sz="938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Python 3.10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pyworld / pynini 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在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3.11+ 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无可用轮子）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696200" y="3457575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与任务书「</a:t>
            </a: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>3.12+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」冲突，已声明偏离（架构文档第八章）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353300" y="37528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 b="1">
                <a:solidFill>
                  <a:srgbClr val="D9480F"/>
                </a:solidFill>
                <a:latin typeface="JetBrains Mono"/>
                <a:ea typeface="JetBrains Mono"/>
              </a:rPr>
              <a:t>C6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696200" y="375285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938" b="1">
                <a:solidFill>
                  <a:srgbClr val="15171B"/>
                </a:solidFill>
                <a:latin typeface="Source Han Sans SC"/>
                <a:ea typeface="Source Han Sans SC"/>
              </a:rPr>
              <a:t>需外网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>DeepSeek API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，</a:t>
            </a:r>
            <a:r>
              <a:rPr lang="en-US" sz="938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938">
                <a:solidFill>
                  <a:srgbClr val="15171B"/>
                </a:solidFill>
                <a:latin typeface="Source Han Sans SC"/>
                <a:ea typeface="Source Han Sans SC"/>
              </a:rPr>
              <a:t>兼容）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696200" y="39814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863">
                <a:solidFill>
                  <a:srgbClr val="6E7480"/>
                </a:solidFill>
                <a:latin typeface="Source Han Sans SC"/>
                <a:ea typeface="Source Han Sans SC"/>
              </a:rPr>
              <a:t>脚本生成与合成必须解耦，网络不可达时任务失败可续跑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353300" y="4457700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5171B"/>
                </a:solidFill>
                <a:latin typeface="Source Han Sans SC"/>
                <a:ea typeface="Source Han Sans SC"/>
              </a:rPr>
              <a:t>技术选型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353300" y="4762500"/>
            <a:ext cx="415290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后端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FastAPI + SQLAlchemy 2.x + SQLite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WAL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前端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React 18 + Vite 5 + AntD 5 + Tailwind 3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推理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CosyVoice2-0.5B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>fp16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）·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后期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FFmpeg 9.0.1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生成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DeepSeek API · </a:t>
            </a:r>
            <a:r>
              <a:rPr lang="zh-CN" sz="900">
                <a:solidFill>
                  <a:srgbClr val="5A6069"/>
                </a:solidFill>
                <a:latin typeface="Source Han Sans SC"/>
                <a:ea typeface="Source Han Sans SC"/>
              </a:rPr>
              <a:t>鉴权</a:t>
            </a:r>
            <a:r>
              <a:rPr lang="en-US" sz="900">
                <a:solidFill>
                  <a:srgbClr val="5A6069"/>
                </a:solidFill>
                <a:latin typeface="Source Han Sans SC"/>
                <a:ea typeface="Source Han Sans SC"/>
              </a:rPr>
              <a:t xml:space="preserve"> bcrypt + JWT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12 / 17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85800" y="4857750"/>
            <a:ext cx="634365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7353300" y="1657350"/>
            <a:ext cx="415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7353300" y="4333875"/>
            <a:ext cx="415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8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第三件事：做到什么程度，还差什么。&#10;&#10;我把两件事放进同一章，因为它们其实是一回事的两面——一个系统可信不可信，不在于它说自己做到了多少，而在于它对自己没做到的部分说不说得清楚。&#10;&#10;指标那一页，我会把每一项的证据级别标出来：哪几项是机器算的、能当场复跑，哪一项是人听的。缺陷那一页我会讲六个我自己踩的坑，重点不是「我修好了」，而是「它为什么能活那么久没被发现」。最后是四件到今天还没做完的事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做到什么程度、还差什么&lt;/Text&gt;&#10;            &lt;Text style={{ fontSize: 13, color: '#6E7480', fontFamily: '&quot;JetBrains Mono&quot;,&quot;Cascadia Mono&quot;,Consolas,monospace', lineHeight: 1.4 }}&gt;第三章 · 03 / 03&lt;/Text&gt;&#10;        &lt;/Box&gt;&#10;        &lt;Box style={{ flexDirection: 'column' }}&gt;&#10;            &lt;Text style={{ fontSize: 14, color: '#6E7480', lineHeight: 1.5 }}&gt;&#10;                这一章里会有不好看的内容，但我不打算把它藏起来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alignItems: 'center' }}&gt;&#10;&#10;        &lt;Box style={{ width: 300, flexDirection: 'column' }}&gt;&#10;            &lt;Text style={{ fontSize: 160, fontWeight: 'bold', color: '#D9480F', fontFamily: '&quot;JetBrains Mono&quot;,&quot;Cascadia Mono&quot;,Consolas,monospace', lineHeight: 1 }}&gt;&#10;                03&#10;            &lt;/Text&gt;&#10;        &lt;/Box&gt;&#10;&#10;        &lt;Box style={{ flex: 1, flexDirection: 'column' }}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五项指标：可用率、逐句一致率、MOS、端到端耗时、峰值显存。四项机器算，一项人听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六个真实缺陷。共同点是「失败不发声」，所以对策是让失败必然出声，而不是盯得更紧。&#10;                &lt;/Text&gt;&#10;            &lt;/Box&gt;&#10;&#10;            &lt;Box style={{ height: 40 }} /&gt;&#10;&#10;            &lt;Box style={{ flexDirection: 'row', alignItems: 'flex-start', gap: 16 }}&gt;&#10;                &lt;Box style={{ width: 6, height: 6, background: '#D9480F', marginTop: 13 }} /&gt;&#10;                &lt;Text style={{ flex: 1, fontSize: 22, color: '#2A2E34', lineHeight: 1.7 }}&gt;&#10;                    四件到今天还没做完的事：录屏、签字、用耳朵听一遍片头、浏览器只测了 Edge。&#10;                &lt;/Text&gt;&#10;            &lt;/Box&gt;&#10;&#10;            &lt;Box style={{ height: 40 }} /&gt;&#10;&#10;            &lt;Box style={{ borderLeft: '2px solid #D9480F', paddingLeft: 14 }}&gt;&#10;                &lt;Text style={{ fontSize: 17, color: '#15171B', lineHeight: 1.6 }}&gt;&#10;                    一个系统的可信度，看它对自己没做到的部分说不说得清楚。&#10;                &lt;/Text&gt;&#10;            &lt;/Box&gt;&#10;&#10;        &lt;/Box&gt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3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5623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做到什么程度、还差什么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401300" y="46672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第三章</a:t>
            </a: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03 / 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这一章里会有不好看的内容，但我不打算把它藏起来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28575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D9480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543300" y="203835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752850" y="191452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五项指标：可用率、逐句一致率、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>MOS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、端到端耗时、峰值显存。四项机器算，一项人听。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3543300" y="327660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752850" y="3152775"/>
            <a:ext cx="7753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六个真实缺陷。共同点是「失败不发声」，所以对策是让失败必然出声，而不是盯得更紧。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543300" y="4514850"/>
            <a:ext cx="57150" cy="571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752850" y="4391025"/>
            <a:ext cx="775335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四件到今天还没做完的事：录屏、签字、用耳朵听一遍片头、浏览器只测了</a:t>
            </a:r>
            <a:r>
              <a:rPr lang="en-US" sz="1650">
                <a:solidFill>
                  <a:srgbClr val="2A2E34"/>
                </a:solidFill>
                <a:latin typeface="Source Han Sans SC"/>
                <a:ea typeface="Source Han Sans SC"/>
              </a:rPr>
              <a:t xml:space="preserve"> Edge</a:t>
            </a:r>
            <a:r>
              <a:rPr lang="zh-CN" sz="1650">
                <a:solidFill>
                  <a:srgbClr val="2A2E34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543300" y="5200650"/>
            <a:ext cx="7981950" cy="314325"/>
          </a:xfrm>
          <a:custGeom>
            <a:pathLst>
              <a:path w="838" h="33">
                <a:moveTo>
                  <a:pt x="0" y="0"/>
                </a:moveTo>
                <a:lnTo>
                  <a:pt x="2" y="0"/>
                </a:lnTo>
                <a:lnTo>
                  <a:pt x="2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695700" y="5200650"/>
            <a:ext cx="7810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5171B"/>
                </a:solidFill>
                <a:latin typeface="Source Han Sans SC"/>
                <a:ea typeface="Source Han Sans SC"/>
              </a:rPr>
              <a:t>一个系统的可信度，看它对自己没做到的部分说不说得清楚。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13 / 17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是我最想讲清楚的一页。&#10;&#10;五项指标，我一项一项说，并且每一项都标清楚证据是什么。第一项，结构可用率，十二条测试主题全部结构合规，十二比十二。第二项，逐句一致率，一千一百二十比一千一百二十，百分之百——这是把库里三十六期成片全部离线普查一遍得出的，不触发合成、不占显卡，脚本可以随时重跑。第四项，一千字脚本的端到端耗时，稳态口径是五点四到六点二分钟，指标是十分钟，有余量。第五项，峰值显存，两条口径都没过线。&#10;&#10;第三项要单独说。MOS 是人听的，我找了三位朋友听完，反馈都是「都没问题」。但我没有让他们填评分表，所以这一项我给不出均分。有的汇报会在这里写一个四点几分出来——那个数我没法复算，我不写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五项指标：四项机器算的，一项是人听的&lt;/Text&gt;&#10;            &lt;Text style={{ fontSize: 13, color: '#6E7480', fontFamily: '&quot;JetBrains Mono&quot;,&quot;Cascadia Mono&quot;,Consolas,monospace', lineHeight: 1.4 }}&gt;03 做到什么程度、还差什么&lt;/Text&gt;&#10;        &lt;/Box&gt;&#10;        &lt;Box style={{ flexDirection: 'column' }}&gt;&#10;            &lt;Text style={{ fontSize: 14, color: '#6E7480', lineHeight: 1.5 }}&gt;&#10;                每项都标证据级别：机器证据可当场复跑，人证只能说到「谁听过、听到了什么」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2 }}&gt;&#10;&#10;        {/* 左栏：巨型锚点 */}&#10;        &lt;Box style={{ width: 600, flexDirection: 'column', paddingRight: 46 }}&gt;&#10;&#10;            &lt;Text style={{ fontSize: 96, fontWeight: 'bold', color: '#D9480F', fontFamily: '&quot;JetBrains Mono&quot;,&quot;Cascadia Mono&quot;,Consolas,monospace', lineHeight: 1 }}&gt;&#10;                1120/1120&#10;            &lt;/Text&gt;&#10;            &lt;Box style={{ height: 14 }} /&gt;&#10;            &lt;Text style={{ fontSize: 16, color: '#4B5158', lineHeight: 1.6 }}&gt;&#10;                逐句一致率 = &lt;span style={{ fontWeight: 'bold', color: '#15171B' }}&gt;100.00%&lt;/span&gt;　·　36 期成片离线全量普查，不触发合成、不占 GPU&#10;            &lt;/Text&gt;&#10;&#10;            &lt;Box style={{ height: 28 }} /&gt;&#10;            &lt;Box style={{ height: 1, background: '#15171B', opacity: 0.12 }} /&gt;&#10;            &lt;Box style={{ height: 24 }} /&gt;&#10;&#10;            &lt;Box style={{ flexDirection: 'row', alignItems: 'flex-end', gap: 40 }}&gt;&#10;                &lt;Box style={{ flexDirection: 'column' }}&gt;&#10;                    &lt;Text style={{ fontSize: 56, fontWeight: 'bold', color: '#15171B', fontFamily: '&quot;JetBrains Mono&quot;,&quot;Cascadia Mono&quot;,Consolas,monospace', lineHeight: 1 }}&gt;&#10;                        411&#10;                    &lt;/Text&gt;&#10;                    &lt;Box style={{ height: 8 }} /&gt;&#10;                    &lt;Text style={{ fontSize: 14, color: '#6E7480', lineHeight: 1.5 }}&gt;&#10;                        项后端回归用例&lt;br /&gt;junit 口径，非控制台点阵&#10;                    &lt;/Text&gt;&#10;                &lt;/Box&gt;&#10;                &lt;Box style={{ flexDirection: 'column' }}&gt;&#10;                    &lt;Text style={{ fontSize: 56, fontWeight: 'bold', color: '#15171B', fontFamily: '&quot;JetBrains Mono&quot;,&quot;Cascadia Mono&quot;,Consolas,monospace', lineHeight: 1 }}&gt;&#10;                        35&#10;                    &lt;/Text&gt;&#10;                    &lt;Box style={{ height: 8 }} /&gt;&#10;                    &lt;Text style={{ fontSize: 14, color: '#6E7480', lineHeight: 1.5 }}&gt;&#10;                        条变异测试&lt;br /&gt;全部按预期变红&#10;                    &lt;/Text&gt;&#10;                &lt;/Box&gt;&#10;            &lt;/Box&gt;&#10;&#10;        &lt;/Box&gt;&#10;&#10;        {/* 右栏：五项 */}&#10;        &lt;Box style={{ flex: 1, flexDirection: 'column' }}&gt;&#10;&#10;            &lt;Box style={{ height: 1, background: '#15171B', opacity: 0.12 }} /&gt;&#10;            &lt;Box style={{ height: 12 }} /&gt;&#10;            &lt;Box style={{ flexDirection: 'row', alignItems: 'baseline' }}&gt;&#10;                &lt;Text style={{ width: 158, fontSize: 21, fontWeight: 'bold', color: '#15171B', fontFamily: '&quot;JetBrains Mono&quot;,&quot;Cascadia Mono&quot;,Consolas,monospace' }}&gt;12 / 12&lt;/Text&gt;&#10;                &lt;Text style={{ flex: 1, fontSize: 15, color: '#15171B' }}&gt;结构可用率&lt;/Text&gt;&#10;                &lt;Text style={{ fontSize: 12, color: '#6E7480' }}&gt;机器&lt;/Text&gt;&#10;            &lt;/Box&gt;&#10;            &lt;Box style={{ height: 3 }} /&gt;&#10;            &lt;Text style={{ fontSize: 13, color: '#6E7480' }}&gt;门槛 ≥ 80%；12 条测试主题全部结构合规、未命中合规自检&lt;/Text&gt;&#10;&#10;            &lt;Box style={{ height: 18 }} /&gt;&#10;            &lt;Box style={{ height: 1, background: '#15171B', opacity: 0.12 }} /&gt;&#10;            &lt;Box style={{ height: 12 }} /&gt;&#10;            &lt;Box style={{ flexDirection: 'row', alignItems: 'baseline' }}&gt;&#10;                &lt;Text style={{ width: 158, fontSize: 21, fontWeight: 'bold', color: '#15171B', fontFamily: '&quot;JetBrains Mono&quot;,&quot;Cascadia Mono&quot;,Consolas,monospace' }}&gt;1120 / 1120&lt;/Text&gt;&#10;                &lt;Text style={{ flex: 1, fontSize: 15, color: '#15171B' }}&gt;逐句一致率&lt;/Text&gt;&#10;                &lt;Text style={{ fontSize: 12, color: '#6E7480' }}&gt;机器&lt;/Text&gt;&#10;            &lt;/Box&gt;&#10;            &lt;Box style={{ height: 3 }} /&gt;&#10;            &lt;Text style={{ fontSize: 13, color: '#6E7480' }}&gt;门槛 = 100%；36 期全量普查，脚本可任意重跑&lt;/Text&gt;&#10;&#10;            &lt;Box style={{ height: 18 }} /&gt;&#10;            &lt;Box style={{ height: 1, background: '#15171B', opacity: 0.12 }} /&gt;&#10;            &lt;Box style={{ height: 12 }} /&gt;&#10;            &lt;Box style={{ flexDirection: 'row', alignItems: 'baseline' }}&gt;&#10;                &lt;Text style={{ width: 158, fontSize: 21, fontWeight: 'bold', color: '#D9480F', fontFamily: '&quot;JetBrains Mono&quot;,&quot;Cascadia Mono&quot;,Consolas,monospace' }}&gt;无均分&lt;/Text&gt;&#10;                &lt;Text style={{ flex: 1, fontSize: 15, color: '#15171B' }}&gt;MOS 主观听测&lt;/Text&gt;&#10;                &lt;Text style={{ fontSize: 12, color: '#D9480F' }}&gt;人证&lt;/Text&gt;&#10;            &lt;/Box&gt;&#10;            &lt;Box style={{ height: 3 }} /&gt;&#10;            &lt;Text style={{ fontSize: 13, color: '#6E7480' }}&gt;3 位真人听完反馈「都没问题」；没有评分表，所以不给数字&lt;/Text&gt;&#10;&#10;            &lt;Box style={{ height: 18 }} /&gt;&#10;            &lt;Box style={{ height: 1, background: '#15171B', opacity: 0.12 }} /&gt;&#10;            &lt;Box style={{ height: 12 }} /&gt;&#10;            &lt;Box style={{ flexDirection: 'row', alignItems: 'baseline' }}&gt;&#10;                &lt;Text style={{ width: 158, fontSize: 21, fontWeight: 'bold', color: '#15171B', fontFamily: '&quot;JetBrains Mono&quot;,&quot;Cascadia Mono&quot;,Consolas,monospace' }}&gt;5.4~6.2 min&lt;/Text&gt;&#10;                &lt;Text style={{ flex: 1, fontSize: 15, color: '#15171B' }}&gt;1000 字端到端&lt;/Text&gt;&#10;                &lt;Text style={{ fontSize: 12, color: '#6E7480' }}&gt;机器&lt;/Text&gt;&#10;            &lt;/Box&gt;&#10;            &lt;Box style={{ height: 3 }} /&gt;&#10;            &lt;Text style={{ fontSize: 13, color: '#6E7480' }}&gt;门槛 ≤ 10 min；稳态口径，报数必须标冷启/稳态&lt;/Text&gt;&#10;&#10;            &lt;Box style={{ height: 18 }} /&gt;&#10;            &lt;Box style={{ height: 1, background: '#15171B', opacity: 0.12 }} /&gt;&#10;            &lt;Box style={{ height: 12 }} /&gt;&#10;            &lt;Box style={{ flexDirection: 'row', alignItems: 'baseline' }}&gt;&#10;                &lt;Text style={{ width: 158, fontSize: 21, fontWeight: 'bold', color: '#15171B', fontFamily: '&quot;JetBrains Mono&quot;,&quot;Cascadia Mono&quot;,Consolas,monospace' }}&gt;3551.7 MiB&lt;/Text&gt;&#10;                &lt;Text style={{ flex: 1, fontSize: 15, color: '#15171B' }}&gt;峰值显存&lt;/Text&gt;&#10;                &lt;Text style={{ fontSize: 12, color: '#6E7480' }}&gt;机器&lt;/Text&gt;&#10;            &lt;/Box&gt;&#10;            &lt;Box style={{ height: 3 }} /&gt;&#10;            &lt;Text style={{ fontSize: 13, color: '#6E7480' }}&gt;门槛 3600 / 4200；例外与越线情况见上一页&lt;/Text&gt;&#10;&#10;            &lt;Box style={{ height: 20 }} /&gt;&#10;            &lt;Box style={{ borderLeft: '2px solid #D9480F', paddingLeft: 12 }}&gt;&#10;                &lt;Text style={{ fontSize: 15, color: '#15171B', lineHeight: 1.6 }}&gt;&#10;                    第三项是人听的，我给不出均分这个数 —— 我不编。&#10;                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4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58293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五项指标：四项机器算的，一项是人听的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925050" y="466725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03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做到什么程度、还差什么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每项都标证据级别：机器证据可当场复跑，人证只能说到「谁听过、听到了什么」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52768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D9480F"/>
                </a:solidFill>
                <a:latin typeface="JetBrains Mono"/>
                <a:ea typeface="JetBrains Mono"/>
              </a:rPr>
              <a:t>1120/1120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2590800"/>
            <a:ext cx="5276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158"/>
                </a:solidFill>
                <a:latin typeface="Source Han Sans SC"/>
                <a:ea typeface="Source Han Sans SC"/>
              </a:rPr>
              <a:t>逐句一致率</a:t>
            </a:r>
            <a:r>
              <a:rPr lang="en-US" sz="120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en-US" sz="1200" b="1">
                <a:solidFill>
                  <a:srgbClr val="15171B"/>
                </a:solidFill>
                <a:latin typeface="Source Han Sans SC"/>
                <a:ea typeface="Source Han Sans SC"/>
              </a:rPr>
              <a:t>100.00%</a:t>
            </a:r>
            <a:r>
              <a:rPr lang="zh-CN" sz="1200">
                <a:solidFill>
                  <a:srgbClr val="4B5158"/>
                </a:solidFill>
                <a:latin typeface="Source Han Sans SC"/>
                <a:ea typeface="Source Han Sans SC"/>
              </a:rPr>
              <a:t>　·　</a:t>
            </a:r>
            <a:r>
              <a:rPr lang="en-US" sz="120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36 </a:t>
            </a:r>
            <a:r>
              <a:rPr lang="zh-CN" sz="1200">
                <a:solidFill>
                  <a:srgbClr val="4B5158"/>
                </a:solidFill>
                <a:latin typeface="Source Han Sans SC"/>
                <a:ea typeface="Source Han Sans SC"/>
              </a:rPr>
              <a:t>期成片离线全量普查，不触发合成、不占</a:t>
            </a:r>
            <a:r>
              <a:rPr lang="en-US" sz="120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GPU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3686175"/>
            <a:ext cx="15335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5171B"/>
                </a:solidFill>
                <a:latin typeface="JetBrains Mono"/>
                <a:ea typeface="JetBrains Mono"/>
              </a:rPr>
              <a:t>411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4410075"/>
            <a:ext cx="153352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项后端回归用例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junit </a:t>
            </a: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口径，非控制台点阵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600325" y="3686175"/>
            <a:ext cx="9334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5171B"/>
                </a:solidFill>
                <a:latin typeface="JetBrains Mono"/>
                <a:ea typeface="JetBrains Mono"/>
              </a:rPr>
              <a:t>35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600325" y="4410075"/>
            <a:ext cx="93345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条变异测试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全部按预期变红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400800" y="1476375"/>
            <a:ext cx="150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5171B"/>
                </a:solidFill>
                <a:latin typeface="JetBrains Mono"/>
                <a:ea typeface="JetBrains Mono"/>
              </a:rPr>
              <a:t>12 / 12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905750" y="14763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结构可用率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277600" y="1476375"/>
            <a:ext cx="22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机器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400800" y="17526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门槛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≥ 80%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12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条测试主题全部结构合规、未命中合规自检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00800" y="2200275"/>
            <a:ext cx="150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5171B"/>
                </a:solidFill>
                <a:latin typeface="JetBrains Mono"/>
                <a:ea typeface="JetBrains Mono"/>
              </a:rPr>
              <a:t>1120 / 1120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905750" y="22002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逐句一致率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77600" y="2200275"/>
            <a:ext cx="22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机器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00800" y="24765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门槛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= 100%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36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期全量普查，脚本可任意重跑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400800" y="2924175"/>
            <a:ext cx="150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9480F"/>
                </a:solidFill>
                <a:latin typeface="JetBrains Mono"/>
                <a:ea typeface="JetBrains Mono"/>
              </a:rPr>
              <a:t>无均分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905750" y="29241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MOS </a:t>
            </a: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主观听测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277600" y="2924175"/>
            <a:ext cx="22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9480F"/>
                </a:solidFill>
                <a:latin typeface="Source Han Sans SC"/>
                <a:ea typeface="Source Han Sans SC"/>
              </a:rPr>
              <a:t>人证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400800" y="32004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3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位真人听完反馈「都没问题」；没有评分表，所以不给数字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400800" y="3648075"/>
            <a:ext cx="150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5171B"/>
                </a:solidFill>
                <a:latin typeface="JetBrains Mono"/>
                <a:ea typeface="JetBrains Mono"/>
              </a:rPr>
              <a:t>5.4~6.2 min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905750" y="36480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1000 </a:t>
            </a: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字端到端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277600" y="3648075"/>
            <a:ext cx="22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机器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400800" y="39243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门槛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≤ 10 min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；稳态口径，报数必须标冷启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稳态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1504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5171B"/>
                </a:solidFill>
                <a:latin typeface="JetBrains Mono"/>
                <a:ea typeface="JetBrains Mono"/>
              </a:rPr>
              <a:t>3551.7 MiB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905750" y="43719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峰值显存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277600" y="4371975"/>
            <a:ext cx="22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E7480"/>
                </a:solidFill>
                <a:latin typeface="Source Han Sans SC"/>
                <a:ea typeface="Source Han Sans SC"/>
              </a:rPr>
              <a:t>机器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400800" y="464820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门槛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3600 / 4200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；例外与越线情况见上一页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400800" y="4991100"/>
            <a:ext cx="5124450" cy="276225"/>
          </a:xfrm>
          <a:custGeom>
            <a:pathLst>
              <a:path w="538" h="29">
                <a:moveTo>
                  <a:pt x="0" y="0"/>
                </a:moveTo>
                <a:lnTo>
                  <a:pt x="2" y="0"/>
                </a:lnTo>
                <a:lnTo>
                  <a:pt x="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D9480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534150" y="4991100"/>
            <a:ext cx="4972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第三项是人听的，我给不出均分这个数</a:t>
            </a:r>
            <a:r>
              <a:rPr lang="en-US" sz="1125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125">
                <a:solidFill>
                  <a:srgbClr val="15171B"/>
                </a:solidFill>
                <a:latin typeface="Source Han Sans SC"/>
                <a:ea typeface="Source Han Sans SC"/>
              </a:rPr>
              <a:t>我不编。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14 / 17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85800" y="3448050"/>
            <a:ext cx="527685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400800" y="1352550"/>
            <a:ext cx="5105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400800" y="2076450"/>
            <a:ext cx="5105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6400800" y="2800350"/>
            <a:ext cx="5105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400800" y="3524250"/>
            <a:ext cx="5105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400800" y="4248150"/>
            <a:ext cx="5105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9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这一页是六个真实的缺陷，我挑两个说。&#10;&#10;第一个，vite 的代理配置我写成了前缀匹配，结果前端的页面路由 /feed 被代理规则吃掉了，打开那个页面就是空的。为什么没早点发现？因为代理转发和页面路由本来是两个不相干的东西，而我的测试只访问了首页。&#10;&#10;第五个更有意思。报告里我写「MOS 包是六段抽样」，但实际交付的包是由清单里十二个条目拼起来的。结论没错，但规格描述和产物对不上。这不是代码问题，是文档漂移——我改了产物，没回头改描述产物的那句话。&#10;&#10;六个缺陷有一个共同点：它们全都活过了当时的回归和门禁。失败不发声，就不会有人去找它。所以对策不是「更仔细地看」，而是让失败必然出声——现在有三十五条变异测试，把代码故意改坏，看测试会不会红；判据本身也自带一个自检开关。&#10;&#10;最下面四件事，是我到今天还没做完的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六个缺陷，和还没做完的四件事&lt;/Text&gt;&#10;            &lt;Text style={{ fontSize: 13, color: '#6E7480', fontFamily: '&quot;JetBrains Mono&quot;,&quot;Cascadia Mono&quot;,Consolas,monospace', lineHeight: 1.4 }}&gt;03 做到什么程度、还差什么&lt;/Text&gt;&#10;        &lt;/Box&gt;&#10;        &lt;Box style={{ flexDirection: 'column' }}&gt;&#10;            &lt;Text style={{ fontSize: 14, color: '#6E7480', lineHeight: 1.5 }}&gt;&#10;                六个都是真实发生、能复现、已修复的；每条都给出「它为什么没被发现」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0 }}&gt;&#10;&#10;        {/* 左栏 */}&#10;        &lt;Box style={{ width: 264, flexDirection: 'column', paddingRight: 40 }}&gt;&#10;            &lt;Box style={{ width: 44, height: 3, background: '#D9480F' }} /&gt;&#10;            &lt;Box style={{ height: 18 }} /&gt;&#10;            &lt;Text style={{ fontSize: 20, fontWeight: 'bold', color: '#15171B', lineHeight: 1.5 }}&gt;&#10;                六个坑的共同点&lt;br /&gt;是「失败不发声」&#10;            &lt;/Text&gt;&#10;            &lt;Box style={{ height: 16 }} /&gt;&#10;            &lt;Text style={{ fontSize: 14, color: '#4B5158', lineHeight: 1.75 }}&gt;&#10;                它们全都活过了当时的回归和门禁。没有人会去找一个不会叫的问题。&#10;            &lt;/Text&gt;&#10;            &lt;Box style={{ height: 16 }} /&gt;&#10;            &lt;Text style={{ fontSize: 14, color: '#4B5158', lineHeight: 1.75 }}&gt;&#10;                所以对策不是盯得更紧，是让失败必然出声：35 条变异测试（把代码故意改坏，看测试会不会红），判据自带 &lt;span style={{ fontFamily: '&quot;JetBrains Mono&quot;,&quot;Cascadia Mono&quot;,Consolas,monospace' }}&gt;--self-test&lt;/span&gt;。&#10;            &lt;/Text&gt;&#10;        &lt;/Box&gt;&#10;&#10;        {/* 右栏：六条 */}&#10;        &lt;Box style={{ flex: 1, flexDirection: 'column' }}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1&lt;/Text&gt;&#10;                &lt;Box style={{ flex: 1, flexDirection: 'column' }}&gt;&#10;                    &lt;Text style={{ fontSize: 15, fontWeight: 'bold', color: '#15171B', lineHeight: 1.5 }}&gt;vite 代理键是前缀匹配，把前端自己的页面路由吞了&lt;/Text&gt;&#10;                    &lt;Box style={{ height: 2 }} /&gt;&#10;                    &lt;Text style={{ fontSize: 13, color: '#6E7480', lineHeight: 1.55 }}&gt;为什么没发现：代理转发和页面路由互不相干，测试只访问了首页&lt;/Text&gt;&#10;                &lt;/Box&gt;&#10;            &lt;/Box&gt;&#10;            &lt;Box style={{ height: 12 }} /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2&lt;/Text&gt;&#10;                &lt;Box style={{ flex: 1, flexDirection: 'column' }}&gt;&#10;                    &lt;Text style={{ fontSize: 15, fontWeight: 'bold', color: '#15171B', lineHeight: 1.5 }}&gt;演示账号口令哈希是 1 字节占位，登录必失败，还伪装成口令错误&lt;/Text&gt;&#10;                    &lt;Box style={{ height: 2 }} /&gt;&#10;                    &lt;Text style={{ fontSize: 13, color: '#6E7480', lineHeight: 1.55 }}&gt;为什么没发现：出得了成片就以为账号没问题，从没真正登进去过&lt;/Text&gt;&#10;                &lt;/Box&gt;&#10;            &lt;/Box&gt;&#10;            &lt;Box style={{ height: 12 }} /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3&lt;/Text&gt;&#10;                &lt;Box style={{ flex: 1, flexDirection: 'column' }}&gt;&#10;                    &lt;Text style={{ fontSize: 15, fontWeight: 'bold', color: '#15171B', lineHeight: 1.5 }}&gt;任务详情页的「脚本回看」是死代码：渲染条件与拉取条件互斥&lt;/Text&gt;&#10;                    &lt;Box style={{ height: 2 }} /&gt;&#10;                    &lt;Text style={{ fontSize: 13, color: '#6E7480', lineHeight: 1.55 }}&gt;为什么没发现：页面能打开、不报错，只是那一块永远空着&lt;/Text&gt;&#10;                &lt;/Box&gt;&#10;            &lt;/Box&gt;&#10;            &lt;Box style={{ height: 12 }} /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4&lt;/Text&gt;&#10;                &lt;Box style={{ flex: 1, flexDirection: 'column' }}&gt;&#10;                    &lt;Text style={{ fontSize: 15, fontWeight: 'bold', color: '#15171B', lineHeight: 1.5 }}&gt;素材说明文档三类漂移，版本沿革表整体错位一代&lt;/Text&gt;&#10;                    &lt;Box style={{ height: 2 }} /&gt;&#10;                    &lt;Text style={{ fontSize: 13, color: '#6E7480', lineHeight: 1.55 }}&gt;为什么没发现：它不在交付文档集、不过门禁、不参与任何测试&lt;/Text&gt;&#10;                &lt;/Box&gt;&#10;            &lt;/Box&gt;&#10;            &lt;Box style={{ height: 12 }} /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5&lt;/Text&gt;&#10;                &lt;Box style={{ flex: 1, flexDirection: 'column' }}&gt;&#10;                    &lt;Text style={{ fontSize: 15, fontWeight: 'bold', color: '#15171B', lineHeight: 1.5 }}&gt;报告把 MOS 包写成「6 段抽样」，实际由 12 个条目拼成&lt;/Text&gt;&#10;                    &lt;Box style={{ height: 2 }} /&gt;&#10;                    &lt;Text style={{ fontSize: 13, color: '#6E7480', lineHeight: 1.55 }}&gt;为什么没发现：结论没错，只有规格描述和产物对不上&lt;/Text&gt;&#10;                &lt;/Box&gt;&#10;            &lt;/Box&gt;&#10;            &lt;Box style={{ height: 12 }} /&gt;&#10;&#10;            &lt;Box style={{ height: 1, background: '#15171B', opacity: 0.12 }} /&gt;&#10;            &lt;Box style={{ height: 8 }} /&gt;&#10;            &lt;Box style={{ flexDirection: 'row', alignItems: 'flex-start', gap: 14 }}&gt;&#10;                &lt;Text style={{ width: 40, fontSize: 16, fontWeight: 'bold', color: '#D9480F', fontFamily: '&quot;JetBrains Mono&quot;,&quot;Cascadia Mono&quot;,Consolas,monospace' }}&gt;K6&lt;/Text&gt;&#10;                &lt;Box style={{ flex: 1, flexDirection: 'column' }}&gt;&#10;                    &lt;Text style={{ fontSize: 15, fontWeight: 'bold', color: '#15171B', lineHeight: 1.5 }}&gt;运维手册描述的是重写前的启停脚本，后端还绑着 0.0.0.0&lt;/Text&gt;&#10;                    &lt;Box style={{ height: 2 }} /&gt;&#10;                    &lt;Text style={{ fontSize: 13, color: '#6E7480', lineHeight: 1.55 }}&gt;为什么没发现：脚本改了，却没人回头改描述脚本的文档&lt;/Text&gt;&#10;                &lt;/Box&gt;&#10;            &lt;/Box&gt;&#10;&#10;            &lt;Box style={{ height: 16 }} /&gt;&#10;            &lt;Box style={{ height: 1, background: '#D9480F', opacity: 0.5 }} /&gt;&#10;            &lt;Box style={{ height: 12 }} /&gt;&#10;            &lt;Box style={{ flexDirection: 'row', alignItems: 'center', gap: 12 }}&gt;&#10;                &lt;Text style={{ fontSize: 14, fontWeight: 'bold', color: '#D9480F' }}&gt;还没做完的四件事&lt;/Text&gt;&#10;                &lt;Text style={{ fontSize: 13, color: '#4B5158' }}&gt;演示录屏　|　验收自测表三角色签字　|　用耳朵听一遍片头　|　浏览器只实测了 Edge&lt;/Text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5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45339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六个缺陷，和还没做完的四件事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925050" y="466725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03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做到什么程度、还差什么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六个都是真实发生、能复现、已修复的；每条都给出「它为什么没被发现」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1333500"/>
            <a:ext cx="4191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21336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六个坑的共同点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是「失败不发声」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85800" y="2371725"/>
            <a:ext cx="21336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它们全都活过了当时的回归和门禁。没有人会去找一个不会叫的问题。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85800" y="3086100"/>
            <a:ext cx="21336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所以对策不是盯得更紧，是让失败必然出声：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35 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条变异测试（把代码故意改坏，看测试会不会红），判据自带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50">
                <a:solidFill>
                  <a:srgbClr val="4B5158"/>
                </a:solidFill>
                <a:latin typeface="Source Han Sans SC"/>
                <a:ea typeface="Source Han Sans SC"/>
              </a:rPr>
              <a:t>--self-test</a:t>
            </a: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200400" y="1419225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714750" y="14192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vite </a:t>
            </a: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代理键是前缀匹配，把前端自己的页面路由吞了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714750" y="1695450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为什么没发现：代理转发和页面路由互不相干，测试只访问了首页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200400" y="2133600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K2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714750" y="2133600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演示账号口令哈希是</a:t>
            </a: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字节占位，登录必失败，还伪装成口令错误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714750" y="2409825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为什么没发现：出得了成片就以为账号没问题，从没真正登进去过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200400" y="2847975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K3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714750" y="284797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任务详情页的「脚本回看」是死代码：渲染条件与拉取条件互斥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714750" y="3124200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为什么没发现：页面能打开、不报错，只是那一块永远空着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200400" y="3562350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K4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714750" y="3562350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素材说明文档三类漂移，版本沿革表整体错位一代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714750" y="3838575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为什么没发现：它不在交付文档集、不过门禁、不参与任何测试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200400" y="4276725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K5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714750" y="4276725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报告把</a:t>
            </a: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MOS </a:t>
            </a: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包写成「</a:t>
            </a: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6 </a:t>
            </a: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段抽样」，实际由</a:t>
            </a: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12 </a:t>
            </a: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个条目拼成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714750" y="4552950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为什么没发现：结论没错，只有规格描述和产物对不上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200400" y="4991100"/>
            <a:ext cx="38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480F"/>
                </a:solidFill>
                <a:latin typeface="JetBrains Mono"/>
                <a:ea typeface="JetBrains Mono"/>
              </a:rPr>
              <a:t>K6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714750" y="4991100"/>
            <a:ext cx="779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5171B"/>
                </a:solidFill>
                <a:latin typeface="Source Han Sans SC"/>
                <a:ea typeface="Source Han Sans SC"/>
              </a:rPr>
              <a:t>运维手册描述的是重写前的启停脚本，后端还绑着</a:t>
            </a:r>
            <a:r>
              <a:rPr lang="en-US" sz="1125" b="1">
                <a:solidFill>
                  <a:srgbClr val="15171B"/>
                </a:solidFill>
                <a:latin typeface="Source Han Sans SC"/>
                <a:ea typeface="Source Han Sans SC"/>
              </a:rPr>
              <a:t xml:space="preserve"> 0.0.0.0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714750" y="5267325"/>
            <a:ext cx="7791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为什么没发现：脚本改了，却没人回头改描述脚本的文档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200400" y="57816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9480F"/>
                </a:solidFill>
                <a:latin typeface="Source Han Sans SC"/>
                <a:ea typeface="Source Han Sans SC"/>
              </a:rPr>
              <a:t>还没做完的四件事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381500" y="5791200"/>
            <a:ext cx="477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演示录屏　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>|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　验收自测表三角色签字　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>|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　用耳朵听一遍片头　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>|</a:t>
            </a:r>
            <a:r>
              <a:rPr lang="zh-CN" sz="975">
                <a:solidFill>
                  <a:srgbClr val="4B5158"/>
                </a:solidFill>
                <a:latin typeface="Source Han Sans SC"/>
                <a:ea typeface="Source Han Sans SC"/>
              </a:rPr>
              <a:t>　浏览器只实测了</a:t>
            </a:r>
            <a:r>
              <a:rPr lang="en-US" sz="975">
                <a:solidFill>
                  <a:srgbClr val="4B5158"/>
                </a:solidFill>
                <a:latin typeface="Source Han Sans SC"/>
                <a:ea typeface="Source Han Sans SC"/>
              </a:rPr>
              <a:t xml:space="preserve"> Edge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15 / 17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3200400" y="1333500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3200400" y="2047875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3200400" y="2762250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3200400" y="3476625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3200400" y="4191000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3200400" y="4905375"/>
            <a:ext cx="83058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3200400" y="5657850"/>
            <a:ext cx="8305800" cy="9525"/>
          </a:xfrm>
          <a:prstGeom prst="rect">
            <a:avLst/>
          </a:prstGeom>
          <a:solidFill>
            <a:srgbClr val="D9480F">
              <a:alpha val="50000"/>
            </a:srgbClr>
          </a:solidFill>
          <a:ln/>
        </p:spPr>
        <p:txBody>
          <a:bodyPr/>
          <a:p/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9" name="" descr="&lt;Slide style={{ width: 1280, height: 720, background: '#FFFFFF', padding: '20px 72px 20px 72px', flexDirection: 'column', fontFamily: '&quot;Source Han Sans SC&quot;,&quot;Noto Sans SC&quot;,&quot;PingFang SC&quot;,&quot;Microsoft YaHei&quot;,sans-serif' }} notes={`讲完事，最后说四条我个人的体会。&#10;&#10;第一条，也是最贵的一条——门禁绿不等于东西是对的。我修的六个缺陷，全都活过了当时的回归和门禁。它们不是被测出来的，是我后来人肉按文档真用一遍才发现的。所以判据不能只看数量：要让它自带一个自检开关，代码里放一个已知的坏样本，看它会不会红；再拿三十五个变异，把代码故意改坏，看测试认不认。一个从来不会失败的测试，等于没有测试。&#10;&#10;第二条关于文档。这个项目里最集中的一类缺陷，不是代码写错，是我改了产物，却没有回头改那句描述产物的话。报告里写「六段抽样」，实物是十二个条目拼的；脚本改成绑本机了，手册还写着绑全部网卡。结论都对，就是对不上。这次做 PPT 又踩了一次同样的坑——打包脚本的说明模板没跟着改。同一个错犯三次，说明它不是疏忽，是没有机制。&#10;&#10;第三条，资源不够的时候怎么选。任务书建议八 GB 显存，我这块卡净可用只有四点三二 GB。不是靠调参抹平的，是靠两条纪律换来的：一次只干一件事，第二个人来了就排队；干过的句子不重干，缓存键拿八个字段拼出来。剩下的缺口我没有假装没有——撞顶那一次显存确实超了门槛，我在答辩页上如实标了没闭环。&#10;&#10;最后一条最简单也最难：不会写的就不写。语音质量这一项，我只找了三位真人听，他们都说没问题，但我没有评分表，所以我不给均分。没做完的四件事单列一页，不塞脚注。答辩这件事，评委想听的大概不是「我做得多好」，而是「我知不知道自己差在哪」。`}&gt;&#10;&#10;    {/* A · 标题块 */}&#10;    &lt;Box style={{ height: 100, flexDirection: 'column', justifyContent: 'space-between' }}&gt;&#10;        &lt;Box style={{ flexDirection: 'row', justifyContent: 'space-between', alignItems: 'flex-end' }}&gt;&#10;            &lt;Text style={{ fontSize: 34, fontWeight: 'bold', color: '#15171B', lineHeight: 1.25 }}&gt;做完这个项目，我留下四条&lt;/Text&gt;&#10;            &lt;Text style={{ fontSize: 13, color: '#6E7480', fontFamily: '&quot;JetBrains Mono&quot;,&quot;Cascadia Mono&quot;,Consolas,monospace', lineHeight: 1.4 }}&gt;04 项目心得&lt;/Text&gt;&#10;        &lt;/Box&gt;&#10;        &lt;Box style={{ flexDirection: 'column' }}&gt;&#10;            &lt;Text style={{ fontSize: 14, color: '#6E7480', lineHeight: 1.5 }}&gt;&#10;                不是总结成绩，是四条踩出来、以后能接着用的规矩&#10;            &lt;/Text&gt;&#10;            &lt;Box style={{ height: 10 }} /&gt;&#10;            &lt;Box style={{ height: 1, background: '#15171B', opacity: 0.12 }} /&gt;&#10;        &lt;/Box&gt;&#10;    &lt;/Box&gt;&#10;&#10;    {/* B · 内容区 */}&#10;    &lt;Box style={{ height: 540, flexDirection: 'row', paddingTop: 20 }}&gt;&#10;&#10;        {/* 左栏：判断句 */}&#10;        &lt;Box style={{ width: 300, flexDirection: 'column', paddingRight: 44 }}&gt;&#10;            &lt;Box style={{ width: 44, height: 3, background: '#D9480F' }} /&gt;&#10;            &lt;Box style={{ height: 18 }} /&gt;&#10;            &lt;Text style={{ fontSize: 20, fontWeight: 'bold', color: '#15171B', lineHeight: 1.5 }}&gt;&#10;                「哪里做得还行」&lt;br /&gt;不是评委想听的&#10;            &lt;/Text&gt;&#10;            &lt;Box style={{ height: 16 }} /&gt;&#10;            &lt;Text style={{ fontSize: 14, color: '#4B5158', lineHeight: 1.75 }}&gt;&#10;                十四天做下来，真正值钱的不是跑通的那几个指标，是搞清楚了自己会在哪儿出错。&#10;            &lt;/Text&gt;&#10;            &lt;Box style={{ height: 16 }} /&gt;&#10;            &lt;Text style={{ fontSize: 14, color: '#4B5158', lineHeight: 1.75 }}&gt;&#10;                下面四条，前两条是挨过打才记住的，后两条是当时就得做的选择。&#10;            &lt;/Text&gt;&#10;        &lt;/Box&gt;&#10;&#10;        {/* 右栏：四条 */}&#10;        &lt;Box style={{ flex: 1, flexDirection: 'column' }}&gt;&#10;&#10;            &lt;Box style={{ height: 1, background: '#15171B', opacity: 0.12 }} /&gt;&#10;            &lt;Box style={{ height: 10 }} /&gt;&#10;            &lt;Box style={{ flexDirection: 'row', alignItems: 'flex-start', gap: 16 }}&gt;&#10;                &lt;Text style={{ width: 46, fontSize: 22, fontWeight: 'bold', color: '#D9480F', fontFamily: '&quot;JetBrains Mono&quot;,&quot;Cascadia Mono&quot;,Consolas,monospace', lineHeight: 1.2 }}&gt;01&lt;/Text&gt;&#10;                &lt;Box style={{ flex: 1, flexDirection: 'column' }}&gt;&#10;                    &lt;Text style={{ fontSize: 17, fontWeight: 'bold', color: '#15171B', lineHeight: 1.4 }}&gt;门禁绿，不等于东西是对的&lt;/Text&gt;&#10;                    &lt;Box style={{ height: 3 }} /&gt;&#10;                    &lt;Text style={{ fontSize: 13.5, color: '#6E7480', lineHeight: 1.6 }}&gt;六个缺陷全活过了当时的回归和门禁。对策不是看得更紧，是让失败必然出声：判据自带 &lt;span style={{ fontFamily: '&quot;JetBrains Mono&quot;,&quot;Cascadia Mono&quot;,Consolas,monospace' }}&gt;--self-test&lt;/span&gt;，再拿 35 条变异把代码故意改坏，看测试认不认&lt;/Text&gt;&#10;                &lt;/Box&gt;&#10;            &lt;/Box&gt;&#10;            &lt;Box style={{ height: 14 }} /&gt;&#10;&#10;            &lt;Box style={{ height: 1, background: '#15171B', opacity: 0.12 }} /&gt;&#10;            &lt;Box style={{ height: 10 }} /&gt;&#10;            &lt;Box style={{ flexDirection: 'row', alignItems: 'flex-start', gap: 16 }}&gt;&#10;                &lt;Text style={{ width: 46, fontSize: 22, fontWeight: 'bold', color: '#D9480F', fontFamily: '&quot;JetBrains Mono&quot;,&quot;Cascadia Mono&quot;,Consolas,monospace', lineHeight: 1.2 }}&gt;02&lt;/Text&gt;&#10;                &lt;Box style={{ flex: 1, flexDirection: 'column' }}&gt;&#10;                    &lt;Text style={{ fontSize: 17, fontWeight: 'bold', color: '#15171B', lineHeight: 1.4 }}&gt;改了产物，就得回头改描述它的那句话&lt;/Text&gt;&#10;                    &lt;Box style={{ height: 3 }} /&gt;&#10;                    &lt;Text style={{ fontSize: 13.5, color: '#6E7480', lineHeight: 1.6 }}&gt;最集中的一类缺陷不是代码写错，是文档和实物对不上：报告写「6 段抽样」、实物 12 个条目；脚本已绑本机、手册还写绑 0.0.0.0。同一个错犯三次，就不是疏忽，是没机制&lt;/Text&gt;&#10;                &lt;/Box&gt;&#10;            &lt;/Box&gt;&#10;            &lt;Box style={{ height: 14 }} /&gt;&#10;&#10;            &lt;Box style={{ height: 1, background: '#15171B', opacity: 0.12 }} /&gt;&#10;            &lt;Box style={{ height: 10 }} /&gt;&#10;            &lt;Box style={{ flexDirection: 'row', alignItems: 'flex-start', gap: 16 }}&gt;&#10;                &lt;Text style={{ width: 46, fontSize: 22, fontWeight: 'bold', color: '#D9480F', fontFamily: '&quot;JetBrains Mono&quot;,&quot;Cascadia Mono&quot;,Consolas,monospace', lineHeight: 1.2 }}&gt;03&lt;/Text&gt;&#10;                &lt;Box style={{ flex: 1, flexDirection: 'column' }}&gt;&#10;                    &lt;Text style={{ fontSize: 17, fontWeight: 'bold', color: '#15171B', lineHeight: 1.4 }}&gt;资源不够时，先改做法，再谈调参&lt;/Text&gt;&#10;                    &lt;Box style={{ height: 3 }} /&gt;&#10;                    &lt;Text style={{ fontSize: 13.5, color: '#6E7480', lineHeight: 1.6 }}&gt;建议 8 GB、实有 4.32 GB 的差距不是调出来的：一次只干一件事（第二个任务排队，不抢卡）＋ 干过的句子不重干（缓存键 8 字段 SHA1）。缺口也照实标着——撞顶那次显存确实超了门槛&lt;/Text&gt;&#10;                &lt;/Box&gt;&#10;            &lt;/Box&gt;&#10;            &lt;Box style={{ height: 14 }} /&gt;&#10;&#10;            &lt;Box style={{ height: 1, background: '#15171B', opacity: 0.12 }} /&gt;&#10;            &lt;Box style={{ height: 10 }} /&gt;&#10;            &lt;Box style={{ flexDirection: 'row', alignItems: 'flex-start', gap: 16 }}&gt;&#10;                &lt;Text style={{ width: 46, fontSize: 22, fontWeight: 'bold', color: '#D9480F', fontFamily: '&quot;JetBrains Mono&quot;,&quot;Cascadia Mono&quot;,Consolas,monospace', lineHeight: 1.2 }}&gt;04&lt;/Text&gt;&#10;                &lt;Box style={{ flex: 1, flexDirection: 'column' }}&gt;&#10;                    &lt;Text style={{ fontSize: 17, fontWeight: 'bold', color: '#15171B', lineHeight: 1.4 }}&gt;不会写的数，就不写&lt;/Text&gt;&#10;                    &lt;Box style={{ height: 3 }} /&gt;&#10;                    &lt;Text style={{ fontSize: 13.5, color: '#6E7480', lineHeight: 1.6 }}&gt;语音质量只有 3 位真人听测说「没问题」，没有评分表——所以全篇不给 MOS 均分；没做完的四件事单列一页，不塞脚注。评委想听的不是我做得多好，是我知不知道自己差在哪&lt;/Text&gt;&#10;                &lt;/Box&gt;&#10;            &lt;/Box&gt;&#10;&#10;        &lt;/Box&gt;&#10;&#10;    &lt;/Box&gt;&#10;&#10;    {/* C · 页脚条 */}&#10;    &lt;Box style={{ height: 40, flexDirection: 'row', alignItems: 'center', justifyContent: 'space-between' }}&gt;&#10;        &lt;Box style={{ flexDirection: 'row', alignItems: 'center', gap: 10 }}&gt;&#10;            &lt;Box style={{ width: 18, height: 2, background: '#D9480F' }} /&gt;&#10;            &lt;Text style={{ fontSize: 13, color: '#6E7480', lineHeight: 1.4 }}&gt;双人对话播客自动生成系统 · 项目答辩&lt;/Text&gt;&#10;        &lt;/Box&gt;&#10;        &lt;Text style={{ fontSize: 13, color: '#6E7480', fontFamily: '&quot;JetBrains Mono&quot;,&quot;Cascadia Mono&quot;,Consolas,monospace', lineHeight: 1.4 }}&gt;16 / 1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190500"/>
            <a:ext cx="38862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5171B"/>
                </a:solidFill>
                <a:latin typeface="Source Han Sans SC"/>
                <a:ea typeface="Source Han Sans SC"/>
              </a:rPr>
              <a:t>做完这个项目，我留下四条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791825" y="466725"/>
            <a:ext cx="714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 xml:space="preserve">04 </a:t>
            </a:r>
            <a:r>
              <a:rPr lang="zh-CN" sz="975">
                <a:solidFill>
                  <a:srgbClr val="6E7480"/>
                </a:solidFill>
                <a:latin typeface="JetBrains Mono"/>
                <a:ea typeface="JetBrains Mono"/>
              </a:rPr>
              <a:t>项目心得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85800" y="790575"/>
            <a:ext cx="1082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E7480"/>
                </a:solidFill>
                <a:latin typeface="Source Han Sans SC"/>
                <a:ea typeface="Source Han Sans SC"/>
              </a:rPr>
              <a:t>不是总结成绩，是四条踩出来、以后能接着用的规矩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85800" y="1333500"/>
            <a:ext cx="4191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24384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「哪里做得还行」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5171B"/>
                </a:solidFill>
                <a:latin typeface="Source Han Sans SC"/>
                <a:ea typeface="Source Han Sans SC"/>
              </a:rPr>
              <a:t>不是评委想听的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5800" y="2371725"/>
            <a:ext cx="24384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十四天做下来，真正值钱的不是跑通的那几个指标，是搞清楚了自己会在哪儿出错。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85800" y="3371850"/>
            <a:ext cx="24384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4B5158"/>
                </a:solidFill>
                <a:latin typeface="Source Han Sans SC"/>
                <a:ea typeface="Source Han Sans SC"/>
              </a:rPr>
              <a:t>下面四条，前两条是挨过打才记住的，后两条是当时就得做的选择。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54330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D9480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133850" y="1438275"/>
            <a:ext cx="73723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门禁绿，不等于东西是对的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133850" y="1743075"/>
            <a:ext cx="7372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六个缺陷全活过了当时的回归和门禁。对策不是看得更紧，是让失败必然出声：判据自带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>--self-test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，再拿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35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条变异把代码故意改坏，看测试认不认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543300" y="24765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D9480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133850" y="2476500"/>
            <a:ext cx="73723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改了产物，就得回头改描述它的那句话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133850" y="2781300"/>
            <a:ext cx="7372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最集中的一类缺陷不是代码写错，是文档和实物对不上：报告写「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6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段抽样」、实物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12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个条目；脚本已绑本机、手册还写绑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0.0.0.0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。同一个错犯三次，就不是疏忽，是没机制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543300" y="35147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D9480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133850" y="3514725"/>
            <a:ext cx="73723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资源不够时，先改做法，再谈调参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133850" y="3819525"/>
            <a:ext cx="7372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建议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8 GB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、实有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4.32 GB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的差距不是调出来的：一次只干一件事（第二个任务排队，不抢卡）＋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干过的句子不重干（缓存键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8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字段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SHA1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）。缺口也照实标着——撞顶那次显存确实超了门槛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543300" y="45529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D9480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133850" y="4552950"/>
            <a:ext cx="73723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15171B"/>
                </a:solidFill>
                <a:latin typeface="Source Han Sans SC"/>
                <a:ea typeface="Source Han Sans SC"/>
              </a:rPr>
              <a:t>不会写的数，就不写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133850" y="4857750"/>
            <a:ext cx="7372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语音质量只有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位真人听测说「没问题」，没有评分表——所以全篇不给</a:t>
            </a:r>
            <a:r>
              <a:rPr lang="en-US" sz="1013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MOS </a:t>
            </a:r>
            <a:r>
              <a:rPr lang="zh-CN" sz="1013">
                <a:solidFill>
                  <a:srgbClr val="6E7480"/>
                </a:solidFill>
                <a:latin typeface="Source Han Sans SC"/>
                <a:ea typeface="Source Han Sans SC"/>
              </a:rPr>
              <a:t>均分；没做完的四件事单列一页，不塞脚注。评委想听的不是我做得多好，是我知不知道自己差在哪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85800" y="6467475"/>
            <a:ext cx="171450" cy="19050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52500" y="6372225"/>
            <a:ext cx="2085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991850" y="6372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E7480"/>
                </a:solidFill>
                <a:latin typeface="JetBrains Mono"/>
                <a:ea typeface="JetBrains Mono"/>
              </a:rPr>
              <a:t>16 / 17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85800" y="1133475"/>
            <a:ext cx="108204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3543300" y="1333500"/>
            <a:ext cx="796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3543300" y="2371725"/>
            <a:ext cx="796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3543300" y="3409950"/>
            <a:ext cx="796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3543300" y="4448175"/>
            <a:ext cx="7962900" cy="9525"/>
          </a:xfrm>
          <a:prstGeom prst="rect">
            <a:avLst/>
          </a:prstGeom>
          <a:solidFill>
            <a:srgbClr val="15171B">
              <a:alpha val="12000"/>
            </a:srgbClr>
          </a:solidFill>
          <a:ln/>
        </p:spPr>
        <p:txBody>
          <a:bodyPr/>
          <a:p/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88" name="" descr="&lt;Slide style={{ width: 1280, height: 720, background: '#FFFFFF', padding: '40px 72px 44px 72px', flexDirection: 'column', justifyContent: 'center', alignItems: 'center', fontFamily: '&quot;Source Han Sans SC&quot;,&quot;Noto Sans SC&quot;,&quot;PingFang SC&quot;,&quot;Microsoft YaHei&quot;,sans-serif' }} notes={`我的汇报到这里。&#10;&#10;最后说一句实在的：这份 PPT 里出现的每一个数字，都能在这台机器上当场复算——成片在，脚本在，交付包也在。哪一步我讲得不够清楚，或者老师想看哪一页背后的东西，现在就可以说，我直接跑给各位看。&#10;&#10;谢谢各位老师。`}&gt;&#10;&#10;    &lt;Text style={{ fontSize: 88, fontWeight: 'bold', color: '#15171B', lineHeight: 1.15, letterSpacing: '4px' }}&gt;&#10;        谢谢&#10;    &lt;/Text&gt;&#10;&#10;    &lt;Box style={{ height: 20 }} /&gt;&#10;&#10;    &lt;Text style={{ fontSize: 22, color: '#4B5158', lineHeight: 1.6 }}&gt;&#10;        想看哪一步，这台机器上现在就能跑。&#10;    &lt;/Text&gt;&#10;&#10;    &lt;Box style={{ height: 46 }} /&gt;&#10;    &lt;Box style={{ width: 72, height: 3, background: '#D9480F' }} /&gt;&#10;    &lt;Box style={{ height: 44 }} /&gt;&#10;&#10;    {/* 巨型数字带 */}&#10;    &lt;Box style={{ flexDirection: 'row', alignItems: 'center', gap: 44 }}&gt;&#10;&#10;        &lt;Box style={{ flexDirection: 'column', alignItems: 'center' }}&gt;&#10;            &lt;Text style={{ fontSize: 40, fontWeight: 'bold', color: '#15171B', fontFamily: '&quot;JetBrains Mono&quot;,&quot;Cascadia Mono&quot;,Consolas,monospace', lineHeight: 1 }}&gt;&#10;                40&#10;            &lt;/Text&gt;&#10;            &lt;Box style={{ height: 10 }} /&gt;&#10;            &lt;Text style={{ fontSize: 13, color: '#6E7480' }}&gt;期成片&lt;/Text&gt;&#10;        &lt;/Box&gt;&#10;&#10;        &lt;Box style={{ width: 1, height: 52, background: '#15171B', opacity: 0.14 }} /&gt;&#10;&#10;        &lt;Box style={{ flexDirection: 'column', alignItems: 'center' }}&gt;&#10;            &lt;Text style={{ fontSize: 40, fontWeight: 'bold', color: '#D9480F', fontFamily: '&quot;JetBrains Mono&quot;,&quot;Cascadia Mono&quot;,Consolas,monospace', lineHeight: 1 }}&gt;&#10;                1120/1120&#10;            &lt;/Text&gt;&#10;            &lt;Box style={{ height: 10 }} /&gt;&#10;            &lt;Text style={{ fontSize: 13, color: '#6E7480' }}&gt;逐句一致率&lt;/Text&gt;&#10;        &lt;/Box&gt;&#10;&#10;        &lt;Box style={{ width: 1, height: 52, background: '#15171B', opacity: 0.14 }} /&gt;&#10;&#10;        &lt;Box style={{ flexDirection: 'column', alignItems: 'center' }}&gt;&#10;            &lt;Text style={{ fontSize: 40, fontWeight: 'bold', color: '#15171B', fontFamily: '&quot;JetBrains Mono&quot;,&quot;Cascadia Mono&quot;,Consolas,monospace', lineHeight: 1 }}&gt;&#10;                411&#10;            &lt;/Text&gt;&#10;            &lt;Box style={{ height: 10 }} /&gt;&#10;            &lt;Text style={{ fontSize: 13, color: '#6E7480' }}&gt;项回归用例&lt;/Text&gt;&#10;        &lt;/Box&gt;&#10;&#10;        &lt;Box style={{ width: 1, height: 52, background: '#15171B', opacity: 0.14 }} /&gt;&#10;&#10;        &lt;Box style={{ flexDirection: 'column', alignItems: 'center' }}&gt;&#10;            &lt;Text style={{ fontSize: 40, fontWeight: 'bold', color: '#15171B', fontFamily: '&quot;JetBrains Mono&quot;,&quot;Cascadia Mono&quot;,Consolas,monospace', lineHeight: 1 }}&gt;&#10;                4.32&#10;            &lt;/Text&gt;&#10;            &lt;Box style={{ height: 10 }} /&gt;&#10;            &lt;Text style={{ fontSize: 13, color: '#6E7480' }}&gt;GB 显存跑通&lt;/Text&gt;&#10;        &lt;/Box&gt;&#10;&#10;    &lt;/Box&gt;&#10;&#10;    &lt;Box style={{ height: 30 }} /&gt;&#10;&#10;    &lt;Text style={{ fontSize: 15, color: '#6E7480', lineHeight: 1.7, textAlign: 'center' }}&gt;&#10;        以上每一个数字都可以当场复算：成片、脚本、交付包都在这台机器上&#10;    &lt;/Text&gt;&#10;&#10;    &lt;Box style={{ height: 26 }} /&gt;&#10;&#10;    &lt;Text style={{ fontSize: 14, color: '#6E7480', fontFamily: '&quot;JetBrains Mono&quot;,&quot;Cascadia Mono&quot;,Consolas,monospace', letterSpacing: '1px' }}&gt;&#10;        嘉应学院数学学院 · 张佳楠 · 2026 年 9 月&#10;  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219700" y="1238250"/>
            <a:ext cx="17526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6600" b="1" spc="300">
                <a:solidFill>
                  <a:srgbClr val="15171B"/>
                </a:solidFill>
                <a:latin typeface="Source Han Sans SC"/>
                <a:ea typeface="Source Han Sans SC"/>
              </a:rPr>
              <a:t>谢谢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314825" y="2590800"/>
            <a:ext cx="35623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B5158"/>
                </a:solidFill>
                <a:latin typeface="Source Han Sans SC"/>
                <a:ea typeface="Source Han Sans SC"/>
              </a:rPr>
              <a:t>想看哪一步，这台机器上现在就能跑。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753100" y="3438525"/>
            <a:ext cx="685800" cy="28575"/>
          </a:xfrm>
          <a:prstGeom prst="rect">
            <a:avLst/>
          </a:prstGeom>
          <a:solidFill>
            <a:srgbClr val="D9480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2809875" y="3886200"/>
            <a:ext cx="447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5171B"/>
                </a:solidFill>
                <a:latin typeface="JetBrains Mono"/>
                <a:ea typeface="JetBrains Mono"/>
              </a:rPr>
              <a:t>40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847975" y="4438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期成片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105275" y="3886200"/>
            <a:ext cx="2009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480F"/>
                </a:solidFill>
                <a:latin typeface="JetBrains Mono"/>
                <a:ea typeface="JetBrains Mono"/>
              </a:rPr>
              <a:t>1120/1120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800600" y="4438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逐句一致率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962775" y="3886200"/>
            <a:ext cx="676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5171B"/>
                </a:solidFill>
                <a:latin typeface="JetBrains Mono"/>
                <a:ea typeface="JetBrains Mono"/>
              </a:rPr>
              <a:t>411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91350" y="4438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项回归用例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486775" y="3886200"/>
            <a:ext cx="8953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5171B"/>
                </a:solidFill>
                <a:latin typeface="JetBrains Mono"/>
                <a:ea typeface="JetBrains Mono"/>
              </a:rPr>
              <a:t>4.32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582025" y="4438650"/>
            <a:ext cx="70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7480"/>
                </a:solidFill>
                <a:latin typeface="Source Han Sans SC"/>
                <a:ea typeface="Source Han Sans SC"/>
              </a:rPr>
              <a:t xml:space="preserve">GB </a:t>
            </a:r>
            <a:r>
              <a:rPr lang="zh-CN" sz="975">
                <a:solidFill>
                  <a:srgbClr val="6E7480"/>
                </a:solidFill>
                <a:latin typeface="Source Han Sans SC"/>
                <a:ea typeface="Source Han Sans SC"/>
              </a:rPr>
              <a:t>显存跑通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3886200" y="4876800"/>
            <a:ext cx="4429125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125">
                <a:solidFill>
                  <a:srgbClr val="6E7480"/>
                </a:solidFill>
                <a:latin typeface="Source Han Sans SC"/>
                <a:ea typeface="Source Han Sans SC"/>
              </a:rPr>
              <a:t>以上每一个数字都可以当场复算：成片、脚本、交付包都在这台机器上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52950" y="5419725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E7480"/>
                </a:solidFill>
                <a:latin typeface="JetBrains Mono"/>
                <a:ea typeface="JetBrains Mono"/>
              </a:rPr>
              <a:t>嘉应学院数学学院</a:t>
            </a:r>
            <a:r>
              <a:rPr lang="en-US" sz="1050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75">
                <a:solidFill>
                  <a:srgbClr val="6E7480"/>
                </a:solidFill>
                <a:latin typeface="JetBrains Mono"/>
                <a:ea typeface="JetBrains Mono"/>
              </a:rPr>
              <a:t>张佳楠</a:t>
            </a:r>
            <a:r>
              <a:rPr lang="en-US" sz="1050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· 2026 </a:t>
            </a:r>
            <a:r>
              <a:rPr lang="zh-CN" sz="1050" spc="75">
                <a:solidFill>
                  <a:srgbClr val="6E7480"/>
                </a:solidFill>
                <a:latin typeface="JetBrains Mono"/>
                <a:ea typeface="JetBrains Mono"/>
              </a:rPr>
              <a:t>年</a:t>
            </a:r>
            <a:r>
              <a:rPr lang="en-US" sz="1050" spc="75">
                <a:solidFill>
                  <a:srgbClr val="6E7480"/>
                </a:solidFill>
                <a:latin typeface="JetBrains Mono"/>
                <a:ea typeface="JetBrains Mono"/>
              </a:rPr>
              <a:t xml:space="preserve"> 9 </a:t>
            </a:r>
            <a:r>
              <a:rPr lang="zh-CN" sz="1050" spc="75">
                <a:solidFill>
                  <a:srgbClr val="6E7480"/>
                </a:solidFill>
                <a:latin typeface="JetBrains Mono"/>
                <a:ea typeface="JetBrains Mono"/>
              </a:rPr>
              <a:t>月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3676650" y="3990975"/>
            <a:ext cx="9525" cy="495300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534150" y="3990975"/>
            <a:ext cx="9525" cy="495300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8058150" y="3990975"/>
            <a:ext cx="9525" cy="495300"/>
          </a:xfrm>
          <a:prstGeom prst="rect">
            <a:avLst/>
          </a:prstGeom>
          <a:solidFill>
            <a:srgbClr val="15171B">
              <a:alpha val="14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2026-09-29T15:07:39Z</dcterms:created>
  <dcterms:modified xsi:type="dcterms:W3CDTF">2026-09-29T15:07:39Z</dcterms:modified>
</cp:coreProperties>
</file>